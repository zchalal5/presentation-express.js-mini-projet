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3.svg" ContentType="image/svg+xml"/>
  <Override PartName="/ppt/media/image116.svg" ContentType="image/svg+xml"/>
  <Override PartName="/ppt/media/image12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45.svg" ContentType="image/svg+xml"/>
  <Override PartName="/ppt/media/image48.svg" ContentType="image/svg+xml"/>
  <Override PartName="/ppt/media/image50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8288000" cy="10287000"/>
  <p:notesSz cx="6858000" cy="9144000"/>
  <p:embeddedFontLst>
    <p:embeddedFont>
      <p:font typeface="Calibri (MS) Bold" panose="020F0702030404030204"/>
      <p:bold r:id="rId51"/>
    </p:embeddedFont>
    <p:embeddedFont>
      <p:font typeface="Source Sans Pro" panose="020B0503030403020204"/>
      <p:regular r:id="rId52"/>
    </p:embeddedFont>
    <p:embeddedFont>
      <p:font typeface="Source Sans Pro Bold" panose="020B0703030403020204"/>
      <p:bold r:id="rId53"/>
    </p:embeddedFont>
    <p:embeddedFont>
      <p:font typeface="Calibri (MS)" panose="020F0502020204030204"/>
      <p:regular r:id="rId54"/>
    </p:embeddedFont>
    <p:embeddedFont>
      <p:font typeface="Open Sans" panose="020B0606030504020204"/>
      <p:regular r:id="rId55"/>
    </p:embeddedFont>
    <p:embeddedFont>
      <p:font typeface="Open Sans Bold"/>
      <p:bold r:id="rId56"/>
    </p:embeddedFont>
    <p:embeddedFont>
      <p:font typeface="Calibri" panose="020F0502020204030204" charset="0"/>
      <p:regular r:id="rId57"/>
      <p:bold r:id="rId58"/>
      <p:italic r:id="rId59"/>
      <p:boldItalic r:id="rId60"/>
    </p:embeddedFont>
    <p:embeddedFont>
      <p:font typeface="Arvo" panose="02000000000000000000"/>
      <p:regular r:id="rId61"/>
    </p:embeddedFont>
    <p:embeddedFont>
      <p:font typeface="Calibri (MS) Italics" panose="020F05020202040A0204"/>
      <p:italic r:id="rId62"/>
    </p:embeddedFont>
    <p:embeddedFont>
      <p:font typeface="Calibri (MS) Bold Italics" panose="020F07020304040A0204"/>
      <p:boldItalic r:id="rId6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4" d="100"/>
          <a:sy n="54" d="100"/>
        </p:scale>
        <p:origin x="100" y="24"/>
      </p:cViewPr>
      <p:guideLst>
        <p:guide orient="horz" pos="2160"/>
        <p:guide pos="28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3" Type="http://schemas.openxmlformats.org/officeDocument/2006/relationships/font" Target="fonts/font13.fntdata"/><Relationship Id="rId62" Type="http://schemas.openxmlformats.org/officeDocument/2006/relationships/font" Target="fonts/font12.fntdata"/><Relationship Id="rId61" Type="http://schemas.openxmlformats.org/officeDocument/2006/relationships/font" Target="fonts/font11.fntdata"/><Relationship Id="rId60" Type="http://schemas.openxmlformats.org/officeDocument/2006/relationships/font" Target="fonts/font10.fntdata"/><Relationship Id="rId6" Type="http://schemas.openxmlformats.org/officeDocument/2006/relationships/slide" Target="slides/slide4.xml"/><Relationship Id="rId59" Type="http://schemas.openxmlformats.org/officeDocument/2006/relationships/font" Target="fonts/font9.fntdata"/><Relationship Id="rId58" Type="http://schemas.openxmlformats.org/officeDocument/2006/relationships/font" Target="fonts/font8.fntdata"/><Relationship Id="rId57" Type="http://schemas.openxmlformats.org/officeDocument/2006/relationships/font" Target="fonts/font7.fntdata"/><Relationship Id="rId56" Type="http://schemas.openxmlformats.org/officeDocument/2006/relationships/font" Target="fonts/font6.fntdata"/><Relationship Id="rId55" Type="http://schemas.openxmlformats.org/officeDocument/2006/relationships/font" Target="fonts/font5.fntdata"/><Relationship Id="rId54" Type="http://schemas.openxmlformats.org/officeDocument/2006/relationships/font" Target="fonts/font4.fntdata"/><Relationship Id="rId53" Type="http://schemas.openxmlformats.org/officeDocument/2006/relationships/font" Target="fonts/font3.fntdata"/><Relationship Id="rId52" Type="http://schemas.openxmlformats.org/officeDocument/2006/relationships/font" Target="fonts/font2.fntdata"/><Relationship Id="rId51" Type="http://schemas.openxmlformats.org/officeDocument/2006/relationships/font" Target="fonts/font1.fntdata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2.png"/><Relationship Id="rId20" Type="http://schemas.openxmlformats.org/officeDocument/2006/relationships/image" Target="../media/image2.jpeg"/><Relationship Id="rId2" Type="http://schemas.openxmlformats.org/officeDocument/2006/relationships/image" Target="../media/image4.svg"/><Relationship Id="rId19" Type="http://schemas.openxmlformats.org/officeDocument/2006/relationships/image" Target="../media/image21.png"/><Relationship Id="rId18" Type="http://schemas.openxmlformats.org/officeDocument/2006/relationships/image" Target="../media/image20.svg"/><Relationship Id="rId17" Type="http://schemas.openxmlformats.org/officeDocument/2006/relationships/image" Target="../media/image19.png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.jpeg"/><Relationship Id="rId20" Type="http://schemas.openxmlformats.org/officeDocument/2006/relationships/image" Target="../media/image20.svg"/><Relationship Id="rId2" Type="http://schemas.openxmlformats.org/officeDocument/2006/relationships/image" Target="../media/image4.svg"/><Relationship Id="rId19" Type="http://schemas.openxmlformats.org/officeDocument/2006/relationships/image" Target="../media/image38.png"/><Relationship Id="rId18" Type="http://schemas.openxmlformats.org/officeDocument/2006/relationships/image" Target="../media/image18.svg"/><Relationship Id="rId17" Type="http://schemas.openxmlformats.org/officeDocument/2006/relationships/image" Target="../media/image37.png"/><Relationship Id="rId16" Type="http://schemas.openxmlformats.org/officeDocument/2006/relationships/image" Target="../media/image36.svg"/><Relationship Id="rId15" Type="http://schemas.openxmlformats.org/officeDocument/2006/relationships/image" Target="../media/image35.png"/><Relationship Id="rId14" Type="http://schemas.openxmlformats.org/officeDocument/2006/relationships/image" Target="../media/image34.svg"/><Relationship Id="rId13" Type="http://schemas.openxmlformats.org/officeDocument/2006/relationships/image" Target="../media/image33.png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image" Target="../media/image30.svg"/><Relationship Id="rId1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28.svg"/><Relationship Id="rId7" Type="http://schemas.openxmlformats.org/officeDocument/2006/relationships/image" Target="../media/image40.png"/><Relationship Id="rId6" Type="http://schemas.openxmlformats.org/officeDocument/2006/relationships/image" Target="../media/image26.svg"/><Relationship Id="rId5" Type="http://schemas.openxmlformats.org/officeDocument/2006/relationships/image" Target="../media/image39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22.png"/><Relationship Id="rId23" Type="http://schemas.openxmlformats.org/officeDocument/2006/relationships/image" Target="../media/image20.svg"/><Relationship Id="rId22" Type="http://schemas.openxmlformats.org/officeDocument/2006/relationships/image" Target="../media/image38.png"/><Relationship Id="rId21" Type="http://schemas.openxmlformats.org/officeDocument/2006/relationships/image" Target="../media/image18.svg"/><Relationship Id="rId20" Type="http://schemas.openxmlformats.org/officeDocument/2006/relationships/image" Target="../media/image37.png"/><Relationship Id="rId2" Type="http://schemas.openxmlformats.org/officeDocument/2006/relationships/image" Target="../media/image4.svg"/><Relationship Id="rId19" Type="http://schemas.openxmlformats.org/officeDocument/2006/relationships/image" Target="../media/image2.jpeg"/><Relationship Id="rId18" Type="http://schemas.openxmlformats.org/officeDocument/2006/relationships/image" Target="../media/image34.svg"/><Relationship Id="rId17" Type="http://schemas.openxmlformats.org/officeDocument/2006/relationships/image" Target="../media/image46.png"/><Relationship Id="rId16" Type="http://schemas.openxmlformats.org/officeDocument/2006/relationships/image" Target="../media/image45.svg"/><Relationship Id="rId15" Type="http://schemas.openxmlformats.org/officeDocument/2006/relationships/image" Target="../media/image44.png"/><Relationship Id="rId14" Type="http://schemas.openxmlformats.org/officeDocument/2006/relationships/image" Target="../media/image36.svg"/><Relationship Id="rId13" Type="http://schemas.openxmlformats.org/officeDocument/2006/relationships/image" Target="../media/image43.png"/><Relationship Id="rId12" Type="http://schemas.openxmlformats.org/officeDocument/2006/relationships/image" Target="../media/image32.svg"/><Relationship Id="rId11" Type="http://schemas.openxmlformats.org/officeDocument/2006/relationships/image" Target="../media/image42.png"/><Relationship Id="rId10" Type="http://schemas.openxmlformats.org/officeDocument/2006/relationships/image" Target="../media/image30.svg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jpe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jpeg"/><Relationship Id="rId7" Type="http://schemas.openxmlformats.org/officeDocument/2006/relationships/image" Target="../media/image54.png"/><Relationship Id="rId6" Type="http://schemas.openxmlformats.org/officeDocument/2006/relationships/image" Target="../media/image50.svg"/><Relationship Id="rId5" Type="http://schemas.openxmlformats.org/officeDocument/2006/relationships/image" Target="../media/image53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image" Target="../media/image57.svg"/><Relationship Id="rId7" Type="http://schemas.openxmlformats.org/officeDocument/2006/relationships/image" Target="../media/image56.png"/><Relationship Id="rId6" Type="http://schemas.openxmlformats.org/officeDocument/2006/relationships/image" Target="../media/image48.svg"/><Relationship Id="rId5" Type="http://schemas.openxmlformats.org/officeDocument/2006/relationships/image" Target="../media/image55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svg"/><Relationship Id="rId7" Type="http://schemas.openxmlformats.org/officeDocument/2006/relationships/image" Target="../media/image60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.jpeg"/><Relationship Id="rId12" Type="http://schemas.openxmlformats.org/officeDocument/2006/relationships/image" Target="../media/image65.svg"/><Relationship Id="rId11" Type="http://schemas.openxmlformats.org/officeDocument/2006/relationships/image" Target="../media/image64.png"/><Relationship Id="rId10" Type="http://schemas.openxmlformats.org/officeDocument/2006/relationships/image" Target="../media/image63.sv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jpeg"/><Relationship Id="rId7" Type="http://schemas.openxmlformats.org/officeDocument/2006/relationships/image" Target="../media/image54.png"/><Relationship Id="rId6" Type="http://schemas.openxmlformats.org/officeDocument/2006/relationships/image" Target="../media/image50.svg"/><Relationship Id="rId5" Type="http://schemas.openxmlformats.org/officeDocument/2006/relationships/image" Target="../media/image53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jpe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68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69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0.svg"/><Relationship Id="rId3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image" Target="../media/image57.svg"/><Relationship Id="rId7" Type="http://schemas.openxmlformats.org/officeDocument/2006/relationships/image" Target="../media/image70.png"/><Relationship Id="rId6" Type="http://schemas.openxmlformats.org/officeDocument/2006/relationships/image" Target="../media/image48.svg"/><Relationship Id="rId5" Type="http://schemas.openxmlformats.org/officeDocument/2006/relationships/image" Target="../media/image55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svg"/><Relationship Id="rId7" Type="http://schemas.openxmlformats.org/officeDocument/2006/relationships/image" Target="../media/image77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4.svg"/><Relationship Id="rId3" Type="http://schemas.openxmlformats.org/officeDocument/2006/relationships/image" Target="../media/image73.png"/><Relationship Id="rId2" Type="http://schemas.openxmlformats.org/officeDocument/2006/relationships/image" Target="../media/image72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.jpeg"/><Relationship Id="rId10" Type="http://schemas.openxmlformats.org/officeDocument/2006/relationships/image" Target="../media/image80.svg"/><Relationship Id="rId1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png"/><Relationship Id="rId8" Type="http://schemas.openxmlformats.org/officeDocument/2006/relationships/image" Target="../media/image61.svg"/><Relationship Id="rId7" Type="http://schemas.openxmlformats.org/officeDocument/2006/relationships/image" Target="../media/image82.png"/><Relationship Id="rId6" Type="http://schemas.openxmlformats.org/officeDocument/2006/relationships/image" Target="../media/image59.svg"/><Relationship Id="rId5" Type="http://schemas.openxmlformats.org/officeDocument/2006/relationships/image" Target="../media/image81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.jpeg"/><Relationship Id="rId12" Type="http://schemas.openxmlformats.org/officeDocument/2006/relationships/image" Target="../media/image65.svg"/><Relationship Id="rId11" Type="http://schemas.openxmlformats.org/officeDocument/2006/relationships/image" Target="../media/image84.png"/><Relationship Id="rId10" Type="http://schemas.openxmlformats.org/officeDocument/2006/relationships/image" Target="../media/image63.sv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jpeg"/><Relationship Id="rId7" Type="http://schemas.openxmlformats.org/officeDocument/2006/relationships/image" Target="../media/image54.png"/><Relationship Id="rId6" Type="http://schemas.openxmlformats.org/officeDocument/2006/relationships/image" Target="../media/image50.svg"/><Relationship Id="rId5" Type="http://schemas.openxmlformats.org/officeDocument/2006/relationships/image" Target="../media/image53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image" Target="../media/image57.svg"/><Relationship Id="rId7" Type="http://schemas.openxmlformats.org/officeDocument/2006/relationships/image" Target="../media/image70.png"/><Relationship Id="rId6" Type="http://schemas.openxmlformats.org/officeDocument/2006/relationships/image" Target="../media/image48.svg"/><Relationship Id="rId5" Type="http://schemas.openxmlformats.org/officeDocument/2006/relationships/image" Target="../media/image55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jpeg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88.png"/><Relationship Id="rId7" Type="http://schemas.openxmlformats.org/officeDocument/2006/relationships/image" Target="../media/image87.png"/><Relationship Id="rId6" Type="http://schemas.openxmlformats.org/officeDocument/2006/relationships/image" Target="../media/image50.svg"/><Relationship Id="rId5" Type="http://schemas.openxmlformats.org/officeDocument/2006/relationships/image" Target="../media/image53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.jpeg"/><Relationship Id="rId10" Type="http://schemas.openxmlformats.org/officeDocument/2006/relationships/image" Target="../media/image90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image" Target="../media/image57.svg"/><Relationship Id="rId7" Type="http://schemas.openxmlformats.org/officeDocument/2006/relationships/image" Target="../media/image70.png"/><Relationship Id="rId6" Type="http://schemas.openxmlformats.org/officeDocument/2006/relationships/image" Target="../media/image48.svg"/><Relationship Id="rId5" Type="http://schemas.openxmlformats.org/officeDocument/2006/relationships/image" Target="../media/image55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91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jpeg"/><Relationship Id="rId6" Type="http://schemas.openxmlformats.org/officeDocument/2006/relationships/image" Target="../media/image50.svg"/><Relationship Id="rId5" Type="http://schemas.openxmlformats.org/officeDocument/2006/relationships/image" Target="../media/image53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0.svg"/><Relationship Id="rId3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jpeg"/><Relationship Id="rId6" Type="http://schemas.openxmlformats.org/officeDocument/2006/relationships/image" Target="../media/image50.svg"/><Relationship Id="rId5" Type="http://schemas.openxmlformats.org/officeDocument/2006/relationships/image" Target="../media/image53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92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93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6.svg"/><Relationship Id="rId1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8.png"/><Relationship Id="rId6" Type="http://schemas.openxmlformats.org/officeDocument/2006/relationships/image" Target="../media/image2.jpeg"/><Relationship Id="rId5" Type="http://schemas.openxmlformats.org/officeDocument/2006/relationships/image" Target="../media/image97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image" Target="../media/image100.png"/><Relationship Id="rId7" Type="http://schemas.openxmlformats.org/officeDocument/2006/relationships/image" Target="../media/image99.png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02.png"/><Relationship Id="rId10" Type="http://schemas.openxmlformats.org/officeDocument/2006/relationships/image" Target="../media/image101.png"/><Relationship Id="rId1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04.png"/><Relationship Id="rId6" Type="http://schemas.openxmlformats.org/officeDocument/2006/relationships/image" Target="../media/image2.jpeg"/><Relationship Id="rId5" Type="http://schemas.openxmlformats.org/officeDocument/2006/relationships/image" Target="../media/image103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0.svg"/><Relationship Id="rId3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jpeg"/><Relationship Id="rId7" Type="http://schemas.openxmlformats.org/officeDocument/2006/relationships/image" Target="../media/image111.png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image" Target="../media/image105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jpeg"/><Relationship Id="rId7" Type="http://schemas.openxmlformats.org/officeDocument/2006/relationships/image" Target="../media/image54.png"/><Relationship Id="rId6" Type="http://schemas.openxmlformats.org/officeDocument/2006/relationships/image" Target="../media/image50.svg"/><Relationship Id="rId5" Type="http://schemas.openxmlformats.org/officeDocument/2006/relationships/image" Target="../media/image53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6.svg"/><Relationship Id="rId5" Type="http://schemas.openxmlformats.org/officeDocument/2006/relationships/image" Target="../media/image115.png"/><Relationship Id="rId4" Type="http://schemas.openxmlformats.org/officeDocument/2006/relationships/image" Target="../media/image2.jpeg"/><Relationship Id="rId3" Type="http://schemas.openxmlformats.org/officeDocument/2006/relationships/image" Target="../media/image114.jpeg"/><Relationship Id="rId2" Type="http://schemas.openxmlformats.org/officeDocument/2006/relationships/image" Target="../media/image113.svg"/><Relationship Id="rId1" Type="http://schemas.openxmlformats.org/officeDocument/2006/relationships/image" Target="../media/image112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19.png"/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image" Target="../media/image114.jpe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jpeg"/><Relationship Id="rId7" Type="http://schemas.openxmlformats.org/officeDocument/2006/relationships/image" Target="../media/image54.png"/><Relationship Id="rId6" Type="http://schemas.openxmlformats.org/officeDocument/2006/relationships/image" Target="../media/image50.svg"/><Relationship Id="rId5" Type="http://schemas.openxmlformats.org/officeDocument/2006/relationships/image" Target="../media/image53.png"/><Relationship Id="rId4" Type="http://schemas.openxmlformats.org/officeDocument/2006/relationships/image" Target="../media/image6.svg"/><Relationship Id="rId3" Type="http://schemas.openxmlformats.org/officeDocument/2006/relationships/image" Target="../media/image24.png"/><Relationship Id="rId2" Type="http://schemas.openxmlformats.org/officeDocument/2006/relationships/image" Target="../media/image4.svg"/><Relationship Id="rId1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23.png"/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image" Target="../media/image120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0.svg"/><Relationship Id="rId3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image" Target="../media/image120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0.svg"/><Relationship Id="rId3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55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0.svg"/><Relationship Id="rId3" Type="http://schemas.openxmlformats.org/officeDocument/2006/relationships/image" Target="../media/image53.png"/><Relationship Id="rId2" Type="http://schemas.openxmlformats.org/officeDocument/2006/relationships/image" Target="../media/image48.svg"/><Relationship Id="rId1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png"/><Relationship Id="rId8" Type="http://schemas.openxmlformats.org/officeDocument/2006/relationships/image" Target="../media/image135.svg"/><Relationship Id="rId7" Type="http://schemas.openxmlformats.org/officeDocument/2006/relationships/image" Target="../media/image134.png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131.svg"/><Relationship Id="rId3" Type="http://schemas.openxmlformats.org/officeDocument/2006/relationships/image" Target="../media/image130.png"/><Relationship Id="rId2" Type="http://schemas.openxmlformats.org/officeDocument/2006/relationships/image" Target="../media/image129.sv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2.jpeg"/><Relationship Id="rId14" Type="http://schemas.openxmlformats.org/officeDocument/2006/relationships/image" Target="../media/image141.svg"/><Relationship Id="rId13" Type="http://schemas.openxmlformats.org/officeDocument/2006/relationships/image" Target="../media/image140.png"/><Relationship Id="rId12" Type="http://schemas.openxmlformats.org/officeDocument/2006/relationships/image" Target="../media/image139.svg"/><Relationship Id="rId11" Type="http://schemas.openxmlformats.org/officeDocument/2006/relationships/image" Target="../media/image138.png"/><Relationship Id="rId10" Type="http://schemas.openxmlformats.org/officeDocument/2006/relationships/image" Target="../media/image137.svg"/><Relationship Id="rId1" Type="http://schemas.openxmlformats.org/officeDocument/2006/relationships/image" Target="../media/image1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 rot="5362140">
            <a:off x="7405973" y="8558603"/>
            <a:ext cx="3476044" cy="19050"/>
            <a:chOff x="0" y="0"/>
            <a:chExt cx="4634725" cy="25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34738" cy="25400"/>
            </a:xfrm>
            <a:custGeom>
              <a:avLst/>
              <a:gdLst/>
              <a:ahLst/>
              <a:cxnLst/>
              <a:rect l="l" t="t" r="r" b="b"/>
              <a:pathLst>
                <a:path w="4634738" h="25400">
                  <a:moveTo>
                    <a:pt x="12700" y="0"/>
                  </a:moveTo>
                  <a:lnTo>
                    <a:pt x="4622038" y="0"/>
                  </a:lnTo>
                  <a:cubicBezTo>
                    <a:pt x="4629023" y="0"/>
                    <a:pt x="4634738" y="5715"/>
                    <a:pt x="4634738" y="12700"/>
                  </a:cubicBezTo>
                  <a:cubicBezTo>
                    <a:pt x="4634738" y="19685"/>
                    <a:pt x="4629023" y="25400"/>
                    <a:pt x="4622038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391400" y="951509"/>
            <a:ext cx="6995512" cy="687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80"/>
              </a:lnSpc>
            </a:pPr>
            <a:r>
              <a:rPr lang="en-US" sz="14400" b="1" dirty="0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PRESS.JS</a:t>
            </a:r>
            <a:endParaRPr lang="en-US" sz="14400" b="1" dirty="0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l">
              <a:lnSpc>
                <a:spcPts val="17280"/>
              </a:lnSpc>
            </a:pPr>
            <a:endParaRPr lang="en-US" sz="14400" b="1" dirty="0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455148" y="3086100"/>
            <a:ext cx="2780443" cy="2308784"/>
            <a:chOff x="0" y="0"/>
            <a:chExt cx="3707257" cy="30783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07257" cy="3078353"/>
            </a:xfrm>
            <a:custGeom>
              <a:avLst/>
              <a:gdLst/>
              <a:ahLst/>
              <a:cxnLst/>
              <a:rect l="l" t="t" r="r" b="b"/>
              <a:pathLst>
                <a:path w="3707257" h="3078353">
                  <a:moveTo>
                    <a:pt x="0" y="0"/>
                  </a:moveTo>
                  <a:lnTo>
                    <a:pt x="3707257" y="0"/>
                  </a:lnTo>
                  <a:lnTo>
                    <a:pt x="3707257" y="3078353"/>
                  </a:lnTo>
                  <a:lnTo>
                    <a:pt x="0" y="3078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5357" r="-535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3282506" y="5849655"/>
            <a:ext cx="1172298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Framework web minimaliste et flexible pour Node.js, souvent utilisé comme base open-source</a:t>
            </a:r>
            <a:endParaRPr lang="en-US" sz="3000">
              <a:solidFill>
                <a:srgbClr val="FFFFFF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662345" y="45720"/>
            <a:ext cx="8963320" cy="785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Université Abdelmalek Essaâdi </a:t>
            </a:r>
            <a:endParaRPr lang="en-US" sz="240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L’Ecole Nationale des Sciences Appliquées d'Al-Hoceima </a:t>
            </a:r>
            <a:endParaRPr lang="en-US" sz="2400">
              <a:solidFill>
                <a:srgbClr val="FFFFFF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6553200" y="6356347"/>
            <a:ext cx="2133600" cy="365122"/>
            <a:chOff x="0" y="0"/>
            <a:chExt cx="2844800" cy="4868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</a:t>
              </a:r>
              <a:endParaRPr lang="en-US" sz="120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220990" y="481079"/>
            <a:ext cx="700002" cy="349996"/>
            <a:chOff x="0" y="0"/>
            <a:chExt cx="933336" cy="4666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6036945" y="506863"/>
            <a:ext cx="5656564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Express.js</a:t>
            </a:r>
            <a:endParaRPr lang="en-US" sz="1080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5331480">
            <a:off x="8093507" y="3970430"/>
            <a:ext cx="1931289" cy="19050"/>
            <a:chOff x="0" y="0"/>
            <a:chExt cx="2575052" cy="25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75052" cy="25400"/>
            </a:xfrm>
            <a:custGeom>
              <a:avLst/>
              <a:gdLst/>
              <a:ahLst/>
              <a:cxnLst/>
              <a:rect l="l" t="t" r="r" b="b"/>
              <a:pathLst>
                <a:path w="2575052" h="25400">
                  <a:moveTo>
                    <a:pt x="12700" y="0"/>
                  </a:moveTo>
                  <a:lnTo>
                    <a:pt x="2562352" y="0"/>
                  </a:lnTo>
                  <a:cubicBezTo>
                    <a:pt x="2569337" y="0"/>
                    <a:pt x="2575052" y="5715"/>
                    <a:pt x="2575052" y="12700"/>
                  </a:cubicBezTo>
                  <a:cubicBezTo>
                    <a:pt x="2575052" y="19685"/>
                    <a:pt x="2569337" y="25400"/>
                    <a:pt x="2562352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 rot="-10800000">
            <a:off x="8861155" y="2472376"/>
            <a:ext cx="395954" cy="233744"/>
            <a:chOff x="0" y="0"/>
            <a:chExt cx="527939" cy="3116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27939" cy="311658"/>
            </a:xfrm>
            <a:custGeom>
              <a:avLst/>
              <a:gdLst/>
              <a:ahLst/>
              <a:cxnLst/>
              <a:rect l="l" t="t" r="r" b="b"/>
              <a:pathLst>
                <a:path w="527939" h="311658">
                  <a:moveTo>
                    <a:pt x="0" y="311658"/>
                  </a:moveTo>
                  <a:lnTo>
                    <a:pt x="263906" y="0"/>
                  </a:lnTo>
                  <a:lnTo>
                    <a:pt x="527939" y="311658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8881491" y="4018998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5" y="0"/>
                </a:lnTo>
                <a:lnTo>
                  <a:pt x="245935" y="245935"/>
                </a:lnTo>
                <a:lnTo>
                  <a:pt x="0" y="245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8188281" y="4695377"/>
            <a:ext cx="844296" cy="57140"/>
            <a:chOff x="0" y="0"/>
            <a:chExt cx="1125728" cy="76187"/>
          </a:xfrm>
        </p:grpSpPr>
        <p:sp>
          <p:nvSpPr>
            <p:cNvPr id="17" name="Freeform 17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579432" y="3474101"/>
            <a:ext cx="1581531" cy="1581531"/>
            <a:chOff x="0" y="0"/>
            <a:chExt cx="2108708" cy="210870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7036918" y="3819868"/>
            <a:ext cx="666579" cy="655120"/>
          </a:xfrm>
          <a:custGeom>
            <a:avLst/>
            <a:gdLst/>
            <a:ahLst/>
            <a:cxnLst/>
            <a:rect l="l" t="t" r="r" b="b"/>
            <a:pathLst>
              <a:path w="666579" h="655120">
                <a:moveTo>
                  <a:pt x="0" y="0"/>
                </a:moveTo>
                <a:lnTo>
                  <a:pt x="666578" y="0"/>
                </a:lnTo>
                <a:lnTo>
                  <a:pt x="666578" y="655120"/>
                </a:lnTo>
                <a:lnTo>
                  <a:pt x="0" y="6551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48" b="-146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030567" y="5334933"/>
            <a:ext cx="57160" cy="1930908"/>
            <a:chOff x="0" y="0"/>
            <a:chExt cx="76213" cy="2574544"/>
          </a:xfrm>
        </p:grpSpPr>
        <p:sp>
          <p:nvSpPr>
            <p:cNvPr id="22" name="Freeform 22"/>
            <p:cNvSpPr/>
            <p:nvPr/>
          </p:nvSpPr>
          <p:spPr>
            <a:xfrm>
              <a:off x="-2" y="-2"/>
              <a:ext cx="76204" cy="2574548"/>
            </a:xfrm>
            <a:custGeom>
              <a:avLst/>
              <a:gdLst/>
              <a:ahLst/>
              <a:cxnLst/>
              <a:rect l="l" t="t" r="r" b="b"/>
              <a:pathLst>
                <a:path w="76204" h="2574548">
                  <a:moveTo>
                    <a:pt x="25402" y="12448"/>
                  </a:moveTo>
                  <a:lnTo>
                    <a:pt x="76202" y="2561592"/>
                  </a:lnTo>
                  <a:cubicBezTo>
                    <a:pt x="76329" y="2568577"/>
                    <a:pt x="70741" y="2574419"/>
                    <a:pt x="63756" y="2574546"/>
                  </a:cubicBezTo>
                  <a:cubicBezTo>
                    <a:pt x="56771" y="2574673"/>
                    <a:pt x="50929" y="2569085"/>
                    <a:pt x="50802" y="2562100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8955253" y="6054509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5" y="0"/>
                </a:lnTo>
                <a:lnTo>
                  <a:pt x="245935" y="245936"/>
                </a:lnTo>
                <a:lnTo>
                  <a:pt x="0" y="2459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9248032" y="6271812"/>
            <a:ext cx="844296" cy="57140"/>
            <a:chOff x="0" y="0"/>
            <a:chExt cx="1125728" cy="76187"/>
          </a:xfrm>
        </p:grpSpPr>
        <p:sp>
          <p:nvSpPr>
            <p:cNvPr id="25" name="Freeform 25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063744" y="5509612"/>
            <a:ext cx="1581531" cy="1581531"/>
            <a:chOff x="0" y="0"/>
            <a:chExt cx="2108708" cy="210870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030595" y="7517435"/>
            <a:ext cx="57131" cy="3144803"/>
            <a:chOff x="0" y="0"/>
            <a:chExt cx="76175" cy="4193070"/>
          </a:xfrm>
        </p:grpSpPr>
        <p:sp>
          <p:nvSpPr>
            <p:cNvPr id="29" name="Freeform 29"/>
            <p:cNvSpPr/>
            <p:nvPr/>
          </p:nvSpPr>
          <p:spPr>
            <a:xfrm>
              <a:off x="-2" y="-2"/>
              <a:ext cx="76204" cy="4193034"/>
            </a:xfrm>
            <a:custGeom>
              <a:avLst/>
              <a:gdLst/>
              <a:ahLst/>
              <a:cxnLst/>
              <a:rect l="l" t="t" r="r" b="b"/>
              <a:pathLst>
                <a:path w="76204" h="4193034">
                  <a:moveTo>
                    <a:pt x="25402" y="12575"/>
                  </a:moveTo>
                  <a:lnTo>
                    <a:pt x="76202" y="4180207"/>
                  </a:lnTo>
                  <a:cubicBezTo>
                    <a:pt x="76329" y="4187192"/>
                    <a:pt x="70614" y="4193034"/>
                    <a:pt x="63629" y="4193034"/>
                  </a:cubicBezTo>
                  <a:cubicBezTo>
                    <a:pt x="56644" y="4193034"/>
                    <a:pt x="50802" y="4187573"/>
                    <a:pt x="50802" y="4180461"/>
                  </a:cubicBezTo>
                  <a:lnTo>
                    <a:pt x="2" y="12829"/>
                  </a:lnTo>
                  <a:cubicBezTo>
                    <a:pt x="-125" y="5844"/>
                    <a:pt x="5590" y="129"/>
                    <a:pt x="12575" y="2"/>
                  </a:cubicBezTo>
                  <a:cubicBezTo>
                    <a:pt x="19560" y="-125"/>
                    <a:pt x="25275" y="5590"/>
                    <a:pt x="25402" y="125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10487349" y="6022753"/>
            <a:ext cx="727053" cy="555279"/>
          </a:xfrm>
          <a:custGeom>
            <a:avLst/>
            <a:gdLst/>
            <a:ahLst/>
            <a:cxnLst/>
            <a:rect l="l" t="t" r="r" b="b"/>
            <a:pathLst>
              <a:path w="727053" h="555279">
                <a:moveTo>
                  <a:pt x="0" y="0"/>
                </a:moveTo>
                <a:lnTo>
                  <a:pt x="727053" y="0"/>
                </a:lnTo>
                <a:lnTo>
                  <a:pt x="727053" y="555279"/>
                </a:lnTo>
                <a:lnTo>
                  <a:pt x="0" y="555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62" b="-162"/>
            </a:stretch>
          </a:blipFill>
        </p:spPr>
      </p:sp>
      <p:grpSp>
        <p:nvGrpSpPr>
          <p:cNvPr id="31" name="Group 31"/>
          <p:cNvGrpSpPr/>
          <p:nvPr/>
        </p:nvGrpSpPr>
        <p:grpSpPr>
          <a:xfrm rot="5288700">
            <a:off x="8461067" y="550154"/>
            <a:ext cx="1196178" cy="19050"/>
            <a:chOff x="0" y="0"/>
            <a:chExt cx="1594904" cy="25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94866" cy="25400"/>
            </a:xfrm>
            <a:custGeom>
              <a:avLst/>
              <a:gdLst/>
              <a:ahLst/>
              <a:cxnLst/>
              <a:rect l="l" t="t" r="r" b="b"/>
              <a:pathLst>
                <a:path w="1594866" h="25400">
                  <a:moveTo>
                    <a:pt x="12700" y="0"/>
                  </a:moveTo>
                  <a:lnTo>
                    <a:pt x="1582166" y="0"/>
                  </a:lnTo>
                  <a:cubicBezTo>
                    <a:pt x="1589151" y="0"/>
                    <a:pt x="1594866" y="5715"/>
                    <a:pt x="1594866" y="12700"/>
                  </a:cubicBezTo>
                  <a:cubicBezTo>
                    <a:pt x="1594866" y="19685"/>
                    <a:pt x="1589151" y="25400"/>
                    <a:pt x="15821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6579432" y="4925339"/>
            <a:ext cx="1581531" cy="130302"/>
            <a:chOff x="0" y="0"/>
            <a:chExt cx="2108708" cy="17373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0060095" y="6960860"/>
            <a:ext cx="1581531" cy="130302"/>
            <a:chOff x="0" y="0"/>
            <a:chExt cx="2108708" cy="17373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246FA2"/>
            </a:solidFill>
          </p:spPr>
        </p:sp>
      </p:grpSp>
      <p:sp>
        <p:nvSpPr>
          <p:cNvPr id="37" name="Freeform 37"/>
          <p:cNvSpPr/>
          <p:nvPr/>
        </p:nvSpPr>
        <p:spPr>
          <a:xfrm>
            <a:off x="10325062" y="5925036"/>
            <a:ext cx="1058894" cy="788794"/>
          </a:xfrm>
          <a:custGeom>
            <a:avLst/>
            <a:gdLst/>
            <a:ahLst/>
            <a:cxnLst/>
            <a:rect l="l" t="t" r="r" b="b"/>
            <a:pathLst>
              <a:path w="1058894" h="788794">
                <a:moveTo>
                  <a:pt x="0" y="0"/>
                </a:moveTo>
                <a:lnTo>
                  <a:pt x="1058894" y="0"/>
                </a:lnTo>
                <a:lnTo>
                  <a:pt x="1058894" y="788794"/>
                </a:lnTo>
                <a:lnTo>
                  <a:pt x="0" y="7887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259" r="-259"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8994905" y="6290862"/>
            <a:ext cx="57160" cy="1930908"/>
            <a:chOff x="0" y="0"/>
            <a:chExt cx="76213" cy="2574544"/>
          </a:xfrm>
        </p:grpSpPr>
        <p:sp>
          <p:nvSpPr>
            <p:cNvPr id="39" name="Freeform 39"/>
            <p:cNvSpPr/>
            <p:nvPr/>
          </p:nvSpPr>
          <p:spPr>
            <a:xfrm>
              <a:off x="-2" y="-2"/>
              <a:ext cx="76204" cy="2574548"/>
            </a:xfrm>
            <a:custGeom>
              <a:avLst/>
              <a:gdLst/>
              <a:ahLst/>
              <a:cxnLst/>
              <a:rect l="l" t="t" r="r" b="b"/>
              <a:pathLst>
                <a:path w="76204" h="2574548">
                  <a:moveTo>
                    <a:pt x="25402" y="12448"/>
                  </a:moveTo>
                  <a:lnTo>
                    <a:pt x="76202" y="2561592"/>
                  </a:lnTo>
                  <a:cubicBezTo>
                    <a:pt x="76329" y="2568577"/>
                    <a:pt x="70741" y="2574419"/>
                    <a:pt x="63756" y="2574546"/>
                  </a:cubicBezTo>
                  <a:cubicBezTo>
                    <a:pt x="56771" y="2574673"/>
                    <a:pt x="50929" y="2569085"/>
                    <a:pt x="50802" y="2562100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0" name="Freeform 40"/>
          <p:cNvSpPr/>
          <p:nvPr/>
        </p:nvSpPr>
        <p:spPr>
          <a:xfrm>
            <a:off x="8900551" y="8178470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5" y="0"/>
                </a:lnTo>
                <a:lnTo>
                  <a:pt x="245935" y="245935"/>
                </a:lnTo>
                <a:lnTo>
                  <a:pt x="0" y="2459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8122930" y="8301114"/>
            <a:ext cx="844296" cy="57140"/>
            <a:chOff x="0" y="0"/>
            <a:chExt cx="1125728" cy="76187"/>
          </a:xfrm>
        </p:grpSpPr>
        <p:sp>
          <p:nvSpPr>
            <p:cNvPr id="42" name="Freeform 42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6552190" y="7538923"/>
            <a:ext cx="1581531" cy="1581531"/>
            <a:chOff x="0" y="0"/>
            <a:chExt cx="2108708" cy="210870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8994905" y="8370799"/>
            <a:ext cx="57160" cy="1930908"/>
            <a:chOff x="0" y="0"/>
            <a:chExt cx="76213" cy="2574544"/>
          </a:xfrm>
        </p:grpSpPr>
        <p:sp>
          <p:nvSpPr>
            <p:cNvPr id="46" name="Freeform 46"/>
            <p:cNvSpPr/>
            <p:nvPr/>
          </p:nvSpPr>
          <p:spPr>
            <a:xfrm>
              <a:off x="-2" y="-2"/>
              <a:ext cx="76204" cy="2574548"/>
            </a:xfrm>
            <a:custGeom>
              <a:avLst/>
              <a:gdLst/>
              <a:ahLst/>
              <a:cxnLst/>
              <a:rect l="l" t="t" r="r" b="b"/>
              <a:pathLst>
                <a:path w="76204" h="2574548">
                  <a:moveTo>
                    <a:pt x="25402" y="12448"/>
                  </a:moveTo>
                  <a:lnTo>
                    <a:pt x="76202" y="2561592"/>
                  </a:lnTo>
                  <a:cubicBezTo>
                    <a:pt x="76329" y="2568577"/>
                    <a:pt x="70741" y="2574419"/>
                    <a:pt x="63756" y="2574546"/>
                  </a:cubicBezTo>
                  <a:cubicBezTo>
                    <a:pt x="56771" y="2574673"/>
                    <a:pt x="50929" y="2569085"/>
                    <a:pt x="50802" y="2562100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7" name="Freeform 47"/>
          <p:cNvSpPr/>
          <p:nvPr/>
        </p:nvSpPr>
        <p:spPr>
          <a:xfrm>
            <a:off x="7018363" y="7977054"/>
            <a:ext cx="649205" cy="648719"/>
          </a:xfrm>
          <a:custGeom>
            <a:avLst/>
            <a:gdLst/>
            <a:ahLst/>
            <a:cxnLst/>
            <a:rect l="l" t="t" r="r" b="b"/>
            <a:pathLst>
              <a:path w="649205" h="648719">
                <a:moveTo>
                  <a:pt x="0" y="0"/>
                </a:moveTo>
                <a:lnTo>
                  <a:pt x="649205" y="0"/>
                </a:lnTo>
                <a:lnTo>
                  <a:pt x="649205" y="648719"/>
                </a:lnTo>
                <a:lnTo>
                  <a:pt x="0" y="64871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t="-38" b="-36"/>
            </a:stretch>
          </a:blipFill>
        </p:spPr>
      </p:sp>
      <p:grpSp>
        <p:nvGrpSpPr>
          <p:cNvPr id="49" name="Group 49"/>
          <p:cNvGrpSpPr/>
          <p:nvPr/>
        </p:nvGrpSpPr>
        <p:grpSpPr>
          <a:xfrm>
            <a:off x="6552190" y="8990162"/>
            <a:ext cx="1581531" cy="130302"/>
            <a:chOff x="0" y="0"/>
            <a:chExt cx="2108708" cy="17373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6754597" y="3699939"/>
            <a:ext cx="1231211" cy="1290552"/>
            <a:chOff x="0" y="0"/>
            <a:chExt cx="1641615" cy="172073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641602" cy="1720723"/>
            </a:xfrm>
            <a:custGeom>
              <a:avLst/>
              <a:gdLst/>
              <a:ahLst/>
              <a:cxnLst/>
              <a:rect l="l" t="t" r="r" b="b"/>
              <a:pathLst>
                <a:path w="1641602" h="1720723">
                  <a:moveTo>
                    <a:pt x="0" y="0"/>
                  </a:moveTo>
                  <a:lnTo>
                    <a:pt x="1641602" y="0"/>
                  </a:lnTo>
                  <a:lnTo>
                    <a:pt x="1641602" y="1720723"/>
                  </a:lnTo>
                  <a:lnTo>
                    <a:pt x="0" y="17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sp>
        <p:nvSpPr>
          <p:cNvPr id="53" name="TextBox 53"/>
          <p:cNvSpPr txBox="1"/>
          <p:nvPr/>
        </p:nvSpPr>
        <p:spPr>
          <a:xfrm>
            <a:off x="1317850" y="3637864"/>
            <a:ext cx="5088874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Introduction</a:t>
            </a:r>
            <a:endParaRPr lang="en-US" sz="36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2045344" y="5757462"/>
            <a:ext cx="4035885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Qu’est ce que Express.js</a:t>
            </a:r>
            <a:endParaRPr lang="en-US" sz="36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914681" y="7941425"/>
            <a:ext cx="4254094" cy="165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</a:t>
            </a:r>
            <a:r>
              <a:rPr lang="en-US" sz="3600" b="1" dirty="0" err="1">
                <a:solidFill>
                  <a:schemeClr val="bg1">
                    <a:lumMod val="50000"/>
                  </a:schemeClr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Pourquoi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</a:t>
            </a:r>
            <a:r>
              <a:rPr lang="en-US" sz="3600" b="1" dirty="0" err="1">
                <a:solidFill>
                  <a:schemeClr val="bg1">
                    <a:lumMod val="50000"/>
                  </a:schemeClr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utiliser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                                                                       EXPRESS.JS ?</a:t>
            </a:r>
            <a:endParaRPr lang="en-US" sz="3600" b="1" dirty="0">
              <a:solidFill>
                <a:schemeClr val="bg1">
                  <a:lumMod val="50000"/>
                </a:schemeClr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r">
              <a:lnSpc>
                <a:spcPts val="4320"/>
              </a:lnSpc>
            </a:pPr>
            <a:endParaRPr lang="en-US" sz="3600" b="1" dirty="0">
              <a:solidFill>
                <a:schemeClr val="bg1">
                  <a:lumMod val="50000"/>
                </a:schemeClr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59" name="Group 59"/>
          <p:cNvGrpSpPr/>
          <p:nvPr/>
        </p:nvGrpSpPr>
        <p:grpSpPr>
          <a:xfrm>
            <a:off x="17144790" y="506473"/>
            <a:ext cx="700002" cy="349996"/>
            <a:chOff x="0" y="0"/>
            <a:chExt cx="933336" cy="46666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20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62" name="Group 53"/>
          <p:cNvGrpSpPr/>
          <p:nvPr/>
        </p:nvGrpSpPr>
        <p:grpSpPr>
          <a:xfrm>
            <a:off x="6911826" y="7941425"/>
            <a:ext cx="755742" cy="1133618"/>
            <a:chOff x="0" y="0"/>
            <a:chExt cx="1007656" cy="1511490"/>
          </a:xfrm>
        </p:grpSpPr>
        <p:sp>
          <p:nvSpPr>
            <p:cNvPr id="63" name="Freeform 54"/>
            <p:cNvSpPr/>
            <p:nvPr/>
          </p:nvSpPr>
          <p:spPr>
            <a:xfrm>
              <a:off x="0" y="0"/>
              <a:ext cx="1007618" cy="1511427"/>
            </a:xfrm>
            <a:custGeom>
              <a:avLst/>
              <a:gdLst/>
              <a:ahLst/>
              <a:cxnLst/>
              <a:rect l="l" t="t" r="r" b="b"/>
              <a:pathLst>
                <a:path w="1007618" h="1511427">
                  <a:moveTo>
                    <a:pt x="0" y="0"/>
                  </a:moveTo>
                  <a:lnTo>
                    <a:pt x="1007618" y="0"/>
                  </a:lnTo>
                  <a:lnTo>
                    <a:pt x="1007618" y="1511427"/>
                  </a:lnTo>
                  <a:lnTo>
                    <a:pt x="0" y="1511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3" b="-4"/>
              </a:stretch>
            </a:blipFill>
          </p:spPr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6"/>
          <p:cNvGrpSpPr/>
          <p:nvPr/>
        </p:nvGrpSpPr>
        <p:grpSpPr>
          <a:xfrm>
            <a:off x="6229274" y="7354338"/>
            <a:ext cx="1581531" cy="1581531"/>
            <a:chOff x="0" y="0"/>
            <a:chExt cx="2108708" cy="210870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2" name="Group 2"/>
          <p:cNvGrpSpPr/>
          <p:nvPr/>
        </p:nvGrpSpPr>
        <p:grpSpPr>
          <a:xfrm>
            <a:off x="17304268" y="629564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304268" y="1181033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8577634" y="1498349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5" y="0"/>
                </a:lnTo>
                <a:lnTo>
                  <a:pt x="245935" y="245936"/>
                </a:lnTo>
                <a:lnTo>
                  <a:pt x="0" y="2459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8756837" y="1621003"/>
            <a:ext cx="844296" cy="57140"/>
            <a:chOff x="0" y="0"/>
            <a:chExt cx="1125728" cy="76187"/>
          </a:xfrm>
        </p:grpSpPr>
        <p:sp>
          <p:nvSpPr>
            <p:cNvPr id="12" name="Freeform 12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671989" y="1672342"/>
            <a:ext cx="57160" cy="1930908"/>
            <a:chOff x="0" y="0"/>
            <a:chExt cx="76213" cy="2574544"/>
          </a:xfrm>
        </p:grpSpPr>
        <p:sp>
          <p:nvSpPr>
            <p:cNvPr id="16" name="Freeform 16"/>
            <p:cNvSpPr/>
            <p:nvPr/>
          </p:nvSpPr>
          <p:spPr>
            <a:xfrm>
              <a:off x="-2" y="-2"/>
              <a:ext cx="76204" cy="2574548"/>
            </a:xfrm>
            <a:custGeom>
              <a:avLst/>
              <a:gdLst/>
              <a:ahLst/>
              <a:cxnLst/>
              <a:rect l="l" t="t" r="r" b="b"/>
              <a:pathLst>
                <a:path w="76204" h="2574548">
                  <a:moveTo>
                    <a:pt x="25402" y="12448"/>
                  </a:moveTo>
                  <a:lnTo>
                    <a:pt x="76202" y="2561592"/>
                  </a:lnTo>
                  <a:cubicBezTo>
                    <a:pt x="76329" y="2568577"/>
                    <a:pt x="70741" y="2574419"/>
                    <a:pt x="63756" y="2574546"/>
                  </a:cubicBezTo>
                  <a:cubicBezTo>
                    <a:pt x="56771" y="2574673"/>
                    <a:pt x="50929" y="2569085"/>
                    <a:pt x="50802" y="2562100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8577634" y="3559940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5" y="0"/>
                </a:lnTo>
                <a:lnTo>
                  <a:pt x="245935" y="245936"/>
                </a:lnTo>
                <a:lnTo>
                  <a:pt x="0" y="2459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7800013" y="3682594"/>
            <a:ext cx="844296" cy="57140"/>
            <a:chOff x="0" y="0"/>
            <a:chExt cx="1125728" cy="76187"/>
          </a:xfrm>
        </p:grpSpPr>
        <p:sp>
          <p:nvSpPr>
            <p:cNvPr id="19" name="Freeform 19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229274" y="2907744"/>
            <a:ext cx="1581531" cy="1581531"/>
            <a:chOff x="0" y="0"/>
            <a:chExt cx="2108708" cy="21087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671989" y="3752278"/>
            <a:ext cx="57160" cy="1930908"/>
            <a:chOff x="0" y="0"/>
            <a:chExt cx="76213" cy="2574544"/>
          </a:xfrm>
        </p:grpSpPr>
        <p:sp>
          <p:nvSpPr>
            <p:cNvPr id="23" name="Freeform 23"/>
            <p:cNvSpPr/>
            <p:nvPr/>
          </p:nvSpPr>
          <p:spPr>
            <a:xfrm>
              <a:off x="-2" y="-2"/>
              <a:ext cx="76204" cy="2574548"/>
            </a:xfrm>
            <a:custGeom>
              <a:avLst/>
              <a:gdLst/>
              <a:ahLst/>
              <a:cxnLst/>
              <a:rect l="l" t="t" r="r" b="b"/>
              <a:pathLst>
                <a:path w="76204" h="2574548">
                  <a:moveTo>
                    <a:pt x="25402" y="12448"/>
                  </a:moveTo>
                  <a:lnTo>
                    <a:pt x="76202" y="2561592"/>
                  </a:lnTo>
                  <a:cubicBezTo>
                    <a:pt x="76329" y="2568577"/>
                    <a:pt x="70741" y="2574419"/>
                    <a:pt x="63756" y="2574546"/>
                  </a:cubicBezTo>
                  <a:cubicBezTo>
                    <a:pt x="56771" y="2574673"/>
                    <a:pt x="50929" y="2569085"/>
                    <a:pt x="50802" y="2562100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Freeform 24"/>
          <p:cNvSpPr/>
          <p:nvPr/>
        </p:nvSpPr>
        <p:spPr>
          <a:xfrm>
            <a:off x="8577634" y="5639886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5" y="0"/>
                </a:lnTo>
                <a:lnTo>
                  <a:pt x="245935" y="245935"/>
                </a:lnTo>
                <a:lnTo>
                  <a:pt x="0" y="2459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8756837" y="5762530"/>
            <a:ext cx="844296" cy="57140"/>
            <a:chOff x="0" y="0"/>
            <a:chExt cx="1125728" cy="76187"/>
          </a:xfrm>
        </p:grpSpPr>
        <p:sp>
          <p:nvSpPr>
            <p:cNvPr id="26" name="Freeform 26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572549" y="5000330"/>
            <a:ext cx="1581531" cy="1581531"/>
            <a:chOff x="0" y="0"/>
            <a:chExt cx="2108708" cy="210870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684076" y="5854132"/>
            <a:ext cx="57150" cy="2034540"/>
            <a:chOff x="0" y="0"/>
            <a:chExt cx="76200" cy="2712720"/>
          </a:xfrm>
        </p:grpSpPr>
        <p:sp>
          <p:nvSpPr>
            <p:cNvPr id="30" name="Freeform 30"/>
            <p:cNvSpPr/>
            <p:nvPr/>
          </p:nvSpPr>
          <p:spPr>
            <a:xfrm>
              <a:off x="-2" y="-2"/>
              <a:ext cx="76204" cy="2712724"/>
            </a:xfrm>
            <a:custGeom>
              <a:avLst/>
              <a:gdLst/>
              <a:ahLst/>
              <a:cxnLst/>
              <a:rect l="l" t="t" r="r" b="b"/>
              <a:pathLst>
                <a:path w="76204" h="2712724">
                  <a:moveTo>
                    <a:pt x="25402" y="12448"/>
                  </a:moveTo>
                  <a:lnTo>
                    <a:pt x="76202" y="2699768"/>
                  </a:lnTo>
                  <a:cubicBezTo>
                    <a:pt x="76329" y="2706753"/>
                    <a:pt x="70741" y="2712595"/>
                    <a:pt x="63756" y="2712722"/>
                  </a:cubicBezTo>
                  <a:cubicBezTo>
                    <a:pt x="56771" y="2712849"/>
                    <a:pt x="50929" y="2707261"/>
                    <a:pt x="50802" y="2700276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1" name="Freeform 31"/>
          <p:cNvSpPr/>
          <p:nvPr/>
        </p:nvSpPr>
        <p:spPr>
          <a:xfrm>
            <a:off x="6663268" y="7867872"/>
            <a:ext cx="671208" cy="504111"/>
          </a:xfrm>
          <a:custGeom>
            <a:avLst/>
            <a:gdLst/>
            <a:ahLst/>
            <a:cxnLst/>
            <a:rect l="l" t="t" r="r" b="b"/>
            <a:pathLst>
              <a:path w="671208" h="504111">
                <a:moveTo>
                  <a:pt x="0" y="0"/>
                </a:moveTo>
                <a:lnTo>
                  <a:pt x="671208" y="0"/>
                </a:lnTo>
                <a:lnTo>
                  <a:pt x="671208" y="504111"/>
                </a:lnTo>
                <a:lnTo>
                  <a:pt x="0" y="504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06" r="-306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4" name="Group 34"/>
          <p:cNvGrpSpPr/>
          <p:nvPr/>
        </p:nvGrpSpPr>
        <p:grpSpPr>
          <a:xfrm>
            <a:off x="6229274" y="4371632"/>
            <a:ext cx="1581531" cy="130302"/>
            <a:chOff x="0" y="0"/>
            <a:chExt cx="2108708" cy="17373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2C87C6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568920" y="6450349"/>
            <a:ext cx="1581531" cy="130302"/>
            <a:chOff x="0" y="0"/>
            <a:chExt cx="2108708" cy="17373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3694D2"/>
            </a:solidFill>
          </p:spPr>
        </p:sp>
      </p:grpSp>
      <p:sp>
        <p:nvSpPr>
          <p:cNvPr id="39" name="Freeform 39"/>
          <p:cNvSpPr/>
          <p:nvPr/>
        </p:nvSpPr>
        <p:spPr>
          <a:xfrm>
            <a:off x="6743302" y="3352202"/>
            <a:ext cx="579749" cy="578025"/>
          </a:xfrm>
          <a:custGeom>
            <a:avLst/>
            <a:gdLst/>
            <a:ahLst/>
            <a:cxnLst/>
            <a:rect l="l" t="t" r="r" b="b"/>
            <a:pathLst>
              <a:path w="579749" h="578025">
                <a:moveTo>
                  <a:pt x="0" y="0"/>
                </a:moveTo>
                <a:lnTo>
                  <a:pt x="579748" y="0"/>
                </a:lnTo>
                <a:lnTo>
                  <a:pt x="579748" y="578024"/>
                </a:lnTo>
                <a:lnTo>
                  <a:pt x="0" y="5780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-148" b="-14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0" name="Freeform 40"/>
          <p:cNvSpPr/>
          <p:nvPr/>
        </p:nvSpPr>
        <p:spPr>
          <a:xfrm>
            <a:off x="10022782" y="5423549"/>
            <a:ext cx="552526" cy="735092"/>
          </a:xfrm>
          <a:custGeom>
            <a:avLst/>
            <a:gdLst/>
            <a:ahLst/>
            <a:cxnLst/>
            <a:rect l="l" t="t" r="r" b="b"/>
            <a:pathLst>
              <a:path w="552526" h="735092">
                <a:moveTo>
                  <a:pt x="0" y="0"/>
                </a:moveTo>
                <a:lnTo>
                  <a:pt x="552527" y="0"/>
                </a:lnTo>
                <a:lnTo>
                  <a:pt x="552527" y="735092"/>
                </a:lnTo>
                <a:lnTo>
                  <a:pt x="0" y="7350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317" r="-317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1" name="Group 41"/>
          <p:cNvGrpSpPr/>
          <p:nvPr/>
        </p:nvGrpSpPr>
        <p:grpSpPr>
          <a:xfrm>
            <a:off x="8671989" y="6438405"/>
            <a:ext cx="57160" cy="1930908"/>
            <a:chOff x="0" y="0"/>
            <a:chExt cx="76213" cy="2574544"/>
          </a:xfrm>
        </p:grpSpPr>
        <p:sp>
          <p:nvSpPr>
            <p:cNvPr id="42" name="Freeform 42"/>
            <p:cNvSpPr/>
            <p:nvPr/>
          </p:nvSpPr>
          <p:spPr>
            <a:xfrm>
              <a:off x="-2" y="-2"/>
              <a:ext cx="76204" cy="2574548"/>
            </a:xfrm>
            <a:custGeom>
              <a:avLst/>
              <a:gdLst/>
              <a:ahLst/>
              <a:cxnLst/>
              <a:rect l="l" t="t" r="r" b="b"/>
              <a:pathLst>
                <a:path w="76204" h="2574548">
                  <a:moveTo>
                    <a:pt x="25402" y="12448"/>
                  </a:moveTo>
                  <a:lnTo>
                    <a:pt x="76202" y="2561592"/>
                  </a:lnTo>
                  <a:cubicBezTo>
                    <a:pt x="76329" y="2568577"/>
                    <a:pt x="70741" y="2574419"/>
                    <a:pt x="63756" y="2574546"/>
                  </a:cubicBezTo>
                  <a:cubicBezTo>
                    <a:pt x="56771" y="2574673"/>
                    <a:pt x="50929" y="2569085"/>
                    <a:pt x="50802" y="2562100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3" name="Freeform 43"/>
          <p:cNvSpPr/>
          <p:nvPr/>
        </p:nvSpPr>
        <p:spPr>
          <a:xfrm>
            <a:off x="8577634" y="7899235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5" y="0"/>
                </a:lnTo>
                <a:lnTo>
                  <a:pt x="245935" y="245935"/>
                </a:lnTo>
                <a:lnTo>
                  <a:pt x="0" y="24593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7800013" y="8448656"/>
            <a:ext cx="844296" cy="57140"/>
            <a:chOff x="0" y="0"/>
            <a:chExt cx="1125728" cy="76187"/>
          </a:xfrm>
        </p:grpSpPr>
        <p:sp>
          <p:nvSpPr>
            <p:cNvPr id="45" name="Freeform 45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8671989" y="8518341"/>
            <a:ext cx="57160" cy="1930908"/>
            <a:chOff x="0" y="0"/>
            <a:chExt cx="76213" cy="2574544"/>
          </a:xfrm>
        </p:grpSpPr>
        <p:sp>
          <p:nvSpPr>
            <p:cNvPr id="49" name="Freeform 49"/>
            <p:cNvSpPr/>
            <p:nvPr/>
          </p:nvSpPr>
          <p:spPr>
            <a:xfrm>
              <a:off x="-2" y="-2"/>
              <a:ext cx="76204" cy="2574548"/>
            </a:xfrm>
            <a:custGeom>
              <a:avLst/>
              <a:gdLst/>
              <a:ahLst/>
              <a:cxnLst/>
              <a:rect l="l" t="t" r="r" b="b"/>
              <a:pathLst>
                <a:path w="76204" h="2574548">
                  <a:moveTo>
                    <a:pt x="25402" y="12448"/>
                  </a:moveTo>
                  <a:lnTo>
                    <a:pt x="76202" y="2561592"/>
                  </a:lnTo>
                  <a:cubicBezTo>
                    <a:pt x="76329" y="2568577"/>
                    <a:pt x="70741" y="2574419"/>
                    <a:pt x="63756" y="2574546"/>
                  </a:cubicBezTo>
                  <a:cubicBezTo>
                    <a:pt x="56771" y="2574673"/>
                    <a:pt x="50929" y="2569085"/>
                    <a:pt x="50802" y="2562100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0" name="Freeform 50"/>
          <p:cNvSpPr/>
          <p:nvPr/>
        </p:nvSpPr>
        <p:spPr>
          <a:xfrm>
            <a:off x="6695446" y="8124596"/>
            <a:ext cx="649205" cy="648719"/>
          </a:xfrm>
          <a:custGeom>
            <a:avLst/>
            <a:gdLst/>
            <a:ahLst/>
            <a:cxnLst/>
            <a:rect l="l" t="t" r="r" b="b"/>
            <a:pathLst>
              <a:path w="649205" h="648719">
                <a:moveTo>
                  <a:pt x="0" y="0"/>
                </a:moveTo>
                <a:lnTo>
                  <a:pt x="649205" y="0"/>
                </a:lnTo>
                <a:lnTo>
                  <a:pt x="649205" y="648720"/>
                </a:lnTo>
                <a:lnTo>
                  <a:pt x="0" y="64872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t="-38" b="-36"/>
            </a:stretch>
          </a:blipFill>
        </p:spPr>
      </p:sp>
      <p:grpSp>
        <p:nvGrpSpPr>
          <p:cNvPr id="51" name="Group 51"/>
          <p:cNvGrpSpPr/>
          <p:nvPr/>
        </p:nvGrpSpPr>
        <p:grpSpPr>
          <a:xfrm>
            <a:off x="6229274" y="8810606"/>
            <a:ext cx="1581531" cy="130302"/>
            <a:chOff x="0" y="0"/>
            <a:chExt cx="2108708" cy="17373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sp>
        <p:nvSpPr>
          <p:cNvPr id="55" name="TextBox 55"/>
          <p:cNvSpPr txBox="1"/>
          <p:nvPr/>
        </p:nvSpPr>
        <p:spPr>
          <a:xfrm>
            <a:off x="3902129" y="3394395"/>
            <a:ext cx="6111764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Req</a:t>
            </a:r>
            <a:r>
              <a:rPr lang="en-US" sz="360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/Res</a:t>
            </a:r>
            <a:endParaRPr lang="en-US" sz="3600" b="1" dirty="0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8316516" y="5468107"/>
            <a:ext cx="566787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Middlewares</a:t>
            </a:r>
            <a:endParaRPr lang="en-US" sz="3600" b="1" dirty="0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2367770" y="7876379"/>
            <a:ext cx="3577342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Architecture MVC</a:t>
            </a:r>
            <a:endParaRPr lang="en-US" sz="3600" b="1" dirty="0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63" name="Group 63"/>
          <p:cNvGrpSpPr/>
          <p:nvPr/>
        </p:nvGrpSpPr>
        <p:grpSpPr>
          <a:xfrm>
            <a:off x="17307992" y="723014"/>
            <a:ext cx="700002" cy="349996"/>
            <a:chOff x="0" y="0"/>
            <a:chExt cx="933336" cy="466661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21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67" name="Group 41"/>
          <p:cNvGrpSpPr/>
          <p:nvPr/>
        </p:nvGrpSpPr>
        <p:grpSpPr>
          <a:xfrm>
            <a:off x="8122930" y="8301114"/>
            <a:ext cx="844296" cy="57140"/>
            <a:chOff x="0" y="0"/>
            <a:chExt cx="1125728" cy="76187"/>
          </a:xfrm>
        </p:grpSpPr>
        <p:sp>
          <p:nvSpPr>
            <p:cNvPr id="68" name="Freeform 42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9" name="Group 43"/>
          <p:cNvGrpSpPr/>
          <p:nvPr/>
        </p:nvGrpSpPr>
        <p:grpSpPr>
          <a:xfrm>
            <a:off x="9372600" y="714933"/>
            <a:ext cx="1581531" cy="1581531"/>
            <a:chOff x="0" y="0"/>
            <a:chExt cx="2108708" cy="2108708"/>
          </a:xfrm>
        </p:grpSpPr>
        <p:sp>
          <p:nvSpPr>
            <p:cNvPr id="70" name="Freeform 44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sp>
        <p:nvSpPr>
          <p:cNvPr id="71" name="Freeform 47"/>
          <p:cNvSpPr/>
          <p:nvPr/>
        </p:nvSpPr>
        <p:spPr>
          <a:xfrm>
            <a:off x="7018363" y="7977054"/>
            <a:ext cx="649205" cy="648719"/>
          </a:xfrm>
          <a:custGeom>
            <a:avLst/>
            <a:gdLst/>
            <a:ahLst/>
            <a:cxnLst/>
            <a:rect l="l" t="t" r="r" b="b"/>
            <a:pathLst>
              <a:path w="649205" h="648719">
                <a:moveTo>
                  <a:pt x="0" y="0"/>
                </a:moveTo>
                <a:lnTo>
                  <a:pt x="649205" y="0"/>
                </a:lnTo>
                <a:lnTo>
                  <a:pt x="649205" y="648719"/>
                </a:lnTo>
                <a:lnTo>
                  <a:pt x="0" y="64871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t="-38" b="-36"/>
            </a:stretch>
          </a:blipFill>
        </p:spPr>
      </p:sp>
      <p:sp>
        <p:nvSpPr>
          <p:cNvPr id="72" name="Freeform 48"/>
          <p:cNvSpPr/>
          <p:nvPr/>
        </p:nvSpPr>
        <p:spPr>
          <a:xfrm>
            <a:off x="9873913" y="946233"/>
            <a:ext cx="552526" cy="735092"/>
          </a:xfrm>
          <a:custGeom>
            <a:avLst/>
            <a:gdLst/>
            <a:ahLst/>
            <a:cxnLst/>
            <a:rect l="l" t="t" r="r" b="b"/>
            <a:pathLst>
              <a:path w="552526" h="735092">
                <a:moveTo>
                  <a:pt x="0" y="0"/>
                </a:moveTo>
                <a:lnTo>
                  <a:pt x="552526" y="0"/>
                </a:lnTo>
                <a:lnTo>
                  <a:pt x="552526" y="735091"/>
                </a:lnTo>
                <a:lnTo>
                  <a:pt x="0" y="73509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317" r="-317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3" name="Group 49"/>
          <p:cNvGrpSpPr/>
          <p:nvPr/>
        </p:nvGrpSpPr>
        <p:grpSpPr>
          <a:xfrm>
            <a:off x="9359410" y="2166767"/>
            <a:ext cx="1581531" cy="130302"/>
            <a:chOff x="0" y="0"/>
            <a:chExt cx="2108708" cy="173736"/>
          </a:xfrm>
        </p:grpSpPr>
        <p:sp>
          <p:nvSpPr>
            <p:cNvPr id="74" name="Freeform 50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sp>
        <p:nvSpPr>
          <p:cNvPr id="60" name="Rectangle 59"/>
          <p:cNvSpPr/>
          <p:nvPr/>
        </p:nvSpPr>
        <p:spPr>
          <a:xfrm>
            <a:off x="11073722" y="1082278"/>
            <a:ext cx="18020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Routing</a:t>
            </a:r>
            <a:endParaRPr lang="fr-FR" sz="3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8532" y="8428254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54929" y="7568775"/>
            <a:ext cx="600075" cy="28575"/>
            <a:chOff x="0" y="0"/>
            <a:chExt cx="800100" cy="38100"/>
          </a:xfrm>
        </p:grpSpPr>
        <p:sp>
          <p:nvSpPr>
            <p:cNvPr id="9" name="Freeform 9"/>
            <p:cNvSpPr/>
            <p:nvPr/>
          </p:nvSpPr>
          <p:spPr>
            <a:xfrm>
              <a:off x="-4" y="-4"/>
              <a:ext cx="800109" cy="38109"/>
            </a:xfrm>
            <a:custGeom>
              <a:avLst/>
              <a:gdLst/>
              <a:ahLst/>
              <a:cxnLst/>
              <a:rect l="l" t="t" r="r" b="b"/>
              <a:pathLst>
                <a:path w="800109" h="38109">
                  <a:moveTo>
                    <a:pt x="6608" y="4"/>
                  </a:moveTo>
                  <a:lnTo>
                    <a:pt x="794008" y="25404"/>
                  </a:lnTo>
                  <a:cubicBezTo>
                    <a:pt x="797564" y="25531"/>
                    <a:pt x="800231" y="28452"/>
                    <a:pt x="800104" y="32008"/>
                  </a:cubicBezTo>
                  <a:cubicBezTo>
                    <a:pt x="799977" y="35564"/>
                    <a:pt x="797056" y="38231"/>
                    <a:pt x="793500" y="38104"/>
                  </a:cubicBezTo>
                  <a:lnTo>
                    <a:pt x="6100" y="12704"/>
                  </a:lnTo>
                  <a:cubicBezTo>
                    <a:pt x="2671" y="12577"/>
                    <a:pt x="-123" y="9656"/>
                    <a:pt x="4" y="6100"/>
                  </a:cubicBezTo>
                  <a:cubicBezTo>
                    <a:pt x="131" y="2544"/>
                    <a:pt x="3052" y="-123"/>
                    <a:pt x="6608" y="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8141548" y="2492055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6" y="0"/>
                </a:lnTo>
                <a:lnTo>
                  <a:pt x="245936" y="245935"/>
                </a:lnTo>
                <a:lnTo>
                  <a:pt x="0" y="2459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8320751" y="3044819"/>
            <a:ext cx="844296" cy="57140"/>
            <a:chOff x="0" y="0"/>
            <a:chExt cx="1125728" cy="76187"/>
          </a:xfrm>
        </p:grpSpPr>
        <p:sp>
          <p:nvSpPr>
            <p:cNvPr id="12" name="Freeform 12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132834" y="1701280"/>
            <a:ext cx="1581531" cy="1581531"/>
            <a:chOff x="0" y="0"/>
            <a:chExt cx="2108708" cy="21087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235912" y="3096149"/>
            <a:ext cx="57160" cy="1930908"/>
            <a:chOff x="0" y="0"/>
            <a:chExt cx="76213" cy="2574544"/>
          </a:xfrm>
        </p:grpSpPr>
        <p:sp>
          <p:nvSpPr>
            <p:cNvPr id="16" name="Freeform 16"/>
            <p:cNvSpPr/>
            <p:nvPr/>
          </p:nvSpPr>
          <p:spPr>
            <a:xfrm>
              <a:off x="-2" y="-2"/>
              <a:ext cx="76204" cy="2574548"/>
            </a:xfrm>
            <a:custGeom>
              <a:avLst/>
              <a:gdLst/>
              <a:ahLst/>
              <a:cxnLst/>
              <a:rect l="l" t="t" r="r" b="b"/>
              <a:pathLst>
                <a:path w="76204" h="2574548">
                  <a:moveTo>
                    <a:pt x="25402" y="12448"/>
                  </a:moveTo>
                  <a:lnTo>
                    <a:pt x="76202" y="2561592"/>
                  </a:lnTo>
                  <a:cubicBezTo>
                    <a:pt x="76329" y="2568577"/>
                    <a:pt x="70741" y="2574419"/>
                    <a:pt x="63756" y="2574546"/>
                  </a:cubicBezTo>
                  <a:cubicBezTo>
                    <a:pt x="56771" y="2574673"/>
                    <a:pt x="50929" y="2569085"/>
                    <a:pt x="50802" y="2562100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8172676" y="4568800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5" y="0"/>
                </a:lnTo>
                <a:lnTo>
                  <a:pt x="245935" y="245935"/>
                </a:lnTo>
                <a:lnTo>
                  <a:pt x="0" y="2459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7363927" y="5106410"/>
            <a:ext cx="844296" cy="57140"/>
            <a:chOff x="0" y="0"/>
            <a:chExt cx="1125728" cy="76187"/>
          </a:xfrm>
        </p:grpSpPr>
        <p:sp>
          <p:nvSpPr>
            <p:cNvPr id="19" name="Freeform 19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793188" y="3900964"/>
            <a:ext cx="1581531" cy="1581531"/>
            <a:chOff x="0" y="0"/>
            <a:chExt cx="2108708" cy="21087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235912" y="5176085"/>
            <a:ext cx="57160" cy="1930908"/>
            <a:chOff x="0" y="0"/>
            <a:chExt cx="76213" cy="2574544"/>
          </a:xfrm>
        </p:grpSpPr>
        <p:sp>
          <p:nvSpPr>
            <p:cNvPr id="23" name="Freeform 23"/>
            <p:cNvSpPr/>
            <p:nvPr/>
          </p:nvSpPr>
          <p:spPr>
            <a:xfrm>
              <a:off x="-2" y="-2"/>
              <a:ext cx="76204" cy="2574548"/>
            </a:xfrm>
            <a:custGeom>
              <a:avLst/>
              <a:gdLst/>
              <a:ahLst/>
              <a:cxnLst/>
              <a:rect l="l" t="t" r="r" b="b"/>
              <a:pathLst>
                <a:path w="76204" h="2574548">
                  <a:moveTo>
                    <a:pt x="25402" y="12448"/>
                  </a:moveTo>
                  <a:lnTo>
                    <a:pt x="76202" y="2561592"/>
                  </a:lnTo>
                  <a:cubicBezTo>
                    <a:pt x="76329" y="2568577"/>
                    <a:pt x="70741" y="2574419"/>
                    <a:pt x="63756" y="2574546"/>
                  </a:cubicBezTo>
                  <a:cubicBezTo>
                    <a:pt x="56771" y="2574673"/>
                    <a:pt x="50929" y="2569085"/>
                    <a:pt x="50802" y="2562100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Freeform 24"/>
          <p:cNvSpPr/>
          <p:nvPr/>
        </p:nvSpPr>
        <p:spPr>
          <a:xfrm>
            <a:off x="8141548" y="6424137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6" y="0"/>
                </a:lnTo>
                <a:lnTo>
                  <a:pt x="245936" y="245935"/>
                </a:lnTo>
                <a:lnTo>
                  <a:pt x="0" y="2459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8320751" y="7186346"/>
            <a:ext cx="844296" cy="57140"/>
            <a:chOff x="0" y="0"/>
            <a:chExt cx="1125728" cy="76187"/>
          </a:xfrm>
        </p:grpSpPr>
        <p:sp>
          <p:nvSpPr>
            <p:cNvPr id="26" name="Freeform 26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132834" y="5879249"/>
            <a:ext cx="1581531" cy="1581531"/>
            <a:chOff x="0" y="0"/>
            <a:chExt cx="2108708" cy="210870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11213313" y="1904496"/>
            <a:ext cx="4604966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Création</a:t>
            </a:r>
            <a:r>
              <a:rPr lang="en-US" sz="360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</a:t>
            </a:r>
            <a:r>
              <a:rPr lang="en-US" sz="360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d'une</a:t>
            </a:r>
            <a:r>
              <a:rPr lang="en-US" sz="360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API REST</a:t>
            </a:r>
            <a:endParaRPr lang="en-US" sz="3600" b="1" dirty="0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l">
              <a:lnSpc>
                <a:spcPts val="4320"/>
              </a:lnSpc>
            </a:pPr>
            <a:endParaRPr lang="en-US" sz="3600" b="1" dirty="0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8247990" y="7277939"/>
            <a:ext cx="57150" cy="2034540"/>
            <a:chOff x="0" y="0"/>
            <a:chExt cx="76200" cy="2712720"/>
          </a:xfrm>
        </p:grpSpPr>
        <p:sp>
          <p:nvSpPr>
            <p:cNvPr id="31" name="Freeform 31"/>
            <p:cNvSpPr/>
            <p:nvPr/>
          </p:nvSpPr>
          <p:spPr>
            <a:xfrm>
              <a:off x="-2" y="-2"/>
              <a:ext cx="76204" cy="2712724"/>
            </a:xfrm>
            <a:custGeom>
              <a:avLst/>
              <a:gdLst/>
              <a:ahLst/>
              <a:cxnLst/>
              <a:rect l="l" t="t" r="r" b="b"/>
              <a:pathLst>
                <a:path w="76204" h="2712724">
                  <a:moveTo>
                    <a:pt x="25402" y="12448"/>
                  </a:moveTo>
                  <a:lnTo>
                    <a:pt x="76202" y="2699768"/>
                  </a:lnTo>
                  <a:cubicBezTo>
                    <a:pt x="76329" y="2706753"/>
                    <a:pt x="70741" y="2712595"/>
                    <a:pt x="63756" y="2712722"/>
                  </a:cubicBezTo>
                  <a:cubicBezTo>
                    <a:pt x="56771" y="2712849"/>
                    <a:pt x="50929" y="2707261"/>
                    <a:pt x="50802" y="2700276"/>
                  </a:cubicBezTo>
                  <a:lnTo>
                    <a:pt x="2" y="12956"/>
                  </a:lnTo>
                  <a:cubicBezTo>
                    <a:pt x="-125" y="5971"/>
                    <a:pt x="5463" y="129"/>
                    <a:pt x="12448" y="2"/>
                  </a:cubicBezTo>
                  <a:cubicBezTo>
                    <a:pt x="19433" y="-125"/>
                    <a:pt x="25275" y="5463"/>
                    <a:pt x="25402" y="1244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6237358" y="4474617"/>
            <a:ext cx="671208" cy="504111"/>
          </a:xfrm>
          <a:custGeom>
            <a:avLst/>
            <a:gdLst/>
            <a:ahLst/>
            <a:cxnLst/>
            <a:rect l="l" t="t" r="r" b="b"/>
            <a:pathLst>
              <a:path w="671208" h="504111">
                <a:moveTo>
                  <a:pt x="0" y="0"/>
                </a:moveTo>
                <a:lnTo>
                  <a:pt x="671207" y="0"/>
                </a:lnTo>
                <a:lnTo>
                  <a:pt x="671207" y="504110"/>
                </a:lnTo>
                <a:lnTo>
                  <a:pt x="0" y="504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06" r="-306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675035" y="2124514"/>
            <a:ext cx="552526" cy="735092"/>
          </a:xfrm>
          <a:custGeom>
            <a:avLst/>
            <a:gdLst/>
            <a:ahLst/>
            <a:cxnLst/>
            <a:rect l="l" t="t" r="r" b="b"/>
            <a:pathLst>
              <a:path w="552526" h="735092">
                <a:moveTo>
                  <a:pt x="0" y="0"/>
                </a:moveTo>
                <a:lnTo>
                  <a:pt x="552526" y="0"/>
                </a:lnTo>
                <a:lnTo>
                  <a:pt x="552526" y="735091"/>
                </a:lnTo>
                <a:lnTo>
                  <a:pt x="0" y="7350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317" r="-317"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9132834" y="3105674"/>
            <a:ext cx="1581531" cy="130302"/>
            <a:chOff x="0" y="0"/>
            <a:chExt cx="2108708" cy="17373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1F608B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5793188" y="5417363"/>
            <a:ext cx="1581531" cy="130302"/>
            <a:chOff x="0" y="0"/>
            <a:chExt cx="2108708" cy="17373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2C87C6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9155522" y="7287464"/>
            <a:ext cx="1581531" cy="130302"/>
            <a:chOff x="0" y="0"/>
            <a:chExt cx="2108708" cy="1737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3694D2"/>
            </a:solidFill>
          </p:spPr>
        </p:sp>
      </p:grpSp>
      <p:sp>
        <p:nvSpPr>
          <p:cNvPr id="40" name="Freeform 40"/>
          <p:cNvSpPr/>
          <p:nvPr/>
        </p:nvSpPr>
        <p:spPr>
          <a:xfrm>
            <a:off x="9675035" y="2840317"/>
            <a:ext cx="497138" cy="466125"/>
          </a:xfrm>
          <a:custGeom>
            <a:avLst/>
            <a:gdLst/>
            <a:ahLst/>
            <a:cxnLst/>
            <a:rect l="l" t="t" r="r" b="b"/>
            <a:pathLst>
              <a:path w="497138" h="466125">
                <a:moveTo>
                  <a:pt x="0" y="0"/>
                </a:moveTo>
                <a:lnTo>
                  <a:pt x="497138" y="0"/>
                </a:lnTo>
                <a:lnTo>
                  <a:pt x="497138" y="466125"/>
                </a:lnTo>
                <a:lnTo>
                  <a:pt x="0" y="4661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706" r="-708"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-1120533" y="4442765"/>
            <a:ext cx="6635286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Lien avec </a:t>
            </a:r>
            <a:r>
              <a:rPr lang="en-US" sz="360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l'IA</a:t>
            </a:r>
            <a:endParaRPr lang="en-US" sz="3600" b="1" dirty="0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r">
              <a:lnSpc>
                <a:spcPts val="4320"/>
              </a:lnSpc>
            </a:pPr>
            <a:endParaRPr lang="en-US" sz="3600" b="1" dirty="0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802789" y="5105006"/>
            <a:ext cx="374092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dirty="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Python ↔ Express ↔ Frontend</a:t>
            </a:r>
            <a:endParaRPr lang="en-US" sz="2100" dirty="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r">
              <a:lnSpc>
                <a:spcPts val="2520"/>
              </a:lnSpc>
            </a:pPr>
            <a:endParaRPr lang="en-US" sz="2100" dirty="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213313" y="5800411"/>
            <a:ext cx="341955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La partie       pratique</a:t>
            </a:r>
            <a:endParaRPr lang="en-US" sz="36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027442" y="6981549"/>
            <a:ext cx="439972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TO-DO List with EXPRESS.JS</a:t>
            </a:r>
            <a:endParaRPr lang="en-US" sz="21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45" name="Group 45"/>
          <p:cNvGrpSpPr/>
          <p:nvPr/>
        </p:nvGrpSpPr>
        <p:grpSpPr>
          <a:xfrm rot="-10800000">
            <a:off x="8000702" y="8337071"/>
            <a:ext cx="395954" cy="233744"/>
            <a:chOff x="0" y="0"/>
            <a:chExt cx="527939" cy="31165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27939" cy="311658"/>
            </a:xfrm>
            <a:custGeom>
              <a:avLst/>
              <a:gdLst/>
              <a:ahLst/>
              <a:cxnLst/>
              <a:rect l="l" t="t" r="r" b="b"/>
              <a:pathLst>
                <a:path w="527939" h="311658">
                  <a:moveTo>
                    <a:pt x="527939" y="0"/>
                  </a:moveTo>
                  <a:lnTo>
                    <a:pt x="263906" y="311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6100445" y="8799414"/>
            <a:ext cx="4289984" cy="117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Conclusion</a:t>
            </a:r>
            <a:endParaRPr lang="en-US" sz="720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48" name="Freeform 48"/>
          <p:cNvSpPr/>
          <p:nvPr/>
        </p:nvSpPr>
        <p:spPr>
          <a:xfrm>
            <a:off x="9675035" y="6362386"/>
            <a:ext cx="579749" cy="578025"/>
          </a:xfrm>
          <a:custGeom>
            <a:avLst/>
            <a:gdLst/>
            <a:ahLst/>
            <a:cxnLst/>
            <a:rect l="l" t="t" r="r" b="b"/>
            <a:pathLst>
              <a:path w="579749" h="578025">
                <a:moveTo>
                  <a:pt x="0" y="0"/>
                </a:moveTo>
                <a:lnTo>
                  <a:pt x="579749" y="0"/>
                </a:lnTo>
                <a:lnTo>
                  <a:pt x="579749" y="578025"/>
                </a:lnTo>
                <a:lnTo>
                  <a:pt x="0" y="5780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t="-148" b="-149"/>
            </a:stretch>
          </a:blipFill>
        </p:spPr>
      </p:sp>
      <p:grpSp>
        <p:nvGrpSpPr>
          <p:cNvPr id="52" name="Group 52"/>
          <p:cNvGrpSpPr/>
          <p:nvPr/>
        </p:nvGrpSpPr>
        <p:grpSpPr>
          <a:xfrm>
            <a:off x="17286399" y="548383"/>
            <a:ext cx="700002" cy="349996"/>
            <a:chOff x="0" y="0"/>
            <a:chExt cx="933336" cy="46666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19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55" name="Freeform 43"/>
          <p:cNvSpPr/>
          <p:nvPr/>
        </p:nvSpPr>
        <p:spPr>
          <a:xfrm>
            <a:off x="8047127" y="843337"/>
            <a:ext cx="245936" cy="245936"/>
          </a:xfrm>
          <a:custGeom>
            <a:avLst/>
            <a:gdLst/>
            <a:ahLst/>
            <a:cxnLst/>
            <a:rect l="l" t="t" r="r" b="b"/>
            <a:pathLst>
              <a:path w="245936" h="245936">
                <a:moveTo>
                  <a:pt x="0" y="0"/>
                </a:moveTo>
                <a:lnTo>
                  <a:pt x="245935" y="0"/>
                </a:lnTo>
                <a:lnTo>
                  <a:pt x="245935" y="245935"/>
                </a:lnTo>
                <a:lnTo>
                  <a:pt x="0" y="24593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56" name="Group 44"/>
          <p:cNvGrpSpPr/>
          <p:nvPr/>
        </p:nvGrpSpPr>
        <p:grpSpPr>
          <a:xfrm>
            <a:off x="7269506" y="1392758"/>
            <a:ext cx="844296" cy="57140"/>
            <a:chOff x="0" y="0"/>
            <a:chExt cx="1125728" cy="76187"/>
          </a:xfrm>
        </p:grpSpPr>
        <p:sp>
          <p:nvSpPr>
            <p:cNvPr id="57" name="Freeform 45"/>
            <p:cNvSpPr/>
            <p:nvPr/>
          </p:nvSpPr>
          <p:spPr>
            <a:xfrm>
              <a:off x="-9" y="-9"/>
              <a:ext cx="1125755" cy="76228"/>
            </a:xfrm>
            <a:custGeom>
              <a:avLst/>
              <a:gdLst/>
              <a:ahLst/>
              <a:cxnLst/>
              <a:rect l="l" t="t" r="r" b="b"/>
              <a:pathLst>
                <a:path w="1125755" h="76228">
                  <a:moveTo>
                    <a:pt x="13344" y="9"/>
                  </a:moveTo>
                  <a:lnTo>
                    <a:pt x="1113672" y="50809"/>
                  </a:lnTo>
                  <a:cubicBezTo>
                    <a:pt x="1120657" y="51190"/>
                    <a:pt x="1126118" y="57032"/>
                    <a:pt x="1125737" y="64144"/>
                  </a:cubicBezTo>
                  <a:cubicBezTo>
                    <a:pt x="1125356" y="71256"/>
                    <a:pt x="1119514" y="76590"/>
                    <a:pt x="1112402" y="76209"/>
                  </a:cubicBezTo>
                  <a:lnTo>
                    <a:pt x="12074" y="25409"/>
                  </a:lnTo>
                  <a:cubicBezTo>
                    <a:pt x="5089" y="25028"/>
                    <a:pt x="-245" y="19186"/>
                    <a:pt x="9" y="12074"/>
                  </a:cubicBezTo>
                  <a:cubicBezTo>
                    <a:pt x="263" y="4962"/>
                    <a:pt x="6232" y="-245"/>
                    <a:pt x="13344" y="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8" name="Group 46"/>
          <p:cNvGrpSpPr/>
          <p:nvPr/>
        </p:nvGrpSpPr>
        <p:grpSpPr>
          <a:xfrm>
            <a:off x="5698767" y="298440"/>
            <a:ext cx="1581531" cy="1581531"/>
            <a:chOff x="0" y="0"/>
            <a:chExt cx="2108708" cy="2108708"/>
          </a:xfrm>
        </p:grpSpPr>
        <p:sp>
          <p:nvSpPr>
            <p:cNvPr id="59" name="Freeform 47"/>
            <p:cNvSpPr/>
            <p:nvPr/>
          </p:nvSpPr>
          <p:spPr>
            <a:xfrm>
              <a:off x="0" y="0"/>
              <a:ext cx="2108708" cy="2108708"/>
            </a:xfrm>
            <a:custGeom>
              <a:avLst/>
              <a:gdLst/>
              <a:ahLst/>
              <a:cxnLst/>
              <a:rect l="l" t="t" r="r" b="b"/>
              <a:pathLst>
                <a:path w="2108708" h="2108708">
                  <a:moveTo>
                    <a:pt x="0" y="0"/>
                  </a:moveTo>
                  <a:lnTo>
                    <a:pt x="2108708" y="0"/>
                  </a:lnTo>
                  <a:lnTo>
                    <a:pt x="2108708" y="2108708"/>
                  </a:lnTo>
                  <a:lnTo>
                    <a:pt x="0" y="2108708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sp>
        <p:nvSpPr>
          <p:cNvPr id="60" name="Freeform 50"/>
          <p:cNvSpPr/>
          <p:nvPr/>
        </p:nvSpPr>
        <p:spPr>
          <a:xfrm>
            <a:off x="6164939" y="1068698"/>
            <a:ext cx="649205" cy="648719"/>
          </a:xfrm>
          <a:custGeom>
            <a:avLst/>
            <a:gdLst/>
            <a:ahLst/>
            <a:cxnLst/>
            <a:rect l="l" t="t" r="r" b="b"/>
            <a:pathLst>
              <a:path w="649205" h="648719">
                <a:moveTo>
                  <a:pt x="0" y="0"/>
                </a:moveTo>
                <a:lnTo>
                  <a:pt x="649205" y="0"/>
                </a:lnTo>
                <a:lnTo>
                  <a:pt x="649205" y="648720"/>
                </a:lnTo>
                <a:lnTo>
                  <a:pt x="0" y="64872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t="-38" b="-36"/>
            </a:stretch>
          </a:blipFill>
        </p:spPr>
      </p:sp>
      <p:grpSp>
        <p:nvGrpSpPr>
          <p:cNvPr id="61" name="Group 51"/>
          <p:cNvGrpSpPr/>
          <p:nvPr/>
        </p:nvGrpSpPr>
        <p:grpSpPr>
          <a:xfrm>
            <a:off x="5698767" y="1754708"/>
            <a:ext cx="1581531" cy="130302"/>
            <a:chOff x="0" y="0"/>
            <a:chExt cx="2108708" cy="173736"/>
          </a:xfrm>
        </p:grpSpPr>
        <p:sp>
          <p:nvSpPr>
            <p:cNvPr id="62" name="Freeform 52"/>
            <p:cNvSpPr/>
            <p:nvPr/>
          </p:nvSpPr>
          <p:spPr>
            <a:xfrm>
              <a:off x="0" y="0"/>
              <a:ext cx="2108708" cy="173736"/>
            </a:xfrm>
            <a:custGeom>
              <a:avLst/>
              <a:gdLst/>
              <a:ahLst/>
              <a:cxnLst/>
              <a:rect l="l" t="t" r="r" b="b"/>
              <a:pathLst>
                <a:path w="2108708" h="173736">
                  <a:moveTo>
                    <a:pt x="0" y="0"/>
                  </a:moveTo>
                  <a:lnTo>
                    <a:pt x="2108708" y="0"/>
                  </a:lnTo>
                  <a:lnTo>
                    <a:pt x="2108708" y="173736"/>
                  </a:lnTo>
                  <a:lnTo>
                    <a:pt x="0" y="173736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grpSp>
        <p:nvGrpSpPr>
          <p:cNvPr id="63" name="Group 53"/>
          <p:cNvGrpSpPr/>
          <p:nvPr/>
        </p:nvGrpSpPr>
        <p:grpSpPr>
          <a:xfrm>
            <a:off x="6146686" y="686241"/>
            <a:ext cx="755742" cy="1133618"/>
            <a:chOff x="0" y="0"/>
            <a:chExt cx="1007656" cy="1511490"/>
          </a:xfrm>
        </p:grpSpPr>
        <p:sp>
          <p:nvSpPr>
            <p:cNvPr id="64" name="Freeform 54"/>
            <p:cNvSpPr/>
            <p:nvPr/>
          </p:nvSpPr>
          <p:spPr>
            <a:xfrm>
              <a:off x="0" y="0"/>
              <a:ext cx="1007618" cy="1511427"/>
            </a:xfrm>
            <a:custGeom>
              <a:avLst/>
              <a:gdLst/>
              <a:ahLst/>
              <a:cxnLst/>
              <a:rect l="l" t="t" r="r" b="b"/>
              <a:pathLst>
                <a:path w="1007618" h="1511427">
                  <a:moveTo>
                    <a:pt x="0" y="0"/>
                  </a:moveTo>
                  <a:lnTo>
                    <a:pt x="1007618" y="0"/>
                  </a:lnTo>
                  <a:lnTo>
                    <a:pt x="1007618" y="1511427"/>
                  </a:lnTo>
                  <a:lnTo>
                    <a:pt x="0" y="1511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3" b="-4"/>
              </a:stretch>
            </a:blipFill>
          </p:spPr>
        </p:sp>
      </p:grpSp>
      <p:sp>
        <p:nvSpPr>
          <p:cNvPr id="65" name="TextBox 59"/>
          <p:cNvSpPr txBox="1"/>
          <p:nvPr/>
        </p:nvSpPr>
        <p:spPr>
          <a:xfrm>
            <a:off x="1802789" y="1402077"/>
            <a:ext cx="3740925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MongoDB / SQL</a:t>
            </a:r>
            <a:endParaRPr lang="en-US" sz="21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r">
              <a:lnSpc>
                <a:spcPts val="2520"/>
              </a:lnSpc>
            </a:pPr>
            <a:endParaRPr lang="en-US" sz="21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07928" y="198831"/>
            <a:ext cx="5065221" cy="1195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Connexion</a:t>
            </a:r>
            <a:r>
              <a:rPr lang="en-US" sz="360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à la Base</a:t>
            </a:r>
            <a:r>
              <a:rPr lang="en-US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</a:t>
            </a:r>
            <a:r>
              <a:rPr lang="en-US" sz="360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de  </a:t>
            </a:r>
            <a:r>
              <a:rPr lang="en-US" sz="360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Données</a:t>
            </a:r>
            <a:endParaRPr lang="en-US" sz="3600" b="1" dirty="0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51144" y="7150465"/>
            <a:ext cx="1493025" cy="21412"/>
            <a:chOff x="0" y="0"/>
            <a:chExt cx="1990700" cy="285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0725" cy="28575"/>
            </a:xfrm>
            <a:custGeom>
              <a:avLst/>
              <a:gdLst/>
              <a:ahLst/>
              <a:cxnLst/>
              <a:rect l="l" t="t" r="r" b="b"/>
              <a:pathLst>
                <a:path w="1990725" h="28575">
                  <a:moveTo>
                    <a:pt x="6350" y="0"/>
                  </a:moveTo>
                  <a:lnTo>
                    <a:pt x="1984375" y="15875"/>
                  </a:lnTo>
                  <a:cubicBezTo>
                    <a:pt x="1987931" y="15875"/>
                    <a:pt x="1990725" y="18796"/>
                    <a:pt x="1990725" y="22225"/>
                  </a:cubicBezTo>
                  <a:cubicBezTo>
                    <a:pt x="1990725" y="25654"/>
                    <a:pt x="1987804" y="28575"/>
                    <a:pt x="1984375" y="28575"/>
                  </a:cubicBez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634653" y="7150465"/>
            <a:ext cx="33347" cy="690562"/>
            <a:chOff x="0" y="0"/>
            <a:chExt cx="44463" cy="920750"/>
          </a:xfrm>
        </p:grpSpPr>
        <p:sp>
          <p:nvSpPr>
            <p:cNvPr id="8" name="Freeform 8"/>
            <p:cNvSpPr/>
            <p:nvPr/>
          </p:nvSpPr>
          <p:spPr>
            <a:xfrm>
              <a:off x="-4" y="-4"/>
              <a:ext cx="44458" cy="920758"/>
            </a:xfrm>
            <a:custGeom>
              <a:avLst/>
              <a:gdLst/>
              <a:ahLst/>
              <a:cxnLst/>
              <a:rect l="l" t="t" r="r" b="b"/>
              <a:pathLst>
                <a:path w="44458" h="920758">
                  <a:moveTo>
                    <a:pt x="12704" y="6100"/>
                  </a:moveTo>
                  <a:lnTo>
                    <a:pt x="44454" y="914150"/>
                  </a:lnTo>
                  <a:cubicBezTo>
                    <a:pt x="44581" y="917706"/>
                    <a:pt x="41787" y="920627"/>
                    <a:pt x="38358" y="920754"/>
                  </a:cubicBezTo>
                  <a:cubicBezTo>
                    <a:pt x="34929" y="920881"/>
                    <a:pt x="31881" y="918087"/>
                    <a:pt x="31754" y="914658"/>
                  </a:cubicBezTo>
                  <a:lnTo>
                    <a:pt x="4" y="6608"/>
                  </a:lnTo>
                  <a:cubicBezTo>
                    <a:pt x="-123" y="3052"/>
                    <a:pt x="2671" y="131"/>
                    <a:pt x="6100" y="4"/>
                  </a:cubicBezTo>
                  <a:cubicBezTo>
                    <a:pt x="9529" y="-123"/>
                    <a:pt x="12577" y="2671"/>
                    <a:pt x="12704" y="610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4811354" y="3180388"/>
            <a:ext cx="8689105" cy="1499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60"/>
              </a:lnSpc>
            </a:pPr>
            <a:r>
              <a:rPr lang="en-US" sz="9885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Introduction</a:t>
            </a:r>
            <a:endParaRPr lang="en-US" sz="9885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9146381" y="4674965"/>
            <a:ext cx="14288" cy="2484939"/>
            <a:chOff x="0" y="0"/>
            <a:chExt cx="19050" cy="33132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050" cy="3313303"/>
            </a:xfrm>
            <a:custGeom>
              <a:avLst/>
              <a:gdLst/>
              <a:ahLst/>
              <a:cxnLst/>
              <a:rect l="l" t="t" r="r" b="b"/>
              <a:pathLst>
                <a:path w="19050" h="3313303">
                  <a:moveTo>
                    <a:pt x="19050" y="6350"/>
                  </a:moveTo>
                  <a:lnTo>
                    <a:pt x="12700" y="3306953"/>
                  </a:lnTo>
                  <a:cubicBezTo>
                    <a:pt x="12700" y="3310509"/>
                    <a:pt x="9906" y="3313303"/>
                    <a:pt x="6350" y="3313303"/>
                  </a:cubicBezTo>
                  <a:cubicBezTo>
                    <a:pt x="2794" y="3313303"/>
                    <a:pt x="0" y="3310509"/>
                    <a:pt x="0" y="3306953"/>
                  </a:cubicBezTo>
                  <a:lnTo>
                    <a:pt x="6350" y="6350"/>
                  </a:lnTo>
                  <a:cubicBezTo>
                    <a:pt x="6350" y="2794"/>
                    <a:pt x="9144" y="0"/>
                    <a:pt x="12700" y="0"/>
                  </a:cubicBezTo>
                  <a:cubicBezTo>
                    <a:pt x="16256" y="0"/>
                    <a:pt x="19050" y="2794"/>
                    <a:pt x="19050" y="635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15" name="Group 15"/>
          <p:cNvGrpSpPr/>
          <p:nvPr/>
        </p:nvGrpSpPr>
        <p:grpSpPr>
          <a:xfrm rot="-5400000">
            <a:off x="6439310" y="8660844"/>
            <a:ext cx="1128712" cy="2123608"/>
            <a:chOff x="0" y="0"/>
            <a:chExt cx="1504950" cy="28314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04950" cy="2831465"/>
            </a:xfrm>
            <a:custGeom>
              <a:avLst/>
              <a:gdLst/>
              <a:ahLst/>
              <a:cxnLst/>
              <a:rect l="l" t="t" r="r" b="b"/>
              <a:pathLst>
                <a:path w="1504950" h="2831465">
                  <a:moveTo>
                    <a:pt x="0" y="0"/>
                  </a:moveTo>
                  <a:lnTo>
                    <a:pt x="1504950" y="0"/>
                  </a:lnTo>
                  <a:lnTo>
                    <a:pt x="1504950" y="2831465"/>
                  </a:lnTo>
                  <a:lnTo>
                    <a:pt x="0" y="2831465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7" name="Group 17"/>
          <p:cNvGrpSpPr/>
          <p:nvPr/>
        </p:nvGrpSpPr>
        <p:grpSpPr>
          <a:xfrm rot="-5400000">
            <a:off x="8496490" y="8727262"/>
            <a:ext cx="1128712" cy="1990754"/>
            <a:chOff x="0" y="0"/>
            <a:chExt cx="1504950" cy="26543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04950" cy="2654300"/>
            </a:xfrm>
            <a:custGeom>
              <a:avLst/>
              <a:gdLst/>
              <a:ahLst/>
              <a:cxnLst/>
              <a:rect l="l" t="t" r="r" b="b"/>
              <a:pathLst>
                <a:path w="1504950" h="2654300">
                  <a:moveTo>
                    <a:pt x="0" y="0"/>
                  </a:moveTo>
                  <a:lnTo>
                    <a:pt x="1504950" y="0"/>
                  </a:lnTo>
                  <a:lnTo>
                    <a:pt x="1504950" y="2654300"/>
                  </a:lnTo>
                  <a:lnTo>
                    <a:pt x="0" y="26543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9" name="Group 19"/>
          <p:cNvGrpSpPr/>
          <p:nvPr/>
        </p:nvGrpSpPr>
        <p:grpSpPr>
          <a:xfrm rot="-5400000">
            <a:off x="12606833" y="8649519"/>
            <a:ext cx="1128712" cy="2146230"/>
            <a:chOff x="0" y="0"/>
            <a:chExt cx="1504950" cy="2861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04950" cy="2861691"/>
            </a:xfrm>
            <a:custGeom>
              <a:avLst/>
              <a:gdLst/>
              <a:ahLst/>
              <a:cxnLst/>
              <a:rect l="l" t="t" r="r" b="b"/>
              <a:pathLst>
                <a:path w="1504950" h="2861691">
                  <a:moveTo>
                    <a:pt x="0" y="0"/>
                  </a:moveTo>
                  <a:lnTo>
                    <a:pt x="1504950" y="0"/>
                  </a:lnTo>
                  <a:lnTo>
                    <a:pt x="1504950" y="2861691"/>
                  </a:lnTo>
                  <a:lnTo>
                    <a:pt x="0" y="2861691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21" name="Group 21"/>
          <p:cNvGrpSpPr/>
          <p:nvPr/>
        </p:nvGrpSpPr>
        <p:grpSpPr>
          <a:xfrm rot="-5400000">
            <a:off x="16712727" y="8711727"/>
            <a:ext cx="1128712" cy="2021853"/>
            <a:chOff x="0" y="0"/>
            <a:chExt cx="1504950" cy="26958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3" name="Group 23"/>
          <p:cNvGrpSpPr/>
          <p:nvPr/>
        </p:nvGrpSpPr>
        <p:grpSpPr>
          <a:xfrm rot="-5400000">
            <a:off x="406556" y="8738616"/>
            <a:ext cx="1128712" cy="1968094"/>
            <a:chOff x="0" y="0"/>
            <a:chExt cx="1504950" cy="26241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4950" cy="2624074"/>
            </a:xfrm>
            <a:custGeom>
              <a:avLst/>
              <a:gdLst/>
              <a:ahLst/>
              <a:cxnLst/>
              <a:rect l="l" t="t" r="r" b="b"/>
              <a:pathLst>
                <a:path w="1504950" h="2624074">
                  <a:moveTo>
                    <a:pt x="0" y="0"/>
                  </a:moveTo>
                  <a:lnTo>
                    <a:pt x="1504950" y="0"/>
                  </a:lnTo>
                  <a:lnTo>
                    <a:pt x="1504950" y="2624074"/>
                  </a:lnTo>
                  <a:lnTo>
                    <a:pt x="0" y="2624074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25" name="Group 25"/>
          <p:cNvGrpSpPr/>
          <p:nvPr/>
        </p:nvGrpSpPr>
        <p:grpSpPr>
          <a:xfrm rot="-5400000">
            <a:off x="14690865" y="8711717"/>
            <a:ext cx="1128732" cy="2021853"/>
            <a:chOff x="0" y="0"/>
            <a:chExt cx="1504975" cy="269580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7" name="Group 27"/>
          <p:cNvGrpSpPr/>
          <p:nvPr/>
        </p:nvGrpSpPr>
        <p:grpSpPr>
          <a:xfrm rot="-5400000">
            <a:off x="2364877" y="8748351"/>
            <a:ext cx="1128712" cy="1948558"/>
            <a:chOff x="0" y="0"/>
            <a:chExt cx="1504950" cy="259807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04950" cy="2598039"/>
            </a:xfrm>
            <a:custGeom>
              <a:avLst/>
              <a:gdLst/>
              <a:ahLst/>
              <a:cxnLst/>
              <a:rect l="l" t="t" r="r" b="b"/>
              <a:pathLst>
                <a:path w="1504950" h="2598039">
                  <a:moveTo>
                    <a:pt x="0" y="0"/>
                  </a:moveTo>
                  <a:lnTo>
                    <a:pt x="1504950" y="0"/>
                  </a:lnTo>
                  <a:lnTo>
                    <a:pt x="1504950" y="2598039"/>
                  </a:lnTo>
                  <a:lnTo>
                    <a:pt x="0" y="259803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9" name="Group 29"/>
          <p:cNvGrpSpPr/>
          <p:nvPr/>
        </p:nvGrpSpPr>
        <p:grpSpPr>
          <a:xfrm rot="-5400000">
            <a:off x="4358335" y="8703450"/>
            <a:ext cx="1128712" cy="2038350"/>
            <a:chOff x="0" y="0"/>
            <a:chExt cx="1504950" cy="2717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04950" cy="2717800"/>
            </a:xfrm>
            <a:custGeom>
              <a:avLst/>
              <a:gdLst/>
              <a:ahLst/>
              <a:cxnLst/>
              <a:rect l="l" t="t" r="r" b="b"/>
              <a:pathLst>
                <a:path w="1504950" h="2717800">
                  <a:moveTo>
                    <a:pt x="0" y="0"/>
                  </a:moveTo>
                  <a:lnTo>
                    <a:pt x="1504950" y="0"/>
                  </a:lnTo>
                  <a:lnTo>
                    <a:pt x="1504950" y="2717800"/>
                  </a:lnTo>
                  <a:lnTo>
                    <a:pt x="0" y="27178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31" name="Freeform 31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32" name="Group 32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34" name="Group 34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6" name="Group 36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38" name="Group 38"/>
          <p:cNvGrpSpPr/>
          <p:nvPr/>
        </p:nvGrpSpPr>
        <p:grpSpPr>
          <a:xfrm rot="-5400000">
            <a:off x="16199644" y="8198644"/>
            <a:ext cx="1128712" cy="3048000"/>
            <a:chOff x="0" y="0"/>
            <a:chExt cx="1504950" cy="4064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40" name="Group 40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42" name="Freeform 42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45" name="Group 45"/>
          <p:cNvGrpSpPr/>
          <p:nvPr/>
        </p:nvGrpSpPr>
        <p:grpSpPr>
          <a:xfrm rot="-5400000">
            <a:off x="9919011" y="7631420"/>
            <a:ext cx="2450735" cy="2860415"/>
            <a:chOff x="0" y="0"/>
            <a:chExt cx="3267646" cy="381388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267583" cy="3813937"/>
            </a:xfrm>
            <a:custGeom>
              <a:avLst/>
              <a:gdLst/>
              <a:ahLst/>
              <a:cxnLst/>
              <a:rect l="l" t="t" r="r" b="b"/>
              <a:pathLst>
                <a:path w="3267583" h="3813937">
                  <a:moveTo>
                    <a:pt x="0" y="0"/>
                  </a:moveTo>
                  <a:lnTo>
                    <a:pt x="3267583" y="0"/>
                  </a:lnTo>
                  <a:lnTo>
                    <a:pt x="3267583" y="3813937"/>
                  </a:lnTo>
                  <a:lnTo>
                    <a:pt x="0" y="3813937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7286608" y="491490"/>
            <a:ext cx="699773" cy="470535"/>
            <a:chOff x="0" y="0"/>
            <a:chExt cx="933031" cy="6273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33027" cy="627380"/>
            </a:xfrm>
            <a:custGeom>
              <a:avLst/>
              <a:gdLst/>
              <a:ahLst/>
              <a:cxnLst/>
              <a:rect l="l" t="t" r="r" b="b"/>
              <a:pathLst>
                <a:path w="933027" h="627380">
                  <a:moveTo>
                    <a:pt x="0" y="0"/>
                  </a:moveTo>
                  <a:lnTo>
                    <a:pt x="933027" y="0"/>
                  </a:lnTo>
                  <a:lnTo>
                    <a:pt x="933027" y="627380"/>
                  </a:lnTo>
                  <a:lnTo>
                    <a:pt x="0" y="6273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6272" r="-3627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933031" cy="646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5/45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846965" y="5560962"/>
            <a:ext cx="7441025" cy="4726019"/>
            <a:chOff x="0" y="0"/>
            <a:chExt cx="9921367" cy="63013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21367" cy="6301359"/>
            </a:xfrm>
            <a:custGeom>
              <a:avLst/>
              <a:gdLst/>
              <a:ahLst/>
              <a:cxnLst/>
              <a:rect l="l" t="t" r="r" b="b"/>
              <a:pathLst>
                <a:path w="9921367" h="6301359">
                  <a:moveTo>
                    <a:pt x="0" y="0"/>
                  </a:moveTo>
                  <a:lnTo>
                    <a:pt x="9921367" y="0"/>
                  </a:lnTo>
                  <a:lnTo>
                    <a:pt x="9921367" y="6301359"/>
                  </a:lnTo>
                  <a:lnTo>
                    <a:pt x="0" y="6301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456" r="-645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19541" y="8294989"/>
            <a:ext cx="658606" cy="578749"/>
            <a:chOff x="0" y="0"/>
            <a:chExt cx="878142" cy="771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78078" cy="771652"/>
            </a:xfrm>
            <a:custGeom>
              <a:avLst/>
              <a:gdLst/>
              <a:ahLst/>
              <a:cxnLst/>
              <a:rect l="l" t="t" r="r" b="b"/>
              <a:pathLst>
                <a:path w="878078" h="771652">
                  <a:moveTo>
                    <a:pt x="0" y="0"/>
                  </a:moveTo>
                  <a:lnTo>
                    <a:pt x="878078" y="0"/>
                  </a:lnTo>
                  <a:lnTo>
                    <a:pt x="878078" y="771652"/>
                  </a:lnTo>
                  <a:lnTo>
                    <a:pt x="0" y="77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82" r="-7" b="-8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7402058" y="816102"/>
            <a:ext cx="3483864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Backend</a:t>
            </a:r>
            <a:endParaRPr lang="en-US" sz="72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57260" y="2315413"/>
            <a:ext cx="16109166" cy="3451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25"/>
              </a:lnSpc>
            </a:pPr>
            <a:r>
              <a:rPr lang="en-US" sz="346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Le backend est responsable de traiter les requêtes, gérer les données et envoyer des réponses.</a:t>
            </a:r>
            <a:endParaRPr lang="en-US" sz="346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6225"/>
              </a:lnSpc>
            </a:pPr>
            <a:r>
              <a:rPr lang="en-US" sz="346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Le fonctionnement du web est basé sur un modèle appelé client-serveur.</a:t>
            </a:r>
            <a:endParaRPr lang="en-US" sz="346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6225"/>
              </a:lnSpc>
            </a:pPr>
            <a:endParaRPr lang="en-US" sz="346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21132" y="5652297"/>
            <a:ext cx="10514962" cy="2519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0080" lvl="2" indent="-213360" algn="l">
              <a:lnSpc>
                <a:spcPts val="3920"/>
              </a:lnSpc>
              <a:buFont typeface="Arial" panose="020B0604020202020204"/>
              <a:buChar char="⚬"/>
            </a:pPr>
            <a:r>
              <a:rPr lang="en-US" sz="280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Le </a:t>
            </a:r>
            <a:r>
              <a:rPr lang="en-US" sz="2800" b="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</a:t>
            </a:r>
            <a:r>
              <a:rPr lang="en-US" sz="280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, c’est le navigateur de l’utilisateur, qui envoie une requête.</a:t>
            </a:r>
            <a:endParaRPr lang="en-US" sz="280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640080" lvl="2" indent="-213360" algn="l">
              <a:lnSpc>
                <a:spcPts val="3920"/>
              </a:lnSpc>
              <a:buFont typeface="Arial" panose="020B0604020202020204"/>
              <a:buChar char="⚬"/>
            </a:pPr>
            <a:r>
              <a:rPr lang="en-US" sz="280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Le </a:t>
            </a:r>
            <a:r>
              <a:rPr lang="en-US" sz="2800" b="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serveur</a:t>
            </a:r>
            <a:r>
              <a:rPr lang="en-US" sz="280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, reçoit cette requête, la traite, puis renvoie une réponse.</a:t>
            </a:r>
            <a:endParaRPr lang="en-US" sz="280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640080" lvl="2" indent="-213360" algn="l">
              <a:lnSpc>
                <a:spcPts val="3920"/>
              </a:lnSpc>
            </a:pPr>
            <a:endParaRPr lang="en-US" sz="280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36693" y="8226676"/>
            <a:ext cx="3355086" cy="6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Java != JavaScript</a:t>
            </a:r>
            <a:endParaRPr lang="en-US" sz="340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6553200" y="6356347"/>
            <a:ext cx="2133600" cy="365122"/>
            <a:chOff x="0" y="0"/>
            <a:chExt cx="2844800" cy="4868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6</a:t>
              </a:r>
              <a:endParaRPr lang="en-US" sz="120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297190" y="571243"/>
            <a:ext cx="700002" cy="349996"/>
            <a:chOff x="0" y="0"/>
            <a:chExt cx="933336" cy="46666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6/45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0500"/>
            <a:ext cx="18288000" cy="6228207"/>
            <a:chOff x="0" y="0"/>
            <a:chExt cx="24384000" cy="83042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04276"/>
            </a:xfrm>
            <a:custGeom>
              <a:avLst/>
              <a:gdLst/>
              <a:ahLst/>
              <a:cxnLst/>
              <a:rect l="l" t="t" r="r" b="b"/>
              <a:pathLst>
                <a:path w="24384000" h="8304276">
                  <a:moveTo>
                    <a:pt x="0" y="0"/>
                  </a:moveTo>
                  <a:lnTo>
                    <a:pt x="24384000" y="0"/>
                  </a:lnTo>
                  <a:lnTo>
                    <a:pt x="24384000" y="8304276"/>
                  </a:lnTo>
                  <a:lnTo>
                    <a:pt x="0" y="8304276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4" b="-24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375511" y="8622468"/>
            <a:ext cx="6021391" cy="1664513"/>
            <a:chOff x="0" y="0"/>
            <a:chExt cx="8028521" cy="22193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28559" cy="2219325"/>
            </a:xfrm>
            <a:custGeom>
              <a:avLst/>
              <a:gdLst/>
              <a:ahLst/>
              <a:cxnLst/>
              <a:rect l="l" t="t" r="r" b="b"/>
              <a:pathLst>
                <a:path w="8028559" h="2219325">
                  <a:moveTo>
                    <a:pt x="0" y="0"/>
                  </a:moveTo>
                  <a:lnTo>
                    <a:pt x="8028559" y="0"/>
                  </a:lnTo>
                  <a:lnTo>
                    <a:pt x="8028559" y="2219325"/>
                  </a:lnTo>
                  <a:lnTo>
                    <a:pt x="0" y="2219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767" b="-1769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970502" y="1919459"/>
            <a:ext cx="14450654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Qu’est ce que </a:t>
            </a:r>
            <a:endParaRPr lang="en-US" sz="900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                        </a:t>
            </a:r>
            <a:r>
              <a:rPr lang="en-US" sz="9000" b="1">
                <a:solidFill>
                  <a:srgbClr val="00BF63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EXPRESS.JS ?</a:t>
            </a:r>
            <a:endParaRPr lang="en-US" sz="9000" b="1">
              <a:solidFill>
                <a:srgbClr val="00BF63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7286399" y="495043"/>
            <a:ext cx="700002" cy="349996"/>
            <a:chOff x="0" y="0"/>
            <a:chExt cx="933336" cy="4666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7/45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047961" y="2340416"/>
            <a:ext cx="8841238" cy="43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870">
                <a:solidFill>
                  <a:srgbClr val="2980B9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framework minimaliste et non opinionated</a:t>
            </a:r>
            <a:endParaRPr lang="en-US" sz="2870">
              <a:solidFill>
                <a:srgbClr val="2980B9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47961" y="996077"/>
            <a:ext cx="5177533" cy="245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EXPRESS.JS</a:t>
            </a:r>
            <a:endParaRPr lang="en-US" sz="810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algn="l">
              <a:lnSpc>
                <a:spcPts val="9720"/>
              </a:lnSpc>
            </a:pPr>
            <a:endParaRPr lang="en-US" sz="810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47961" y="3005138"/>
            <a:ext cx="12560589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3105">
                <a:solidFill>
                  <a:srgbClr val="00BF63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Express.js</a:t>
            </a:r>
            <a:r>
              <a:rPr lang="en-US" sz="3105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est un framework pour Node.js qui permet de créer facilement des serveurs web et des APIs, en simplifiant la gestion des requêtes HTTP et l’organisation du code.</a:t>
            </a:r>
            <a:endParaRPr lang="en-US" sz="3105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algn="l">
              <a:lnSpc>
                <a:spcPts val="3730"/>
              </a:lnSpc>
            </a:pPr>
            <a:r>
              <a:rPr lang="en-US" sz="3105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Il fournit un ensemble de fonctionnalités pour gérer :</a:t>
            </a:r>
            <a:endParaRPr lang="en-US" sz="3105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9930" lvl="2" indent="-236855" algn="l">
              <a:lnSpc>
                <a:spcPts val="3730"/>
              </a:lnSpc>
              <a:buFont typeface="Arial" panose="020B0604020202020204"/>
              <a:buChar char="⚬"/>
            </a:pPr>
            <a:r>
              <a:rPr lang="en-US" sz="3105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le routage des requêtes HTTP</a:t>
            </a:r>
            <a:endParaRPr lang="en-US" sz="3105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9930" lvl="2" indent="-236855" algn="l">
              <a:lnSpc>
                <a:spcPts val="3730"/>
              </a:lnSpc>
              <a:buFont typeface="Arial" panose="020B0604020202020204"/>
              <a:buChar char="⚬"/>
            </a:pPr>
            <a:r>
              <a:rPr lang="en-US" sz="3105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les middlewares</a:t>
            </a:r>
            <a:endParaRPr lang="en-US" sz="3105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9930" lvl="2" indent="-236855" algn="l">
              <a:lnSpc>
                <a:spcPts val="3730"/>
              </a:lnSpc>
              <a:buFont typeface="Arial" panose="020B0604020202020204"/>
              <a:buChar char="⚬"/>
            </a:pPr>
            <a:r>
              <a:rPr lang="en-US" sz="3105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la gestion des requêtes et des réponses</a:t>
            </a:r>
            <a:endParaRPr lang="en-US" sz="3105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9930" lvl="2" indent="-236855" algn="l">
              <a:lnSpc>
                <a:spcPts val="3730"/>
              </a:lnSpc>
              <a:buFont typeface="Arial" panose="020B0604020202020204"/>
              <a:buChar char="⚬"/>
            </a:pPr>
            <a:r>
              <a:rPr lang="en-US" sz="3105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ainsi que l’organisation du code côté serveur</a:t>
            </a:r>
            <a:endParaRPr lang="en-US" sz="3105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9930" lvl="2" indent="-236855" algn="l">
              <a:lnSpc>
                <a:spcPts val="4330"/>
              </a:lnSpc>
            </a:pPr>
            <a:endParaRPr lang="en-US" sz="3105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4130145" y="8321126"/>
            <a:ext cx="883730" cy="3048000"/>
            <a:chOff x="0" y="0"/>
            <a:chExt cx="1178306" cy="406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8306" cy="4064000"/>
            </a:xfrm>
            <a:custGeom>
              <a:avLst/>
              <a:gdLst/>
              <a:ahLst/>
              <a:cxnLst/>
              <a:rect l="l" t="t" r="r" b="b"/>
              <a:pathLst>
                <a:path w="1178306" h="4064000">
                  <a:moveTo>
                    <a:pt x="0" y="0"/>
                  </a:moveTo>
                  <a:lnTo>
                    <a:pt x="1178306" y="0"/>
                  </a:lnTo>
                  <a:lnTo>
                    <a:pt x="1178306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5" name="Group 15"/>
          <p:cNvGrpSpPr/>
          <p:nvPr/>
        </p:nvGrpSpPr>
        <p:grpSpPr>
          <a:xfrm rot="-5400000">
            <a:off x="6273165" y="7265918"/>
            <a:ext cx="2693670" cy="3048000"/>
            <a:chOff x="0" y="0"/>
            <a:chExt cx="3591560" cy="406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91560" cy="4064000"/>
            </a:xfrm>
            <a:custGeom>
              <a:avLst/>
              <a:gdLst/>
              <a:ahLst/>
              <a:cxnLst/>
              <a:rect l="l" t="t" r="r" b="b"/>
              <a:pathLst>
                <a:path w="3591560" h="4064000">
                  <a:moveTo>
                    <a:pt x="0" y="0"/>
                  </a:moveTo>
                  <a:lnTo>
                    <a:pt x="3591560" y="0"/>
                  </a:lnTo>
                  <a:lnTo>
                    <a:pt x="359156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7" name="Group 17"/>
          <p:cNvGrpSpPr/>
          <p:nvPr/>
        </p:nvGrpSpPr>
        <p:grpSpPr>
          <a:xfrm rot="-5400000">
            <a:off x="9907953" y="8002953"/>
            <a:ext cx="1520095" cy="3048000"/>
            <a:chOff x="0" y="0"/>
            <a:chExt cx="2026793" cy="406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26793" cy="4064000"/>
            </a:xfrm>
            <a:custGeom>
              <a:avLst/>
              <a:gdLst/>
              <a:ahLst/>
              <a:cxnLst/>
              <a:rect l="l" t="t" r="r" b="b"/>
              <a:pathLst>
                <a:path w="2026793" h="4064000">
                  <a:moveTo>
                    <a:pt x="0" y="0"/>
                  </a:moveTo>
                  <a:lnTo>
                    <a:pt x="2026793" y="0"/>
                  </a:lnTo>
                  <a:lnTo>
                    <a:pt x="2026793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19" name="Group 19"/>
          <p:cNvGrpSpPr/>
          <p:nvPr/>
        </p:nvGrpSpPr>
        <p:grpSpPr>
          <a:xfrm rot="-5400000">
            <a:off x="12659011" y="7706011"/>
            <a:ext cx="2113978" cy="3048000"/>
            <a:chOff x="0" y="0"/>
            <a:chExt cx="2818638" cy="406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18638" cy="4064000"/>
            </a:xfrm>
            <a:custGeom>
              <a:avLst/>
              <a:gdLst/>
              <a:ahLst/>
              <a:cxnLst/>
              <a:rect l="l" t="t" r="r" b="b"/>
              <a:pathLst>
                <a:path w="2818638" h="4064000">
                  <a:moveTo>
                    <a:pt x="0" y="0"/>
                  </a:moveTo>
                  <a:lnTo>
                    <a:pt x="2818638" y="0"/>
                  </a:lnTo>
                  <a:lnTo>
                    <a:pt x="2818638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21" name="Group 21"/>
          <p:cNvGrpSpPr/>
          <p:nvPr/>
        </p:nvGrpSpPr>
        <p:grpSpPr>
          <a:xfrm rot="-5400000">
            <a:off x="16272596" y="8271596"/>
            <a:ext cx="982790" cy="3048000"/>
            <a:chOff x="0" y="0"/>
            <a:chExt cx="1310386" cy="4064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10386" cy="4064000"/>
            </a:xfrm>
            <a:custGeom>
              <a:avLst/>
              <a:gdLst/>
              <a:ahLst/>
              <a:cxnLst/>
              <a:rect l="l" t="t" r="r" b="b"/>
              <a:pathLst>
                <a:path w="1310386" h="4064000">
                  <a:moveTo>
                    <a:pt x="0" y="0"/>
                  </a:moveTo>
                  <a:lnTo>
                    <a:pt x="1310386" y="0"/>
                  </a:lnTo>
                  <a:lnTo>
                    <a:pt x="1310386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3" name="Group 23"/>
          <p:cNvGrpSpPr/>
          <p:nvPr/>
        </p:nvGrpSpPr>
        <p:grpSpPr>
          <a:xfrm rot="-5400000">
            <a:off x="877072" y="8116052"/>
            <a:ext cx="1293876" cy="3048000"/>
            <a:chOff x="0" y="0"/>
            <a:chExt cx="1725168" cy="4064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25168" cy="4064000"/>
            </a:xfrm>
            <a:custGeom>
              <a:avLst/>
              <a:gdLst/>
              <a:ahLst/>
              <a:cxnLst/>
              <a:rect l="l" t="t" r="r" b="b"/>
              <a:pathLst>
                <a:path w="1725168" h="4064000">
                  <a:moveTo>
                    <a:pt x="0" y="0"/>
                  </a:moveTo>
                  <a:lnTo>
                    <a:pt x="1725168" y="0"/>
                  </a:lnTo>
                  <a:lnTo>
                    <a:pt x="1725168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365238" y="1865052"/>
            <a:ext cx="1157754" cy="1001392"/>
          </a:xfrm>
          <a:custGeom>
            <a:avLst/>
            <a:gdLst/>
            <a:ahLst/>
            <a:cxnLst/>
            <a:rect l="l" t="t" r="r" b="b"/>
            <a:pathLst>
              <a:path w="1157754" h="1001392">
                <a:moveTo>
                  <a:pt x="0" y="0"/>
                </a:moveTo>
                <a:lnTo>
                  <a:pt x="1157755" y="0"/>
                </a:lnTo>
                <a:lnTo>
                  <a:pt x="1157755" y="1001392"/>
                </a:lnTo>
                <a:lnTo>
                  <a:pt x="0" y="10013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26" b="-225"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963454" y="6849932"/>
            <a:ext cx="6636810" cy="33357"/>
            <a:chOff x="0" y="0"/>
            <a:chExt cx="8849081" cy="4447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849106" cy="44450"/>
            </a:xfrm>
            <a:custGeom>
              <a:avLst/>
              <a:gdLst/>
              <a:ahLst/>
              <a:cxnLst/>
              <a:rect l="l" t="t" r="r" b="b"/>
              <a:pathLst>
                <a:path w="8849106" h="44450">
                  <a:moveTo>
                    <a:pt x="6350" y="0"/>
                  </a:moveTo>
                  <a:lnTo>
                    <a:pt x="8842756" y="31750"/>
                  </a:lnTo>
                  <a:cubicBezTo>
                    <a:pt x="8846313" y="31750"/>
                    <a:pt x="8849106" y="34671"/>
                    <a:pt x="8849106" y="38100"/>
                  </a:cubicBezTo>
                  <a:cubicBezTo>
                    <a:pt x="8849106" y="41529"/>
                    <a:pt x="8846186" y="44450"/>
                    <a:pt x="8842756" y="44450"/>
                  </a:cubicBez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7590739" y="6873764"/>
            <a:ext cx="33357" cy="736197"/>
            <a:chOff x="0" y="0"/>
            <a:chExt cx="44475" cy="981596"/>
          </a:xfrm>
        </p:grpSpPr>
        <p:sp>
          <p:nvSpPr>
            <p:cNvPr id="30" name="Freeform 30"/>
            <p:cNvSpPr/>
            <p:nvPr/>
          </p:nvSpPr>
          <p:spPr>
            <a:xfrm>
              <a:off x="-4" y="-4"/>
              <a:ext cx="44458" cy="981591"/>
            </a:xfrm>
            <a:custGeom>
              <a:avLst/>
              <a:gdLst/>
              <a:ahLst/>
              <a:cxnLst/>
              <a:rect l="l" t="t" r="r" b="b"/>
              <a:pathLst>
                <a:path w="44458" h="981591">
                  <a:moveTo>
                    <a:pt x="12704" y="6100"/>
                  </a:moveTo>
                  <a:lnTo>
                    <a:pt x="44454" y="974983"/>
                  </a:lnTo>
                  <a:cubicBezTo>
                    <a:pt x="44581" y="978539"/>
                    <a:pt x="41787" y="981460"/>
                    <a:pt x="38358" y="981587"/>
                  </a:cubicBezTo>
                  <a:cubicBezTo>
                    <a:pt x="34929" y="981714"/>
                    <a:pt x="31881" y="978920"/>
                    <a:pt x="31754" y="975491"/>
                  </a:cubicBezTo>
                  <a:lnTo>
                    <a:pt x="4" y="6608"/>
                  </a:lnTo>
                  <a:cubicBezTo>
                    <a:pt x="-123" y="3052"/>
                    <a:pt x="2671" y="131"/>
                    <a:pt x="6100" y="4"/>
                  </a:cubicBezTo>
                  <a:cubicBezTo>
                    <a:pt x="9529" y="-123"/>
                    <a:pt x="12577" y="2671"/>
                    <a:pt x="12704" y="610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63454" y="1241812"/>
            <a:ext cx="33338" cy="5617645"/>
            <a:chOff x="0" y="0"/>
            <a:chExt cx="44450" cy="749019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4450" cy="7490206"/>
            </a:xfrm>
            <a:custGeom>
              <a:avLst/>
              <a:gdLst/>
              <a:ahLst/>
              <a:cxnLst/>
              <a:rect l="l" t="t" r="r" b="b"/>
              <a:pathLst>
                <a:path w="44450" h="7490206">
                  <a:moveTo>
                    <a:pt x="44450" y="6350"/>
                  </a:moveTo>
                  <a:lnTo>
                    <a:pt x="12700" y="7483856"/>
                  </a:lnTo>
                  <a:cubicBezTo>
                    <a:pt x="12700" y="7487413"/>
                    <a:pt x="9779" y="7490206"/>
                    <a:pt x="6350" y="7490206"/>
                  </a:cubicBezTo>
                  <a:cubicBezTo>
                    <a:pt x="2921" y="7490206"/>
                    <a:pt x="0" y="7487286"/>
                    <a:pt x="0" y="7483856"/>
                  </a:cubicBezTo>
                  <a:lnTo>
                    <a:pt x="31750" y="6350"/>
                  </a:lnTo>
                  <a:cubicBezTo>
                    <a:pt x="31750" y="2794"/>
                    <a:pt x="34671" y="0"/>
                    <a:pt x="38100" y="0"/>
                  </a:cubicBezTo>
                  <a:cubicBezTo>
                    <a:pt x="41529" y="0"/>
                    <a:pt x="44450" y="2921"/>
                    <a:pt x="44450" y="635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6553200" y="6356347"/>
            <a:ext cx="2133600" cy="365122"/>
            <a:chOff x="0" y="0"/>
            <a:chExt cx="2844800" cy="48682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8</a:t>
              </a:r>
              <a:endParaRPr lang="en-US" sz="120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297190" y="510921"/>
            <a:ext cx="700002" cy="349996"/>
            <a:chOff x="0" y="0"/>
            <a:chExt cx="933336" cy="4666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8/45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823780" y="7636869"/>
            <a:ext cx="83470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2010</a:t>
            </a:r>
            <a:endParaRPr lang="en-US" sz="30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834709" y="7636869"/>
            <a:ext cx="1690716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2010-</a:t>
            </a:r>
            <a:endParaRPr lang="en-US" sz="30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2012</a:t>
            </a:r>
            <a:endParaRPr lang="en-US" sz="30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401488" y="7636869"/>
            <a:ext cx="169071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2014</a:t>
            </a:r>
            <a:endParaRPr lang="en-US" sz="30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298061" y="7636869"/>
            <a:ext cx="101985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2016</a:t>
            </a:r>
            <a:endParaRPr lang="en-US" sz="30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9200" y="8057512"/>
            <a:ext cx="3068193" cy="642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La naissance</a:t>
            </a:r>
            <a:endParaRPr lang="en-US" sz="30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901992" y="8566233"/>
            <a:ext cx="350410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adoption rapide</a:t>
            </a:r>
            <a:endParaRPr lang="en-US" sz="30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751254" y="8109033"/>
            <a:ext cx="3434201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l’explosion des applications web en JavaScript.</a:t>
            </a:r>
            <a:endParaRPr lang="en-US" sz="30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328330" y="8026517"/>
            <a:ext cx="306819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Structuration du projet</a:t>
            </a:r>
            <a:endParaRPr lang="en-US" sz="30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128617" y="3623910"/>
            <a:ext cx="2465413" cy="2318995"/>
          </a:xfrm>
          <a:custGeom>
            <a:avLst/>
            <a:gdLst/>
            <a:ahLst/>
            <a:cxnLst/>
            <a:rect l="l" t="t" r="r" b="b"/>
            <a:pathLst>
              <a:path w="2465413" h="2318995">
                <a:moveTo>
                  <a:pt x="0" y="0"/>
                </a:moveTo>
                <a:lnTo>
                  <a:pt x="2465413" y="0"/>
                </a:lnTo>
                <a:lnTo>
                  <a:pt x="2465413" y="2318995"/>
                </a:lnTo>
                <a:lnTo>
                  <a:pt x="0" y="23189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78" b="-78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540596" y="3623910"/>
            <a:ext cx="2465413" cy="2318995"/>
          </a:xfrm>
          <a:custGeom>
            <a:avLst/>
            <a:gdLst/>
            <a:ahLst/>
            <a:cxnLst/>
            <a:rect l="l" t="t" r="r" b="b"/>
            <a:pathLst>
              <a:path w="2465413" h="2318995">
                <a:moveTo>
                  <a:pt x="0" y="0"/>
                </a:moveTo>
                <a:lnTo>
                  <a:pt x="2465413" y="0"/>
                </a:lnTo>
                <a:lnTo>
                  <a:pt x="2465413" y="2318995"/>
                </a:lnTo>
                <a:lnTo>
                  <a:pt x="0" y="23189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78" b="-78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125454" y="3623910"/>
            <a:ext cx="2465413" cy="2318995"/>
          </a:xfrm>
          <a:custGeom>
            <a:avLst/>
            <a:gdLst/>
            <a:ahLst/>
            <a:cxnLst/>
            <a:rect l="l" t="t" r="r" b="b"/>
            <a:pathLst>
              <a:path w="2465413" h="2318995">
                <a:moveTo>
                  <a:pt x="0" y="0"/>
                </a:moveTo>
                <a:lnTo>
                  <a:pt x="2465413" y="0"/>
                </a:lnTo>
                <a:lnTo>
                  <a:pt x="2465413" y="2318995"/>
                </a:lnTo>
                <a:lnTo>
                  <a:pt x="0" y="23189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78" b="-78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773224" y="3623910"/>
            <a:ext cx="2465413" cy="2318995"/>
          </a:xfrm>
          <a:custGeom>
            <a:avLst/>
            <a:gdLst/>
            <a:ahLst/>
            <a:cxnLst/>
            <a:rect l="l" t="t" r="r" b="b"/>
            <a:pathLst>
              <a:path w="2465413" h="2318995">
                <a:moveTo>
                  <a:pt x="0" y="0"/>
                </a:moveTo>
                <a:lnTo>
                  <a:pt x="2465413" y="0"/>
                </a:lnTo>
                <a:lnTo>
                  <a:pt x="2465413" y="2318995"/>
                </a:lnTo>
                <a:lnTo>
                  <a:pt x="0" y="2318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78" b="-78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2204523" y="5374481"/>
            <a:ext cx="90478" cy="1858013"/>
            <a:chOff x="0" y="0"/>
            <a:chExt cx="120637" cy="2477351"/>
          </a:xfrm>
        </p:grpSpPr>
        <p:sp>
          <p:nvSpPr>
            <p:cNvPr id="23" name="Freeform 23"/>
            <p:cNvSpPr/>
            <p:nvPr/>
          </p:nvSpPr>
          <p:spPr>
            <a:xfrm>
              <a:off x="-13" y="-13"/>
              <a:ext cx="120675" cy="2477414"/>
            </a:xfrm>
            <a:custGeom>
              <a:avLst/>
              <a:gdLst/>
              <a:ahLst/>
              <a:cxnLst/>
              <a:rect l="l" t="t" r="r" b="b"/>
              <a:pathLst>
                <a:path w="120675" h="2477414">
                  <a:moveTo>
                    <a:pt x="38113" y="18428"/>
                  </a:moveTo>
                  <a:lnTo>
                    <a:pt x="120663" y="2457717"/>
                  </a:lnTo>
                  <a:cubicBezTo>
                    <a:pt x="121044" y="2468258"/>
                    <a:pt x="112789" y="2477021"/>
                    <a:pt x="102248" y="2477402"/>
                  </a:cubicBezTo>
                  <a:cubicBezTo>
                    <a:pt x="91707" y="2477783"/>
                    <a:pt x="82944" y="2469528"/>
                    <a:pt x="82563" y="2458987"/>
                  </a:cubicBezTo>
                  <a:lnTo>
                    <a:pt x="13" y="19698"/>
                  </a:lnTo>
                  <a:cubicBezTo>
                    <a:pt x="-368" y="9157"/>
                    <a:pt x="7887" y="394"/>
                    <a:pt x="18428" y="13"/>
                  </a:cubicBezTo>
                  <a:cubicBezTo>
                    <a:pt x="28969" y="-368"/>
                    <a:pt x="37732" y="7887"/>
                    <a:pt x="38113" y="18428"/>
                  </a:cubicBez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5639753" y="5374481"/>
            <a:ext cx="90478" cy="1858013"/>
            <a:chOff x="0" y="0"/>
            <a:chExt cx="120637" cy="2477351"/>
          </a:xfrm>
        </p:grpSpPr>
        <p:sp>
          <p:nvSpPr>
            <p:cNvPr id="25" name="Freeform 25"/>
            <p:cNvSpPr/>
            <p:nvPr/>
          </p:nvSpPr>
          <p:spPr>
            <a:xfrm>
              <a:off x="-13" y="-13"/>
              <a:ext cx="120675" cy="2477414"/>
            </a:xfrm>
            <a:custGeom>
              <a:avLst/>
              <a:gdLst/>
              <a:ahLst/>
              <a:cxnLst/>
              <a:rect l="l" t="t" r="r" b="b"/>
              <a:pathLst>
                <a:path w="120675" h="2477414">
                  <a:moveTo>
                    <a:pt x="38113" y="18428"/>
                  </a:moveTo>
                  <a:lnTo>
                    <a:pt x="120663" y="2457717"/>
                  </a:lnTo>
                  <a:cubicBezTo>
                    <a:pt x="121044" y="2468258"/>
                    <a:pt x="112789" y="2477021"/>
                    <a:pt x="102248" y="2477402"/>
                  </a:cubicBezTo>
                  <a:cubicBezTo>
                    <a:pt x="91707" y="2477783"/>
                    <a:pt x="82944" y="2469528"/>
                    <a:pt x="82563" y="2458987"/>
                  </a:cubicBezTo>
                  <a:lnTo>
                    <a:pt x="13" y="19698"/>
                  </a:lnTo>
                  <a:cubicBezTo>
                    <a:pt x="-368" y="9157"/>
                    <a:pt x="7887" y="394"/>
                    <a:pt x="18428" y="13"/>
                  </a:cubicBezTo>
                  <a:cubicBezTo>
                    <a:pt x="28969" y="-368"/>
                    <a:pt x="37732" y="7887"/>
                    <a:pt x="38113" y="18428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196340" y="5374481"/>
            <a:ext cx="90478" cy="1858013"/>
            <a:chOff x="0" y="0"/>
            <a:chExt cx="120637" cy="2477351"/>
          </a:xfrm>
        </p:grpSpPr>
        <p:sp>
          <p:nvSpPr>
            <p:cNvPr id="27" name="Freeform 27"/>
            <p:cNvSpPr/>
            <p:nvPr/>
          </p:nvSpPr>
          <p:spPr>
            <a:xfrm>
              <a:off x="-13" y="-13"/>
              <a:ext cx="120675" cy="2477414"/>
            </a:xfrm>
            <a:custGeom>
              <a:avLst/>
              <a:gdLst/>
              <a:ahLst/>
              <a:cxnLst/>
              <a:rect l="l" t="t" r="r" b="b"/>
              <a:pathLst>
                <a:path w="120675" h="2477414">
                  <a:moveTo>
                    <a:pt x="38113" y="18428"/>
                  </a:moveTo>
                  <a:lnTo>
                    <a:pt x="120663" y="2457717"/>
                  </a:lnTo>
                  <a:cubicBezTo>
                    <a:pt x="121044" y="2468258"/>
                    <a:pt x="112789" y="2477021"/>
                    <a:pt x="102248" y="2477402"/>
                  </a:cubicBezTo>
                  <a:cubicBezTo>
                    <a:pt x="91707" y="2477783"/>
                    <a:pt x="82944" y="2469528"/>
                    <a:pt x="82563" y="2458987"/>
                  </a:cubicBezTo>
                  <a:lnTo>
                    <a:pt x="13" y="19698"/>
                  </a:lnTo>
                  <a:cubicBezTo>
                    <a:pt x="-368" y="9157"/>
                    <a:pt x="7887" y="394"/>
                    <a:pt x="18428" y="13"/>
                  </a:cubicBezTo>
                  <a:cubicBezTo>
                    <a:pt x="28969" y="-368"/>
                    <a:pt x="37732" y="7887"/>
                    <a:pt x="38113" y="18428"/>
                  </a:cubicBez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2758833" y="4507020"/>
            <a:ext cx="90478" cy="2725455"/>
            <a:chOff x="0" y="0"/>
            <a:chExt cx="120637" cy="3633940"/>
          </a:xfrm>
        </p:grpSpPr>
        <p:sp>
          <p:nvSpPr>
            <p:cNvPr id="29" name="Freeform 29"/>
            <p:cNvSpPr/>
            <p:nvPr/>
          </p:nvSpPr>
          <p:spPr>
            <a:xfrm>
              <a:off x="-6" y="-6"/>
              <a:ext cx="120661" cy="3633858"/>
            </a:xfrm>
            <a:custGeom>
              <a:avLst/>
              <a:gdLst/>
              <a:ahLst/>
              <a:cxnLst/>
              <a:rect l="l" t="t" r="r" b="b"/>
              <a:pathLst>
                <a:path w="120661" h="3633858">
                  <a:moveTo>
                    <a:pt x="38106" y="18675"/>
                  </a:moveTo>
                  <a:lnTo>
                    <a:pt x="120656" y="3614426"/>
                  </a:lnTo>
                  <a:cubicBezTo>
                    <a:pt x="120910" y="3624967"/>
                    <a:pt x="112528" y="3633730"/>
                    <a:pt x="101987" y="3633857"/>
                  </a:cubicBezTo>
                  <a:cubicBezTo>
                    <a:pt x="91446" y="3633984"/>
                    <a:pt x="82683" y="3625729"/>
                    <a:pt x="82556" y="3615188"/>
                  </a:cubicBezTo>
                  <a:lnTo>
                    <a:pt x="6" y="19437"/>
                  </a:lnTo>
                  <a:cubicBezTo>
                    <a:pt x="-248" y="9023"/>
                    <a:pt x="8134" y="260"/>
                    <a:pt x="18675" y="6"/>
                  </a:cubicBezTo>
                  <a:cubicBezTo>
                    <a:pt x="29216" y="-248"/>
                    <a:pt x="37852" y="8134"/>
                    <a:pt x="38106" y="18675"/>
                  </a:cubicBezTo>
                  <a:close/>
                </a:path>
              </a:pathLst>
            </a:custGeom>
            <a:solidFill>
              <a:srgbClr val="65ACDD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2142230" y="851002"/>
            <a:ext cx="1369695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Histoire et évolution de </a:t>
            </a:r>
            <a:r>
              <a:rPr lang="en-US" sz="7200" b="1">
                <a:solidFill>
                  <a:srgbClr val="2980B9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express.js</a:t>
            </a:r>
            <a:endParaRPr lang="en-US" sz="7200" b="1">
              <a:solidFill>
                <a:srgbClr val="2980B9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391025" y="2320195"/>
            <a:ext cx="8959024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Express.js est né en 2010 par TJ Holowaychuk.</a:t>
            </a:r>
            <a:endParaRPr lang="en-US" sz="270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5671054" y="7636869"/>
            <a:ext cx="101985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2020+</a:t>
            </a:r>
            <a:endParaRPr lang="en-US" sz="30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673920" y="8057512"/>
            <a:ext cx="306819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Évolution moderne</a:t>
            </a:r>
            <a:endParaRPr lang="en-US" sz="30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15146217" y="3623910"/>
            <a:ext cx="2465413" cy="2318995"/>
          </a:xfrm>
          <a:custGeom>
            <a:avLst/>
            <a:gdLst/>
            <a:ahLst/>
            <a:cxnLst/>
            <a:rect l="l" t="t" r="r" b="b"/>
            <a:pathLst>
              <a:path w="2465413" h="2318995">
                <a:moveTo>
                  <a:pt x="0" y="0"/>
                </a:moveTo>
                <a:lnTo>
                  <a:pt x="2465413" y="0"/>
                </a:lnTo>
                <a:lnTo>
                  <a:pt x="2465413" y="2318995"/>
                </a:lnTo>
                <a:lnTo>
                  <a:pt x="0" y="2318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78" b="-78"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6131826" y="4507020"/>
            <a:ext cx="90478" cy="2725455"/>
            <a:chOff x="0" y="0"/>
            <a:chExt cx="120637" cy="3633940"/>
          </a:xfrm>
        </p:grpSpPr>
        <p:sp>
          <p:nvSpPr>
            <p:cNvPr id="36" name="Freeform 36"/>
            <p:cNvSpPr/>
            <p:nvPr/>
          </p:nvSpPr>
          <p:spPr>
            <a:xfrm>
              <a:off x="-6" y="-6"/>
              <a:ext cx="120661" cy="3633858"/>
            </a:xfrm>
            <a:custGeom>
              <a:avLst/>
              <a:gdLst/>
              <a:ahLst/>
              <a:cxnLst/>
              <a:rect l="l" t="t" r="r" b="b"/>
              <a:pathLst>
                <a:path w="120661" h="3633858">
                  <a:moveTo>
                    <a:pt x="38106" y="18675"/>
                  </a:moveTo>
                  <a:lnTo>
                    <a:pt x="120656" y="3614426"/>
                  </a:lnTo>
                  <a:cubicBezTo>
                    <a:pt x="120910" y="3624967"/>
                    <a:pt x="112528" y="3633730"/>
                    <a:pt x="101987" y="3633857"/>
                  </a:cubicBezTo>
                  <a:cubicBezTo>
                    <a:pt x="91446" y="3633984"/>
                    <a:pt x="82683" y="3625729"/>
                    <a:pt x="82556" y="3615188"/>
                  </a:cubicBezTo>
                  <a:lnTo>
                    <a:pt x="6" y="19437"/>
                  </a:lnTo>
                  <a:cubicBezTo>
                    <a:pt x="-248" y="9023"/>
                    <a:pt x="8134" y="260"/>
                    <a:pt x="18675" y="6"/>
                  </a:cubicBezTo>
                  <a:cubicBezTo>
                    <a:pt x="29216" y="-248"/>
                    <a:pt x="37852" y="8134"/>
                    <a:pt x="38106" y="18675"/>
                  </a:cubicBez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7220990" y="510283"/>
            <a:ext cx="700002" cy="349996"/>
            <a:chOff x="0" y="0"/>
            <a:chExt cx="933336" cy="46666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9/45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050"/>
            <a:ext cx="18288000" cy="6228207"/>
            <a:chOff x="0" y="0"/>
            <a:chExt cx="24384000" cy="83042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04276"/>
            </a:xfrm>
            <a:custGeom>
              <a:avLst/>
              <a:gdLst/>
              <a:ahLst/>
              <a:cxnLst/>
              <a:rect l="l" t="t" r="r" b="b"/>
              <a:pathLst>
                <a:path w="24384000" h="8304276">
                  <a:moveTo>
                    <a:pt x="0" y="0"/>
                  </a:moveTo>
                  <a:lnTo>
                    <a:pt x="24384000" y="0"/>
                  </a:lnTo>
                  <a:lnTo>
                    <a:pt x="24384000" y="8304276"/>
                  </a:lnTo>
                  <a:lnTo>
                    <a:pt x="0" y="8304276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4" b="-24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375511" y="8622468"/>
            <a:ext cx="6021391" cy="1664513"/>
            <a:chOff x="0" y="0"/>
            <a:chExt cx="8028521" cy="22193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28559" cy="2219325"/>
            </a:xfrm>
            <a:custGeom>
              <a:avLst/>
              <a:gdLst/>
              <a:ahLst/>
              <a:cxnLst/>
              <a:rect l="l" t="t" r="r" b="b"/>
              <a:pathLst>
                <a:path w="8028559" h="2219325">
                  <a:moveTo>
                    <a:pt x="0" y="0"/>
                  </a:moveTo>
                  <a:lnTo>
                    <a:pt x="8028559" y="0"/>
                  </a:lnTo>
                  <a:lnTo>
                    <a:pt x="8028559" y="2219325"/>
                  </a:lnTo>
                  <a:lnTo>
                    <a:pt x="0" y="2219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767" b="-1769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28700" y="1952701"/>
            <a:ext cx="16009477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 dirty="0" err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Pourquoi</a:t>
            </a:r>
            <a:r>
              <a:rPr lang="en-US" sz="9000" b="1" dirty="0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</a:t>
            </a:r>
            <a:r>
              <a:rPr lang="en-US" sz="9000" b="1" dirty="0" err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utiliser</a:t>
            </a:r>
            <a:r>
              <a:rPr lang="en-US" sz="9000" b="1" dirty="0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                                                                       </a:t>
            </a:r>
            <a:r>
              <a:rPr lang="en-US" sz="9000" b="1" dirty="0">
                <a:solidFill>
                  <a:srgbClr val="00BF63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EXPRESS.JS ?</a:t>
            </a:r>
            <a:endParaRPr lang="en-US" sz="9000" b="1" dirty="0">
              <a:solidFill>
                <a:srgbClr val="00BF63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7286399" y="495043"/>
            <a:ext cx="700002" cy="349996"/>
            <a:chOff x="0" y="0"/>
            <a:chExt cx="933336" cy="4666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10/45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4252827" y="854593"/>
            <a:ext cx="8372275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Express.js vs Node.js</a:t>
            </a:r>
            <a:endParaRPr lang="en-US" sz="72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51165" y="2471433"/>
            <a:ext cx="17785680" cy="409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25"/>
              </a:lnSpc>
            </a:pP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Express.js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est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un framework qui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fonctionne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au-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dess</a:t>
            </a:r>
            <a:r>
              <a:rPr lang="fr-FR" alt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o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us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de Node.js.</a:t>
            </a:r>
            <a:endParaRPr lang="en-US" sz="2960" dirty="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5325"/>
              </a:lnSpc>
            </a:pP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Cela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signifie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qu’il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utilise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Node.js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comme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base pour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créer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des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serveurs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.</a:t>
            </a:r>
            <a:endParaRPr lang="en-US" sz="2960" dirty="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5325"/>
              </a:lnSpc>
            </a:pP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Cependant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, Node.js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seul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nécessite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beaucoup de code pour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gérer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les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requêtes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HTTP.</a:t>
            </a:r>
            <a:endParaRPr lang="en-US" sz="2960" dirty="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5325"/>
              </a:lnSpc>
            </a:pP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Express.js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vient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donc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simplifier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ce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processus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en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fournissant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des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outils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prêts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à </a:t>
            </a:r>
            <a:r>
              <a:rPr lang="en-US" sz="29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l’emploi</a:t>
            </a:r>
            <a:r>
              <a:rPr lang="en-US" sz="29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.</a:t>
            </a:r>
            <a:endParaRPr lang="en-US" sz="2960" dirty="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5325"/>
              </a:lnSpc>
            </a:pPr>
            <a:endParaRPr lang="en-US" sz="2960" dirty="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5325"/>
              </a:lnSpc>
            </a:pPr>
            <a:endParaRPr lang="en-US" sz="2960" dirty="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7297190" y="571243"/>
            <a:ext cx="700002" cy="349996"/>
            <a:chOff x="0" y="0"/>
            <a:chExt cx="933336" cy="4666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11/45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2400" y="2437987"/>
            <a:ext cx="9144000" cy="5109210"/>
            <a:chOff x="0" y="0"/>
            <a:chExt cx="12192000" cy="68122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192000" cy="6812280"/>
            </a:xfrm>
            <a:custGeom>
              <a:avLst/>
              <a:gdLst/>
              <a:ahLst/>
              <a:cxnLst/>
              <a:rect l="l" t="t" r="r" b="b"/>
              <a:pathLst>
                <a:path w="12192000" h="6812280">
                  <a:moveTo>
                    <a:pt x="0" y="0"/>
                  </a:moveTo>
                  <a:lnTo>
                    <a:pt x="12192000" y="0"/>
                  </a:lnTo>
                  <a:lnTo>
                    <a:pt x="12192000" y="6812280"/>
                  </a:lnTo>
                  <a:lnTo>
                    <a:pt x="0" y="6812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1" r="-3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330767" y="2437987"/>
            <a:ext cx="7655557" cy="7776886"/>
            <a:chOff x="0" y="0"/>
            <a:chExt cx="10207409" cy="103691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07371" cy="10369169"/>
            </a:xfrm>
            <a:custGeom>
              <a:avLst/>
              <a:gdLst/>
              <a:ahLst/>
              <a:cxnLst/>
              <a:rect l="l" t="t" r="r" b="b"/>
              <a:pathLst>
                <a:path w="10207371" h="10369169">
                  <a:moveTo>
                    <a:pt x="0" y="0"/>
                  </a:moveTo>
                  <a:lnTo>
                    <a:pt x="10207371" y="0"/>
                  </a:lnTo>
                  <a:lnTo>
                    <a:pt x="10207371" y="10369169"/>
                  </a:lnTo>
                  <a:lnTo>
                    <a:pt x="0" y="10369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34" b="-53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718988" y="1392113"/>
            <a:ext cx="4879086" cy="98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dirty="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un code node.js</a:t>
            </a:r>
            <a:endParaRPr lang="en-US" sz="5200" dirty="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75166" y="1555247"/>
            <a:ext cx="5905500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4800" dirty="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un code express.js</a:t>
            </a:r>
            <a:endParaRPr lang="en-US" sz="4800" dirty="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7297190" y="571243"/>
            <a:ext cx="700002" cy="349996"/>
            <a:chOff x="0" y="0"/>
            <a:chExt cx="933336" cy="4666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12/45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857260" y="2541661"/>
            <a:ext cx="16109166" cy="7074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25"/>
              </a:lnSpc>
            </a:pPr>
            <a:r>
              <a:rPr lang="en-US" sz="34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Installer Node.js: https://nodejs.org/en</a:t>
            </a:r>
            <a:endParaRPr lang="en-US" sz="3460" dirty="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6225"/>
              </a:lnSpc>
            </a:pPr>
            <a:r>
              <a:rPr lang="en-US" sz="34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Dans</a:t>
            </a:r>
            <a:r>
              <a:rPr lang="en-US" sz="34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le CMD:</a:t>
            </a:r>
            <a:endParaRPr lang="en-US" sz="3460" dirty="0">
              <a:solidFill>
                <a:srgbClr val="222A35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90575" lvl="2" indent="-263525" algn="l">
              <a:lnSpc>
                <a:spcPts val="6225"/>
              </a:lnSpc>
              <a:buFont typeface="Arial" panose="020B0604020202020204"/>
              <a:buChar char="⚬"/>
            </a:pPr>
            <a:r>
              <a:rPr lang="en-US" sz="34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initialiser</a:t>
            </a:r>
            <a:r>
              <a:rPr lang="en-US" sz="34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un </a:t>
            </a:r>
            <a:r>
              <a:rPr lang="en-US" sz="3460" dirty="0" err="1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projet</a:t>
            </a:r>
            <a:r>
              <a:rPr lang="en-US" sz="34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node.js :  </a:t>
            </a:r>
            <a:r>
              <a:rPr lang="en-US" sz="3460" dirty="0" err="1">
                <a:solidFill>
                  <a:srgbClr val="FF313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npm</a:t>
            </a:r>
            <a:r>
              <a:rPr lang="en-US" sz="3460" dirty="0">
                <a:solidFill>
                  <a:srgbClr val="FF313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3460" dirty="0" err="1">
                <a:solidFill>
                  <a:srgbClr val="FF313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init</a:t>
            </a:r>
            <a:r>
              <a:rPr lang="en-US" sz="3460" dirty="0">
                <a:solidFill>
                  <a:srgbClr val="FF313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-y</a:t>
            </a:r>
            <a:endParaRPr lang="en-US" sz="3460" dirty="0">
              <a:solidFill>
                <a:srgbClr val="FF313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90575" lvl="2" indent="-263525" algn="l">
              <a:lnSpc>
                <a:spcPts val="6225"/>
              </a:lnSpc>
              <a:buFont typeface="Arial" panose="020B0604020202020204"/>
              <a:buChar char="⚬"/>
            </a:pPr>
            <a:r>
              <a:rPr lang="en-US" sz="3460" dirty="0">
                <a:solidFill>
                  <a:srgbClr val="222A35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installer express.js : </a:t>
            </a:r>
            <a:r>
              <a:rPr lang="en-US" sz="3460" dirty="0" err="1">
                <a:solidFill>
                  <a:srgbClr val="FF313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npm</a:t>
            </a:r>
            <a:r>
              <a:rPr lang="en-US" sz="3460" dirty="0">
                <a:solidFill>
                  <a:srgbClr val="FF3131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install express</a:t>
            </a:r>
            <a:endParaRPr lang="en-US" sz="3460" dirty="0">
              <a:solidFill>
                <a:srgbClr val="FF313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90575" lvl="2" indent="-263525" algn="l">
              <a:lnSpc>
                <a:spcPts val="6225"/>
              </a:lnSpc>
            </a:pPr>
            <a:endParaRPr lang="en-US" sz="3460" dirty="0">
              <a:solidFill>
                <a:srgbClr val="FF313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90575" lvl="2" indent="-263525" algn="l">
              <a:lnSpc>
                <a:spcPts val="6225"/>
              </a:lnSpc>
            </a:pPr>
            <a:endParaRPr lang="en-US" sz="3460" dirty="0">
              <a:solidFill>
                <a:srgbClr val="FF313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90575" lvl="2" indent="-263525" algn="just">
              <a:lnSpc>
                <a:spcPts val="6225"/>
              </a:lnSpc>
            </a:pPr>
            <a:endParaRPr lang="en-US" sz="3460" dirty="0">
              <a:solidFill>
                <a:srgbClr val="FF313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90575" lvl="2" indent="-263525" algn="just">
              <a:lnSpc>
                <a:spcPts val="6225"/>
              </a:lnSpc>
            </a:pPr>
            <a:endParaRPr lang="en-US" sz="3460" dirty="0">
              <a:solidFill>
                <a:srgbClr val="FF313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90575" lvl="2" indent="-263525" algn="just">
              <a:lnSpc>
                <a:spcPts val="6225"/>
              </a:lnSpc>
            </a:pPr>
            <a:endParaRPr lang="en-US" sz="3460" dirty="0">
              <a:solidFill>
                <a:srgbClr val="FF3131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0239413" y="2760983"/>
            <a:ext cx="7054063" cy="6851609"/>
            <a:chOff x="0" y="0"/>
            <a:chExt cx="9405417" cy="91354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405366" cy="9135491"/>
            </a:xfrm>
            <a:custGeom>
              <a:avLst/>
              <a:gdLst/>
              <a:ahLst/>
              <a:cxnLst/>
              <a:rect l="l" t="t" r="r" b="b"/>
              <a:pathLst>
                <a:path w="9405366" h="9135491">
                  <a:moveTo>
                    <a:pt x="0" y="0"/>
                  </a:moveTo>
                  <a:lnTo>
                    <a:pt x="9405366" y="0"/>
                  </a:lnTo>
                  <a:lnTo>
                    <a:pt x="9405366" y="9135491"/>
                  </a:lnTo>
                  <a:lnTo>
                    <a:pt x="0" y="9135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407435" y="854593"/>
            <a:ext cx="10063067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installation de express.js</a:t>
            </a:r>
            <a:endParaRPr lang="en-US" sz="72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7286399" y="571243"/>
            <a:ext cx="700002" cy="349996"/>
            <a:chOff x="0" y="0"/>
            <a:chExt cx="933336" cy="4666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13/45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57260" y="3407845"/>
            <a:ext cx="16782650" cy="4868075"/>
            <a:chOff x="0" y="0"/>
            <a:chExt cx="22376867" cy="64907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376892" cy="6490716"/>
            </a:xfrm>
            <a:custGeom>
              <a:avLst/>
              <a:gdLst/>
              <a:ahLst/>
              <a:cxnLst/>
              <a:rect l="l" t="t" r="r" b="b"/>
              <a:pathLst>
                <a:path w="22376892" h="6490716">
                  <a:moveTo>
                    <a:pt x="0" y="0"/>
                  </a:moveTo>
                  <a:lnTo>
                    <a:pt x="22376892" y="0"/>
                  </a:lnTo>
                  <a:lnTo>
                    <a:pt x="22376892" y="6490716"/>
                  </a:lnTo>
                  <a:lnTo>
                    <a:pt x="0" y="6490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39" r="-1239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1544" y="820817"/>
            <a:ext cx="17420206" cy="188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1">
                <a:solidFill>
                  <a:srgbClr val="80808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 exemple d’un serveur web simple créé avec Express.js:</a:t>
            </a:r>
            <a:endParaRPr lang="en-US" sz="5100" b="1">
              <a:solidFill>
                <a:srgbClr val="80808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7286399" y="495043"/>
            <a:ext cx="700002" cy="349996"/>
            <a:chOff x="0" y="0"/>
            <a:chExt cx="933336" cy="4666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14/45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51144" y="7150465"/>
            <a:ext cx="1493025" cy="21412"/>
            <a:chOff x="0" y="0"/>
            <a:chExt cx="1990700" cy="285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0725" cy="28575"/>
            </a:xfrm>
            <a:custGeom>
              <a:avLst/>
              <a:gdLst/>
              <a:ahLst/>
              <a:cxnLst/>
              <a:rect l="l" t="t" r="r" b="b"/>
              <a:pathLst>
                <a:path w="1990725" h="28575">
                  <a:moveTo>
                    <a:pt x="6350" y="0"/>
                  </a:moveTo>
                  <a:lnTo>
                    <a:pt x="1984375" y="15875"/>
                  </a:lnTo>
                  <a:cubicBezTo>
                    <a:pt x="1987931" y="15875"/>
                    <a:pt x="1990725" y="18796"/>
                    <a:pt x="1990725" y="22225"/>
                  </a:cubicBezTo>
                  <a:cubicBezTo>
                    <a:pt x="1990725" y="25654"/>
                    <a:pt x="1987804" y="28575"/>
                    <a:pt x="1984375" y="28575"/>
                  </a:cubicBez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634653" y="7150465"/>
            <a:ext cx="33347" cy="690562"/>
            <a:chOff x="0" y="0"/>
            <a:chExt cx="44463" cy="920750"/>
          </a:xfrm>
        </p:grpSpPr>
        <p:sp>
          <p:nvSpPr>
            <p:cNvPr id="8" name="Freeform 8"/>
            <p:cNvSpPr/>
            <p:nvPr/>
          </p:nvSpPr>
          <p:spPr>
            <a:xfrm>
              <a:off x="-4" y="-4"/>
              <a:ext cx="44458" cy="920758"/>
            </a:xfrm>
            <a:custGeom>
              <a:avLst/>
              <a:gdLst/>
              <a:ahLst/>
              <a:cxnLst/>
              <a:rect l="l" t="t" r="r" b="b"/>
              <a:pathLst>
                <a:path w="44458" h="920758">
                  <a:moveTo>
                    <a:pt x="12704" y="6100"/>
                  </a:moveTo>
                  <a:lnTo>
                    <a:pt x="44454" y="914150"/>
                  </a:lnTo>
                  <a:cubicBezTo>
                    <a:pt x="44581" y="917706"/>
                    <a:pt x="41787" y="920627"/>
                    <a:pt x="38358" y="920754"/>
                  </a:cubicBezTo>
                  <a:cubicBezTo>
                    <a:pt x="34929" y="920881"/>
                    <a:pt x="31881" y="918087"/>
                    <a:pt x="31754" y="914658"/>
                  </a:cubicBezTo>
                  <a:lnTo>
                    <a:pt x="4" y="6608"/>
                  </a:lnTo>
                  <a:cubicBezTo>
                    <a:pt x="-123" y="3052"/>
                    <a:pt x="2671" y="131"/>
                    <a:pt x="6100" y="4"/>
                  </a:cubicBezTo>
                  <a:cubicBezTo>
                    <a:pt x="9529" y="-123"/>
                    <a:pt x="12577" y="2671"/>
                    <a:pt x="12704" y="610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146381" y="4674965"/>
            <a:ext cx="14288" cy="2484939"/>
            <a:chOff x="0" y="0"/>
            <a:chExt cx="19050" cy="3313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50" cy="3313303"/>
            </a:xfrm>
            <a:custGeom>
              <a:avLst/>
              <a:gdLst/>
              <a:ahLst/>
              <a:cxnLst/>
              <a:rect l="l" t="t" r="r" b="b"/>
              <a:pathLst>
                <a:path w="19050" h="3313303">
                  <a:moveTo>
                    <a:pt x="19050" y="6350"/>
                  </a:moveTo>
                  <a:lnTo>
                    <a:pt x="12700" y="3306953"/>
                  </a:lnTo>
                  <a:cubicBezTo>
                    <a:pt x="12700" y="3310509"/>
                    <a:pt x="9906" y="3313303"/>
                    <a:pt x="6350" y="3313303"/>
                  </a:cubicBezTo>
                  <a:cubicBezTo>
                    <a:pt x="2794" y="3313303"/>
                    <a:pt x="0" y="3310509"/>
                    <a:pt x="0" y="3306953"/>
                  </a:cubicBezTo>
                  <a:lnTo>
                    <a:pt x="6350" y="6350"/>
                  </a:lnTo>
                  <a:cubicBezTo>
                    <a:pt x="6350" y="2794"/>
                    <a:pt x="9144" y="0"/>
                    <a:pt x="12700" y="0"/>
                  </a:cubicBezTo>
                  <a:cubicBezTo>
                    <a:pt x="16256" y="0"/>
                    <a:pt x="19050" y="2794"/>
                    <a:pt x="19050" y="635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-5400000">
            <a:off x="6439310" y="8660844"/>
            <a:ext cx="1128712" cy="2123608"/>
            <a:chOff x="0" y="0"/>
            <a:chExt cx="1504950" cy="28314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04950" cy="2831465"/>
            </a:xfrm>
            <a:custGeom>
              <a:avLst/>
              <a:gdLst/>
              <a:ahLst/>
              <a:cxnLst/>
              <a:rect l="l" t="t" r="r" b="b"/>
              <a:pathLst>
                <a:path w="1504950" h="2831465">
                  <a:moveTo>
                    <a:pt x="0" y="0"/>
                  </a:moveTo>
                  <a:lnTo>
                    <a:pt x="1504950" y="0"/>
                  </a:lnTo>
                  <a:lnTo>
                    <a:pt x="1504950" y="2831465"/>
                  </a:lnTo>
                  <a:lnTo>
                    <a:pt x="0" y="2831465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6" name="Group 16"/>
          <p:cNvGrpSpPr/>
          <p:nvPr/>
        </p:nvGrpSpPr>
        <p:grpSpPr>
          <a:xfrm rot="-5400000">
            <a:off x="8496490" y="8727262"/>
            <a:ext cx="1128712" cy="1990754"/>
            <a:chOff x="0" y="0"/>
            <a:chExt cx="1504950" cy="26543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04950" cy="2654300"/>
            </a:xfrm>
            <a:custGeom>
              <a:avLst/>
              <a:gdLst/>
              <a:ahLst/>
              <a:cxnLst/>
              <a:rect l="l" t="t" r="r" b="b"/>
              <a:pathLst>
                <a:path w="1504950" h="2654300">
                  <a:moveTo>
                    <a:pt x="0" y="0"/>
                  </a:moveTo>
                  <a:lnTo>
                    <a:pt x="1504950" y="0"/>
                  </a:lnTo>
                  <a:lnTo>
                    <a:pt x="1504950" y="2654300"/>
                  </a:lnTo>
                  <a:lnTo>
                    <a:pt x="0" y="26543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8" name="Group 18"/>
          <p:cNvGrpSpPr/>
          <p:nvPr/>
        </p:nvGrpSpPr>
        <p:grpSpPr>
          <a:xfrm rot="-5400000">
            <a:off x="12606833" y="8649519"/>
            <a:ext cx="1128712" cy="2146230"/>
            <a:chOff x="0" y="0"/>
            <a:chExt cx="1504950" cy="2861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04950" cy="2861691"/>
            </a:xfrm>
            <a:custGeom>
              <a:avLst/>
              <a:gdLst/>
              <a:ahLst/>
              <a:cxnLst/>
              <a:rect l="l" t="t" r="r" b="b"/>
              <a:pathLst>
                <a:path w="1504950" h="2861691">
                  <a:moveTo>
                    <a:pt x="0" y="0"/>
                  </a:moveTo>
                  <a:lnTo>
                    <a:pt x="1504950" y="0"/>
                  </a:lnTo>
                  <a:lnTo>
                    <a:pt x="1504950" y="2861691"/>
                  </a:lnTo>
                  <a:lnTo>
                    <a:pt x="0" y="2861691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20" name="Group 20"/>
          <p:cNvGrpSpPr/>
          <p:nvPr/>
        </p:nvGrpSpPr>
        <p:grpSpPr>
          <a:xfrm rot="-5400000">
            <a:off x="16712727" y="8711727"/>
            <a:ext cx="1128712" cy="2021853"/>
            <a:chOff x="0" y="0"/>
            <a:chExt cx="1504950" cy="26958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2" name="Group 22"/>
          <p:cNvGrpSpPr/>
          <p:nvPr/>
        </p:nvGrpSpPr>
        <p:grpSpPr>
          <a:xfrm rot="-5400000">
            <a:off x="406556" y="8738616"/>
            <a:ext cx="1128712" cy="1968094"/>
            <a:chOff x="0" y="0"/>
            <a:chExt cx="1504950" cy="26241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04950" cy="2624074"/>
            </a:xfrm>
            <a:custGeom>
              <a:avLst/>
              <a:gdLst/>
              <a:ahLst/>
              <a:cxnLst/>
              <a:rect l="l" t="t" r="r" b="b"/>
              <a:pathLst>
                <a:path w="1504950" h="2624074">
                  <a:moveTo>
                    <a:pt x="0" y="0"/>
                  </a:moveTo>
                  <a:lnTo>
                    <a:pt x="1504950" y="0"/>
                  </a:lnTo>
                  <a:lnTo>
                    <a:pt x="1504950" y="2624074"/>
                  </a:lnTo>
                  <a:lnTo>
                    <a:pt x="0" y="2624074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24" name="Group 24"/>
          <p:cNvGrpSpPr/>
          <p:nvPr/>
        </p:nvGrpSpPr>
        <p:grpSpPr>
          <a:xfrm rot="-5400000">
            <a:off x="14690865" y="8711717"/>
            <a:ext cx="1128732" cy="2021853"/>
            <a:chOff x="0" y="0"/>
            <a:chExt cx="1504975" cy="26958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6" name="Group 26"/>
          <p:cNvGrpSpPr/>
          <p:nvPr/>
        </p:nvGrpSpPr>
        <p:grpSpPr>
          <a:xfrm rot="-5400000">
            <a:off x="2364877" y="8748351"/>
            <a:ext cx="1128712" cy="1948558"/>
            <a:chOff x="0" y="0"/>
            <a:chExt cx="1504950" cy="259807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04950" cy="2598039"/>
            </a:xfrm>
            <a:custGeom>
              <a:avLst/>
              <a:gdLst/>
              <a:ahLst/>
              <a:cxnLst/>
              <a:rect l="l" t="t" r="r" b="b"/>
              <a:pathLst>
                <a:path w="1504950" h="2598039">
                  <a:moveTo>
                    <a:pt x="0" y="0"/>
                  </a:moveTo>
                  <a:lnTo>
                    <a:pt x="1504950" y="0"/>
                  </a:lnTo>
                  <a:lnTo>
                    <a:pt x="1504950" y="2598039"/>
                  </a:lnTo>
                  <a:lnTo>
                    <a:pt x="0" y="259803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8" name="Group 28"/>
          <p:cNvGrpSpPr/>
          <p:nvPr/>
        </p:nvGrpSpPr>
        <p:grpSpPr>
          <a:xfrm rot="-5400000">
            <a:off x="4358335" y="8703450"/>
            <a:ext cx="1128712" cy="2038350"/>
            <a:chOff x="0" y="0"/>
            <a:chExt cx="1504950" cy="2717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04950" cy="2717800"/>
            </a:xfrm>
            <a:custGeom>
              <a:avLst/>
              <a:gdLst/>
              <a:ahLst/>
              <a:cxnLst/>
              <a:rect l="l" t="t" r="r" b="b"/>
              <a:pathLst>
                <a:path w="1504950" h="2717800">
                  <a:moveTo>
                    <a:pt x="0" y="0"/>
                  </a:moveTo>
                  <a:lnTo>
                    <a:pt x="1504950" y="0"/>
                  </a:lnTo>
                  <a:lnTo>
                    <a:pt x="1504950" y="2717800"/>
                  </a:lnTo>
                  <a:lnTo>
                    <a:pt x="0" y="27178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31" name="Group 31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33" name="Group 33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5" name="Group 35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37" name="Group 37"/>
          <p:cNvGrpSpPr/>
          <p:nvPr/>
        </p:nvGrpSpPr>
        <p:grpSpPr>
          <a:xfrm rot="-5400000">
            <a:off x="16199644" y="8198644"/>
            <a:ext cx="1128712" cy="3048000"/>
            <a:chOff x="0" y="0"/>
            <a:chExt cx="1504950" cy="4064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39" name="Group 39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41" name="Freeform 41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44" name="Group 44"/>
          <p:cNvGrpSpPr/>
          <p:nvPr/>
        </p:nvGrpSpPr>
        <p:grpSpPr>
          <a:xfrm rot="-5400000">
            <a:off x="9919011" y="7631420"/>
            <a:ext cx="2450735" cy="2860415"/>
            <a:chOff x="0" y="0"/>
            <a:chExt cx="3267646" cy="381388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267583" cy="3813937"/>
            </a:xfrm>
            <a:custGeom>
              <a:avLst/>
              <a:gdLst/>
              <a:ahLst/>
              <a:cxnLst/>
              <a:rect l="l" t="t" r="r" b="b"/>
              <a:pathLst>
                <a:path w="3267583" h="3813937">
                  <a:moveTo>
                    <a:pt x="0" y="0"/>
                  </a:moveTo>
                  <a:lnTo>
                    <a:pt x="3267583" y="0"/>
                  </a:lnTo>
                  <a:lnTo>
                    <a:pt x="3267583" y="3813937"/>
                  </a:lnTo>
                  <a:lnTo>
                    <a:pt x="0" y="3813937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5883469" y="2608983"/>
            <a:ext cx="6544866" cy="207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65"/>
              </a:lnSpc>
            </a:pPr>
            <a:r>
              <a:rPr lang="en-US" sz="1063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Le Routing </a:t>
            </a:r>
            <a:endParaRPr lang="en-US" sz="1063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17286399" y="510921"/>
            <a:ext cx="700002" cy="349996"/>
            <a:chOff x="0" y="0"/>
            <a:chExt cx="933336" cy="46666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15/45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600200" y="1460773"/>
            <a:ext cx="5024257" cy="1243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Le Routing</a:t>
            </a:r>
            <a:endParaRPr lang="en-US" sz="810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86000" y="3151946"/>
            <a:ext cx="12560589" cy="28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3105">
                <a:solidFill>
                  <a:srgbClr val="2C87C6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Le routing est le mécanisme qui relie une requête HTTP à une action précise sur le serveur.</a:t>
            </a:r>
            <a:endParaRPr lang="en-US" sz="3105">
              <a:solidFill>
                <a:srgbClr val="2C87C6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algn="l">
              <a:lnSpc>
                <a:spcPts val="3730"/>
              </a:lnSpc>
            </a:pPr>
            <a:r>
              <a:rPr lang="en-US" sz="3105">
                <a:solidFill>
                  <a:srgbClr val="2C87C6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Chaque route est définie par une URL  et une méthode HTTP.</a:t>
            </a:r>
            <a:endParaRPr lang="en-US" sz="3105">
              <a:solidFill>
                <a:srgbClr val="2C87C6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algn="l">
              <a:lnSpc>
                <a:spcPts val="3730"/>
              </a:lnSpc>
            </a:pPr>
            <a:r>
              <a:rPr lang="en-US" sz="3105">
                <a:solidFill>
                  <a:srgbClr val="2C87C6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Ainsi, pour chaque demande, le serveur sait quelle fonction exécuter en fonction de la route utilisée.</a:t>
            </a:r>
            <a:endParaRPr lang="en-US" sz="3105">
              <a:solidFill>
                <a:srgbClr val="2C87C6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algn="l">
              <a:lnSpc>
                <a:spcPts val="4330"/>
              </a:lnSpc>
            </a:pPr>
            <a:endParaRPr lang="en-US" sz="3105">
              <a:solidFill>
                <a:srgbClr val="2C87C6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12" name="Group 12"/>
          <p:cNvGrpSpPr/>
          <p:nvPr/>
        </p:nvGrpSpPr>
        <p:grpSpPr>
          <a:xfrm rot="-5400000">
            <a:off x="4130145" y="8321126"/>
            <a:ext cx="883730" cy="3048000"/>
            <a:chOff x="0" y="0"/>
            <a:chExt cx="1178306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8306" cy="4064000"/>
            </a:xfrm>
            <a:custGeom>
              <a:avLst/>
              <a:gdLst/>
              <a:ahLst/>
              <a:cxnLst/>
              <a:rect l="l" t="t" r="r" b="b"/>
              <a:pathLst>
                <a:path w="1178306" h="4064000">
                  <a:moveTo>
                    <a:pt x="0" y="0"/>
                  </a:moveTo>
                  <a:lnTo>
                    <a:pt x="1178306" y="0"/>
                  </a:lnTo>
                  <a:lnTo>
                    <a:pt x="1178306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4" name="Group 14"/>
          <p:cNvGrpSpPr/>
          <p:nvPr/>
        </p:nvGrpSpPr>
        <p:grpSpPr>
          <a:xfrm rot="-5400000">
            <a:off x="6273165" y="7265918"/>
            <a:ext cx="2693670" cy="3048000"/>
            <a:chOff x="0" y="0"/>
            <a:chExt cx="3591560" cy="406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91560" cy="4064000"/>
            </a:xfrm>
            <a:custGeom>
              <a:avLst/>
              <a:gdLst/>
              <a:ahLst/>
              <a:cxnLst/>
              <a:rect l="l" t="t" r="r" b="b"/>
              <a:pathLst>
                <a:path w="3591560" h="4064000">
                  <a:moveTo>
                    <a:pt x="0" y="0"/>
                  </a:moveTo>
                  <a:lnTo>
                    <a:pt x="3591560" y="0"/>
                  </a:lnTo>
                  <a:lnTo>
                    <a:pt x="359156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6" name="Group 16"/>
          <p:cNvGrpSpPr/>
          <p:nvPr/>
        </p:nvGrpSpPr>
        <p:grpSpPr>
          <a:xfrm rot="-5400000">
            <a:off x="9907953" y="8002953"/>
            <a:ext cx="1520095" cy="3048000"/>
            <a:chOff x="0" y="0"/>
            <a:chExt cx="2026793" cy="406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26793" cy="4064000"/>
            </a:xfrm>
            <a:custGeom>
              <a:avLst/>
              <a:gdLst/>
              <a:ahLst/>
              <a:cxnLst/>
              <a:rect l="l" t="t" r="r" b="b"/>
              <a:pathLst>
                <a:path w="2026793" h="4064000">
                  <a:moveTo>
                    <a:pt x="0" y="0"/>
                  </a:moveTo>
                  <a:lnTo>
                    <a:pt x="2026793" y="0"/>
                  </a:lnTo>
                  <a:lnTo>
                    <a:pt x="2026793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18" name="Group 18"/>
          <p:cNvGrpSpPr/>
          <p:nvPr/>
        </p:nvGrpSpPr>
        <p:grpSpPr>
          <a:xfrm rot="-5400000">
            <a:off x="12659011" y="7706011"/>
            <a:ext cx="2113978" cy="3048000"/>
            <a:chOff x="0" y="0"/>
            <a:chExt cx="2818638" cy="4064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818638" cy="4064000"/>
            </a:xfrm>
            <a:custGeom>
              <a:avLst/>
              <a:gdLst/>
              <a:ahLst/>
              <a:cxnLst/>
              <a:rect l="l" t="t" r="r" b="b"/>
              <a:pathLst>
                <a:path w="2818638" h="4064000">
                  <a:moveTo>
                    <a:pt x="0" y="0"/>
                  </a:moveTo>
                  <a:lnTo>
                    <a:pt x="2818638" y="0"/>
                  </a:lnTo>
                  <a:lnTo>
                    <a:pt x="2818638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20" name="Group 20"/>
          <p:cNvGrpSpPr/>
          <p:nvPr/>
        </p:nvGrpSpPr>
        <p:grpSpPr>
          <a:xfrm rot="-5400000">
            <a:off x="16272596" y="8271596"/>
            <a:ext cx="982790" cy="3048000"/>
            <a:chOff x="0" y="0"/>
            <a:chExt cx="1310386" cy="4064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10386" cy="4064000"/>
            </a:xfrm>
            <a:custGeom>
              <a:avLst/>
              <a:gdLst/>
              <a:ahLst/>
              <a:cxnLst/>
              <a:rect l="l" t="t" r="r" b="b"/>
              <a:pathLst>
                <a:path w="1310386" h="4064000">
                  <a:moveTo>
                    <a:pt x="0" y="0"/>
                  </a:moveTo>
                  <a:lnTo>
                    <a:pt x="1310386" y="0"/>
                  </a:lnTo>
                  <a:lnTo>
                    <a:pt x="1310386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2" name="Group 22"/>
          <p:cNvGrpSpPr/>
          <p:nvPr/>
        </p:nvGrpSpPr>
        <p:grpSpPr>
          <a:xfrm rot="-5400000">
            <a:off x="877072" y="8116052"/>
            <a:ext cx="1293876" cy="3048000"/>
            <a:chOff x="0" y="0"/>
            <a:chExt cx="1725168" cy="4064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25168" cy="4064000"/>
            </a:xfrm>
            <a:custGeom>
              <a:avLst/>
              <a:gdLst/>
              <a:ahLst/>
              <a:cxnLst/>
              <a:rect l="l" t="t" r="r" b="b"/>
              <a:pathLst>
                <a:path w="1725168" h="4064000">
                  <a:moveTo>
                    <a:pt x="0" y="0"/>
                  </a:moveTo>
                  <a:lnTo>
                    <a:pt x="1725168" y="0"/>
                  </a:lnTo>
                  <a:lnTo>
                    <a:pt x="1725168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24" name="Freeform 2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365238" y="1865052"/>
            <a:ext cx="1157754" cy="1001392"/>
          </a:xfrm>
          <a:custGeom>
            <a:avLst/>
            <a:gdLst/>
            <a:ahLst/>
            <a:cxnLst/>
            <a:rect l="l" t="t" r="r" b="b"/>
            <a:pathLst>
              <a:path w="1157754" h="1001392">
                <a:moveTo>
                  <a:pt x="0" y="0"/>
                </a:moveTo>
                <a:lnTo>
                  <a:pt x="1157755" y="0"/>
                </a:lnTo>
                <a:lnTo>
                  <a:pt x="1157755" y="1001392"/>
                </a:lnTo>
                <a:lnTo>
                  <a:pt x="0" y="10013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26" b="-225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963454" y="6849932"/>
            <a:ext cx="6636810" cy="33357"/>
            <a:chOff x="0" y="0"/>
            <a:chExt cx="8849081" cy="4447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849106" cy="44450"/>
            </a:xfrm>
            <a:custGeom>
              <a:avLst/>
              <a:gdLst/>
              <a:ahLst/>
              <a:cxnLst/>
              <a:rect l="l" t="t" r="r" b="b"/>
              <a:pathLst>
                <a:path w="8849106" h="44450">
                  <a:moveTo>
                    <a:pt x="6350" y="0"/>
                  </a:moveTo>
                  <a:lnTo>
                    <a:pt x="8842756" y="31750"/>
                  </a:lnTo>
                  <a:cubicBezTo>
                    <a:pt x="8846313" y="31750"/>
                    <a:pt x="8849106" y="34671"/>
                    <a:pt x="8849106" y="38100"/>
                  </a:cubicBezTo>
                  <a:cubicBezTo>
                    <a:pt x="8849106" y="41529"/>
                    <a:pt x="8846186" y="44450"/>
                    <a:pt x="8842756" y="44450"/>
                  </a:cubicBez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7590739" y="6873764"/>
            <a:ext cx="33357" cy="736197"/>
            <a:chOff x="0" y="0"/>
            <a:chExt cx="44475" cy="981596"/>
          </a:xfrm>
        </p:grpSpPr>
        <p:sp>
          <p:nvSpPr>
            <p:cNvPr id="29" name="Freeform 29"/>
            <p:cNvSpPr/>
            <p:nvPr/>
          </p:nvSpPr>
          <p:spPr>
            <a:xfrm>
              <a:off x="-4" y="-4"/>
              <a:ext cx="44458" cy="981591"/>
            </a:xfrm>
            <a:custGeom>
              <a:avLst/>
              <a:gdLst/>
              <a:ahLst/>
              <a:cxnLst/>
              <a:rect l="l" t="t" r="r" b="b"/>
              <a:pathLst>
                <a:path w="44458" h="981591">
                  <a:moveTo>
                    <a:pt x="12704" y="6100"/>
                  </a:moveTo>
                  <a:lnTo>
                    <a:pt x="44454" y="974983"/>
                  </a:lnTo>
                  <a:cubicBezTo>
                    <a:pt x="44581" y="978539"/>
                    <a:pt x="41787" y="981460"/>
                    <a:pt x="38358" y="981587"/>
                  </a:cubicBezTo>
                  <a:cubicBezTo>
                    <a:pt x="34929" y="981714"/>
                    <a:pt x="31881" y="978920"/>
                    <a:pt x="31754" y="975491"/>
                  </a:cubicBezTo>
                  <a:lnTo>
                    <a:pt x="4" y="6608"/>
                  </a:lnTo>
                  <a:cubicBezTo>
                    <a:pt x="-123" y="3052"/>
                    <a:pt x="2671" y="131"/>
                    <a:pt x="6100" y="4"/>
                  </a:cubicBezTo>
                  <a:cubicBezTo>
                    <a:pt x="9529" y="-123"/>
                    <a:pt x="12577" y="2671"/>
                    <a:pt x="12704" y="610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63454" y="1241812"/>
            <a:ext cx="33338" cy="5617645"/>
            <a:chOff x="0" y="0"/>
            <a:chExt cx="44450" cy="749019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4450" cy="7490206"/>
            </a:xfrm>
            <a:custGeom>
              <a:avLst/>
              <a:gdLst/>
              <a:ahLst/>
              <a:cxnLst/>
              <a:rect l="l" t="t" r="r" b="b"/>
              <a:pathLst>
                <a:path w="44450" h="7490206">
                  <a:moveTo>
                    <a:pt x="44450" y="6350"/>
                  </a:moveTo>
                  <a:lnTo>
                    <a:pt x="12700" y="7483856"/>
                  </a:lnTo>
                  <a:cubicBezTo>
                    <a:pt x="12700" y="7487413"/>
                    <a:pt x="9779" y="7490206"/>
                    <a:pt x="6350" y="7490206"/>
                  </a:cubicBezTo>
                  <a:cubicBezTo>
                    <a:pt x="2921" y="7490206"/>
                    <a:pt x="0" y="7487286"/>
                    <a:pt x="0" y="7483856"/>
                  </a:cubicBezTo>
                  <a:lnTo>
                    <a:pt x="31750" y="6350"/>
                  </a:lnTo>
                  <a:cubicBezTo>
                    <a:pt x="31750" y="2794"/>
                    <a:pt x="34671" y="0"/>
                    <a:pt x="38100" y="0"/>
                  </a:cubicBezTo>
                  <a:cubicBezTo>
                    <a:pt x="41529" y="0"/>
                    <a:pt x="44450" y="2921"/>
                    <a:pt x="44450" y="635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7297190" y="571243"/>
            <a:ext cx="700002" cy="349996"/>
            <a:chOff x="0" y="0"/>
            <a:chExt cx="933336" cy="46666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16/45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735730" y="4610433"/>
            <a:ext cx="3525841" cy="2589895"/>
          </a:xfrm>
          <a:custGeom>
            <a:avLst/>
            <a:gdLst/>
            <a:ahLst/>
            <a:cxnLst/>
            <a:rect l="l" t="t" r="r" b="b"/>
            <a:pathLst>
              <a:path w="3525841" h="2589895">
                <a:moveTo>
                  <a:pt x="0" y="0"/>
                </a:moveTo>
                <a:lnTo>
                  <a:pt x="3525841" y="0"/>
                </a:lnTo>
                <a:lnTo>
                  <a:pt x="3525841" y="2589895"/>
                </a:lnTo>
                <a:lnTo>
                  <a:pt x="0" y="258989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94" r="-9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961566" y="4350334"/>
            <a:ext cx="2742533" cy="3110084"/>
          </a:xfrm>
          <a:custGeom>
            <a:avLst/>
            <a:gdLst/>
            <a:ahLst/>
            <a:cxnLst/>
            <a:rect l="l" t="t" r="r" b="b"/>
            <a:pathLst>
              <a:path w="2742533" h="3110084">
                <a:moveTo>
                  <a:pt x="0" y="0"/>
                </a:moveTo>
                <a:lnTo>
                  <a:pt x="2742534" y="0"/>
                </a:lnTo>
                <a:lnTo>
                  <a:pt x="2742534" y="3110084"/>
                </a:lnTo>
                <a:lnTo>
                  <a:pt x="0" y="3110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1" r="-11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4645221" y="4256589"/>
            <a:ext cx="2614079" cy="3297574"/>
          </a:xfrm>
          <a:custGeom>
            <a:avLst/>
            <a:gdLst/>
            <a:ahLst/>
            <a:cxnLst/>
            <a:rect l="l" t="t" r="r" b="b"/>
            <a:pathLst>
              <a:path w="2614079" h="3297574">
                <a:moveTo>
                  <a:pt x="0" y="0"/>
                </a:moveTo>
                <a:lnTo>
                  <a:pt x="2614079" y="0"/>
                </a:lnTo>
                <a:lnTo>
                  <a:pt x="2614079" y="3297574"/>
                </a:lnTo>
                <a:lnTo>
                  <a:pt x="0" y="3297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3" b="-1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272516" y="5018475"/>
            <a:ext cx="1624298" cy="1066133"/>
          </a:xfrm>
          <a:custGeom>
            <a:avLst/>
            <a:gdLst/>
            <a:ahLst/>
            <a:cxnLst/>
            <a:rect l="l" t="t" r="r" b="b"/>
            <a:pathLst>
              <a:path w="1624298" h="1066133">
                <a:moveTo>
                  <a:pt x="0" y="0"/>
                </a:moveTo>
                <a:lnTo>
                  <a:pt x="1624298" y="0"/>
                </a:lnTo>
                <a:lnTo>
                  <a:pt x="1624298" y="1066133"/>
                </a:lnTo>
                <a:lnTo>
                  <a:pt x="0" y="10661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39" b="-33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768852" y="5018475"/>
            <a:ext cx="1624298" cy="1066133"/>
          </a:xfrm>
          <a:custGeom>
            <a:avLst/>
            <a:gdLst/>
            <a:ahLst/>
            <a:cxnLst/>
            <a:rect l="l" t="t" r="r" b="b"/>
            <a:pathLst>
              <a:path w="1624298" h="1066133">
                <a:moveTo>
                  <a:pt x="0" y="0"/>
                </a:moveTo>
                <a:lnTo>
                  <a:pt x="1624298" y="0"/>
                </a:lnTo>
                <a:lnTo>
                  <a:pt x="1624298" y="1066133"/>
                </a:lnTo>
                <a:lnTo>
                  <a:pt x="0" y="10661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39" b="-33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364674" y="1848412"/>
            <a:ext cx="1936318" cy="1432874"/>
          </a:xfrm>
          <a:custGeom>
            <a:avLst/>
            <a:gdLst/>
            <a:ahLst/>
            <a:cxnLst/>
            <a:rect l="l" t="t" r="r" b="b"/>
            <a:pathLst>
              <a:path w="1936318" h="1432874">
                <a:moveTo>
                  <a:pt x="0" y="0"/>
                </a:moveTo>
                <a:lnTo>
                  <a:pt x="1936318" y="0"/>
                </a:lnTo>
                <a:lnTo>
                  <a:pt x="1936318" y="1432874"/>
                </a:lnTo>
                <a:lnTo>
                  <a:pt x="0" y="14328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3" b="-13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5730" y="7832103"/>
            <a:ext cx="3445650" cy="1282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 (Navigateur)</a:t>
            </a:r>
            <a:endParaRPr lang="en-US" sz="35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89527" y="7832103"/>
            <a:ext cx="3445650" cy="663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Express Router</a:t>
            </a:r>
            <a:endParaRPr lang="en-US" sz="35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095933" y="7650451"/>
            <a:ext cx="3445650" cy="1282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données</a:t>
            </a:r>
            <a:endParaRPr lang="en-US" sz="35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361840" y="6134100"/>
            <a:ext cx="3445650" cy="50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2C87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GET /users/1</a:t>
            </a:r>
            <a:endParaRPr lang="en-US" sz="2600" b="1">
              <a:solidFill>
                <a:srgbClr val="2C87C6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858176" y="6134100"/>
            <a:ext cx="3445650" cy="50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2C87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Recherche ID:1</a:t>
            </a:r>
            <a:endParaRPr lang="en-US" sz="2600" b="1">
              <a:solidFill>
                <a:srgbClr val="2C87C6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070369" y="3594687"/>
            <a:ext cx="4524918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2C87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200 OK + JSON {name: "Ahmed"}</a:t>
            </a:r>
            <a:endParaRPr lang="en-US" sz="2100" b="1">
              <a:solidFill>
                <a:srgbClr val="2C87C6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523392" y="191395"/>
            <a:ext cx="12993291" cy="1906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>
                <a:solidFill>
                  <a:srgbClr val="B2B2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Architecture du cycle Requête/Réponse</a:t>
            </a:r>
            <a:endParaRPr lang="en-US" sz="5200" b="1">
              <a:solidFill>
                <a:srgbClr val="B2B2B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7280"/>
              </a:lnSpc>
            </a:pPr>
            <a:endParaRPr lang="en-US" sz="5200" b="1">
              <a:solidFill>
                <a:srgbClr val="B2B2B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7297190" y="571243"/>
            <a:ext cx="700002" cy="349996"/>
            <a:chOff x="0" y="0"/>
            <a:chExt cx="933336" cy="4666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17/45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823780" y="7636869"/>
            <a:ext cx="83470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GET</a:t>
            </a:r>
            <a:endParaRPr lang="en-US" sz="30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834709" y="7636869"/>
            <a:ext cx="169071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POST</a:t>
            </a:r>
            <a:endParaRPr lang="en-US" sz="30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401488" y="7636869"/>
            <a:ext cx="201417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PUT/PATCH</a:t>
            </a:r>
            <a:endParaRPr lang="en-US" sz="30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773120" y="7646394"/>
            <a:ext cx="1623403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915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DELETE</a:t>
            </a:r>
            <a:endParaRPr lang="en-US" sz="2915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25847" y="8492080"/>
            <a:ext cx="306819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Lire une ressource</a:t>
            </a:r>
            <a:endParaRPr lang="en-US" sz="30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072357" y="8514712"/>
            <a:ext cx="350410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Créer une ressource</a:t>
            </a:r>
            <a:endParaRPr lang="en-US" sz="30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91434" y="8514712"/>
            <a:ext cx="343420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Mettre à jour</a:t>
            </a:r>
            <a:endParaRPr lang="en-US" sz="30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085206" y="8492080"/>
            <a:ext cx="306819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A6A6A6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Supprimer</a:t>
            </a:r>
            <a:endParaRPr lang="en-US" sz="3000">
              <a:solidFill>
                <a:srgbClr val="A6A6A6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128617" y="3623910"/>
            <a:ext cx="2465413" cy="2318995"/>
          </a:xfrm>
          <a:custGeom>
            <a:avLst/>
            <a:gdLst/>
            <a:ahLst/>
            <a:cxnLst/>
            <a:rect l="l" t="t" r="r" b="b"/>
            <a:pathLst>
              <a:path w="2465413" h="2318995">
                <a:moveTo>
                  <a:pt x="0" y="0"/>
                </a:moveTo>
                <a:lnTo>
                  <a:pt x="2465413" y="0"/>
                </a:lnTo>
                <a:lnTo>
                  <a:pt x="2465413" y="2318995"/>
                </a:lnTo>
                <a:lnTo>
                  <a:pt x="0" y="23189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78" b="-7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Freeform 19"/>
          <p:cNvSpPr/>
          <p:nvPr/>
        </p:nvSpPr>
        <p:spPr>
          <a:xfrm>
            <a:off x="4540596" y="3623910"/>
            <a:ext cx="2465413" cy="2318995"/>
          </a:xfrm>
          <a:custGeom>
            <a:avLst/>
            <a:gdLst/>
            <a:ahLst/>
            <a:cxnLst/>
            <a:rect l="l" t="t" r="r" b="b"/>
            <a:pathLst>
              <a:path w="2465413" h="2318995">
                <a:moveTo>
                  <a:pt x="0" y="0"/>
                </a:moveTo>
                <a:lnTo>
                  <a:pt x="2465413" y="0"/>
                </a:lnTo>
                <a:lnTo>
                  <a:pt x="2465413" y="2318995"/>
                </a:lnTo>
                <a:lnTo>
                  <a:pt x="0" y="23189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78" b="-78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125454" y="3623910"/>
            <a:ext cx="2465413" cy="2318995"/>
          </a:xfrm>
          <a:custGeom>
            <a:avLst/>
            <a:gdLst/>
            <a:ahLst/>
            <a:cxnLst/>
            <a:rect l="l" t="t" r="r" b="b"/>
            <a:pathLst>
              <a:path w="2465413" h="2318995">
                <a:moveTo>
                  <a:pt x="0" y="0"/>
                </a:moveTo>
                <a:lnTo>
                  <a:pt x="2465413" y="0"/>
                </a:lnTo>
                <a:lnTo>
                  <a:pt x="2465413" y="2318995"/>
                </a:lnTo>
                <a:lnTo>
                  <a:pt x="0" y="23189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78" b="-78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085206" y="3529955"/>
            <a:ext cx="2465413" cy="2318995"/>
          </a:xfrm>
          <a:custGeom>
            <a:avLst/>
            <a:gdLst/>
            <a:ahLst/>
            <a:cxnLst/>
            <a:rect l="l" t="t" r="r" b="b"/>
            <a:pathLst>
              <a:path w="2465413" h="2318995">
                <a:moveTo>
                  <a:pt x="0" y="0"/>
                </a:moveTo>
                <a:lnTo>
                  <a:pt x="2465413" y="0"/>
                </a:lnTo>
                <a:lnTo>
                  <a:pt x="2465413" y="2318995"/>
                </a:lnTo>
                <a:lnTo>
                  <a:pt x="0" y="2318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78" b="-78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2204523" y="5374481"/>
            <a:ext cx="90478" cy="1858013"/>
            <a:chOff x="0" y="0"/>
            <a:chExt cx="120637" cy="2477351"/>
          </a:xfrm>
        </p:grpSpPr>
        <p:sp>
          <p:nvSpPr>
            <p:cNvPr id="23" name="Freeform 23"/>
            <p:cNvSpPr/>
            <p:nvPr/>
          </p:nvSpPr>
          <p:spPr>
            <a:xfrm>
              <a:off x="-13" y="-13"/>
              <a:ext cx="120675" cy="2477414"/>
            </a:xfrm>
            <a:custGeom>
              <a:avLst/>
              <a:gdLst/>
              <a:ahLst/>
              <a:cxnLst/>
              <a:rect l="l" t="t" r="r" b="b"/>
              <a:pathLst>
                <a:path w="120675" h="2477414">
                  <a:moveTo>
                    <a:pt x="38113" y="18428"/>
                  </a:moveTo>
                  <a:lnTo>
                    <a:pt x="120663" y="2457717"/>
                  </a:lnTo>
                  <a:cubicBezTo>
                    <a:pt x="121044" y="2468258"/>
                    <a:pt x="112789" y="2477021"/>
                    <a:pt x="102248" y="2477402"/>
                  </a:cubicBezTo>
                  <a:cubicBezTo>
                    <a:pt x="91707" y="2477783"/>
                    <a:pt x="82944" y="2469528"/>
                    <a:pt x="82563" y="2458987"/>
                  </a:cubicBezTo>
                  <a:lnTo>
                    <a:pt x="13" y="19698"/>
                  </a:lnTo>
                  <a:cubicBezTo>
                    <a:pt x="-368" y="9157"/>
                    <a:pt x="7887" y="394"/>
                    <a:pt x="18428" y="13"/>
                  </a:cubicBezTo>
                  <a:cubicBezTo>
                    <a:pt x="28969" y="-368"/>
                    <a:pt x="37732" y="7887"/>
                    <a:pt x="38113" y="18428"/>
                  </a:cubicBez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5639753" y="5374481"/>
            <a:ext cx="90478" cy="1858013"/>
            <a:chOff x="0" y="0"/>
            <a:chExt cx="120637" cy="2477351"/>
          </a:xfrm>
        </p:grpSpPr>
        <p:sp>
          <p:nvSpPr>
            <p:cNvPr id="25" name="Freeform 25"/>
            <p:cNvSpPr/>
            <p:nvPr/>
          </p:nvSpPr>
          <p:spPr>
            <a:xfrm>
              <a:off x="-13" y="-13"/>
              <a:ext cx="120675" cy="2477414"/>
            </a:xfrm>
            <a:custGeom>
              <a:avLst/>
              <a:gdLst/>
              <a:ahLst/>
              <a:cxnLst/>
              <a:rect l="l" t="t" r="r" b="b"/>
              <a:pathLst>
                <a:path w="120675" h="2477414">
                  <a:moveTo>
                    <a:pt x="38113" y="18428"/>
                  </a:moveTo>
                  <a:lnTo>
                    <a:pt x="120663" y="2457717"/>
                  </a:lnTo>
                  <a:cubicBezTo>
                    <a:pt x="121044" y="2468258"/>
                    <a:pt x="112789" y="2477021"/>
                    <a:pt x="102248" y="2477402"/>
                  </a:cubicBezTo>
                  <a:cubicBezTo>
                    <a:pt x="91707" y="2477783"/>
                    <a:pt x="82944" y="2469528"/>
                    <a:pt x="82563" y="2458987"/>
                  </a:cubicBezTo>
                  <a:lnTo>
                    <a:pt x="13" y="19698"/>
                  </a:lnTo>
                  <a:cubicBezTo>
                    <a:pt x="-368" y="9157"/>
                    <a:pt x="7887" y="394"/>
                    <a:pt x="18428" y="13"/>
                  </a:cubicBezTo>
                  <a:cubicBezTo>
                    <a:pt x="28969" y="-368"/>
                    <a:pt x="37732" y="7887"/>
                    <a:pt x="38113" y="18428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196340" y="5374481"/>
            <a:ext cx="90478" cy="1858013"/>
            <a:chOff x="0" y="0"/>
            <a:chExt cx="120637" cy="2477351"/>
          </a:xfrm>
        </p:grpSpPr>
        <p:sp>
          <p:nvSpPr>
            <p:cNvPr id="27" name="Freeform 27"/>
            <p:cNvSpPr/>
            <p:nvPr/>
          </p:nvSpPr>
          <p:spPr>
            <a:xfrm>
              <a:off x="-13" y="-13"/>
              <a:ext cx="120675" cy="2477414"/>
            </a:xfrm>
            <a:custGeom>
              <a:avLst/>
              <a:gdLst/>
              <a:ahLst/>
              <a:cxnLst/>
              <a:rect l="l" t="t" r="r" b="b"/>
              <a:pathLst>
                <a:path w="120675" h="2477414">
                  <a:moveTo>
                    <a:pt x="38113" y="18428"/>
                  </a:moveTo>
                  <a:lnTo>
                    <a:pt x="120663" y="2457717"/>
                  </a:lnTo>
                  <a:cubicBezTo>
                    <a:pt x="121044" y="2468258"/>
                    <a:pt x="112789" y="2477021"/>
                    <a:pt x="102248" y="2477402"/>
                  </a:cubicBezTo>
                  <a:cubicBezTo>
                    <a:pt x="91707" y="2477783"/>
                    <a:pt x="82944" y="2469528"/>
                    <a:pt x="82563" y="2458987"/>
                  </a:cubicBezTo>
                  <a:lnTo>
                    <a:pt x="13" y="19698"/>
                  </a:lnTo>
                  <a:cubicBezTo>
                    <a:pt x="-368" y="9157"/>
                    <a:pt x="7887" y="394"/>
                    <a:pt x="18428" y="13"/>
                  </a:cubicBezTo>
                  <a:cubicBezTo>
                    <a:pt x="28969" y="-368"/>
                    <a:pt x="37732" y="7887"/>
                    <a:pt x="38113" y="18428"/>
                  </a:cubicBez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3494344" y="4769444"/>
            <a:ext cx="90478" cy="2725455"/>
            <a:chOff x="0" y="0"/>
            <a:chExt cx="120637" cy="3633940"/>
          </a:xfrm>
        </p:grpSpPr>
        <p:sp>
          <p:nvSpPr>
            <p:cNvPr id="29" name="Freeform 29"/>
            <p:cNvSpPr/>
            <p:nvPr/>
          </p:nvSpPr>
          <p:spPr>
            <a:xfrm>
              <a:off x="-6" y="-6"/>
              <a:ext cx="120661" cy="3633858"/>
            </a:xfrm>
            <a:custGeom>
              <a:avLst/>
              <a:gdLst/>
              <a:ahLst/>
              <a:cxnLst/>
              <a:rect l="l" t="t" r="r" b="b"/>
              <a:pathLst>
                <a:path w="120661" h="3633858">
                  <a:moveTo>
                    <a:pt x="38106" y="18675"/>
                  </a:moveTo>
                  <a:lnTo>
                    <a:pt x="120656" y="3614426"/>
                  </a:lnTo>
                  <a:cubicBezTo>
                    <a:pt x="120910" y="3624967"/>
                    <a:pt x="112528" y="3633730"/>
                    <a:pt x="101987" y="3633857"/>
                  </a:cubicBezTo>
                  <a:cubicBezTo>
                    <a:pt x="91446" y="3633984"/>
                    <a:pt x="82683" y="3625729"/>
                    <a:pt x="82556" y="3615188"/>
                  </a:cubicBezTo>
                  <a:lnTo>
                    <a:pt x="6" y="19437"/>
                  </a:lnTo>
                  <a:cubicBezTo>
                    <a:pt x="-248" y="9023"/>
                    <a:pt x="8134" y="260"/>
                    <a:pt x="18675" y="6"/>
                  </a:cubicBezTo>
                  <a:cubicBezTo>
                    <a:pt x="29216" y="-248"/>
                    <a:pt x="37852" y="8134"/>
                    <a:pt x="38106" y="18675"/>
                  </a:cubicBezTo>
                  <a:close/>
                </a:path>
              </a:pathLst>
            </a:custGeom>
            <a:solidFill>
              <a:srgbClr val="65ACDD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5022656" y="851002"/>
            <a:ext cx="7936116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Les méthodes HTTP</a:t>
            </a:r>
            <a:endParaRPr lang="en-US" sz="72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400566" y="2320195"/>
            <a:ext cx="1529034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Chaque méthode HTTP correspond à une opération sur les données. C'est la base du modèle CRUD </a:t>
            </a:r>
            <a:endParaRPr lang="en-US" sz="270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262314" y="4476702"/>
            <a:ext cx="2524230" cy="21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5"/>
              </a:lnSpc>
            </a:pPr>
            <a:r>
              <a:rPr lang="en-US" sz="2040" spc="81">
                <a:solidFill>
                  <a:srgbClr val="000000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CREATE</a:t>
            </a:r>
            <a:endParaRPr lang="en-US" sz="2040" spc="81">
              <a:solidFill>
                <a:srgbClr val="000000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79027" y="4476702"/>
            <a:ext cx="2524230" cy="21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5"/>
              </a:lnSpc>
            </a:pPr>
            <a:r>
              <a:rPr lang="en-US" sz="2040" spc="81">
                <a:solidFill>
                  <a:srgbClr val="000000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READ</a:t>
            </a:r>
            <a:endParaRPr lang="en-US" sz="2040" spc="81">
              <a:solidFill>
                <a:srgbClr val="000000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891434" y="4476702"/>
            <a:ext cx="2524230" cy="21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5"/>
              </a:lnSpc>
            </a:pPr>
            <a:r>
              <a:rPr lang="en-US" sz="2040" spc="81">
                <a:solidFill>
                  <a:srgbClr val="000000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UPDATE</a:t>
            </a:r>
            <a:endParaRPr lang="en-US" sz="2040" spc="81">
              <a:solidFill>
                <a:srgbClr val="000000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1696652" y="4476702"/>
            <a:ext cx="2524230" cy="21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5"/>
              </a:lnSpc>
            </a:pPr>
            <a:r>
              <a:rPr lang="en-US" sz="2040" spc="81">
                <a:solidFill>
                  <a:srgbClr val="000000"/>
                </a:solidFill>
                <a:latin typeface="Arvo" panose="02000000000000000000"/>
                <a:ea typeface="Arvo" panose="02000000000000000000"/>
                <a:cs typeface="Arvo" panose="02000000000000000000"/>
                <a:sym typeface="Arvo" panose="02000000000000000000"/>
              </a:rPr>
              <a:t>DELETE</a:t>
            </a:r>
            <a:endParaRPr lang="en-US" sz="2040" spc="81">
              <a:solidFill>
                <a:srgbClr val="000000"/>
              </a:solidFill>
              <a:latin typeface="Arvo" panose="02000000000000000000"/>
              <a:ea typeface="Arvo" panose="02000000000000000000"/>
              <a:cs typeface="Arvo" panose="02000000000000000000"/>
              <a:sym typeface="Arvo" panose="02000000000000000000"/>
            </a:endParaRPr>
          </a:p>
        </p:txBody>
      </p:sp>
      <p:grpSp>
        <p:nvGrpSpPr>
          <p:cNvPr id="39" name="Group 39"/>
          <p:cNvGrpSpPr/>
          <p:nvPr/>
        </p:nvGrpSpPr>
        <p:grpSpPr>
          <a:xfrm>
            <a:off x="17286399" y="510283"/>
            <a:ext cx="700002" cy="349996"/>
            <a:chOff x="0" y="0"/>
            <a:chExt cx="933336" cy="46666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18/45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050"/>
            <a:ext cx="18288000" cy="6228207"/>
            <a:chOff x="0" y="0"/>
            <a:chExt cx="24384000" cy="83042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04276"/>
            </a:xfrm>
            <a:custGeom>
              <a:avLst/>
              <a:gdLst/>
              <a:ahLst/>
              <a:cxnLst/>
              <a:rect l="l" t="t" r="r" b="b"/>
              <a:pathLst>
                <a:path w="24384000" h="8304276">
                  <a:moveTo>
                    <a:pt x="0" y="0"/>
                  </a:moveTo>
                  <a:lnTo>
                    <a:pt x="24384000" y="0"/>
                  </a:lnTo>
                  <a:lnTo>
                    <a:pt x="24384000" y="8304276"/>
                  </a:lnTo>
                  <a:lnTo>
                    <a:pt x="0" y="8304276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4" b="-24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375511" y="8622468"/>
            <a:ext cx="6021391" cy="1664513"/>
            <a:chOff x="0" y="0"/>
            <a:chExt cx="8028521" cy="22193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28559" cy="2219325"/>
            </a:xfrm>
            <a:custGeom>
              <a:avLst/>
              <a:gdLst/>
              <a:ahLst/>
              <a:cxnLst/>
              <a:rect l="l" t="t" r="r" b="b"/>
              <a:pathLst>
                <a:path w="8028559" h="2219325">
                  <a:moveTo>
                    <a:pt x="0" y="0"/>
                  </a:moveTo>
                  <a:lnTo>
                    <a:pt x="8028559" y="0"/>
                  </a:lnTo>
                  <a:lnTo>
                    <a:pt x="8028559" y="2219325"/>
                  </a:lnTo>
                  <a:lnTo>
                    <a:pt x="0" y="2219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767" b="-1769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870259" y="2361619"/>
            <a:ext cx="4547473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80"/>
              </a:lnSpc>
            </a:pPr>
            <a:r>
              <a:rPr lang="en-US" sz="990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Req/Res</a:t>
            </a:r>
            <a:endParaRPr lang="en-US" sz="990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7286399" y="495043"/>
            <a:ext cx="700002" cy="349996"/>
            <a:chOff x="0" y="0"/>
            <a:chExt cx="933336" cy="4666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19/45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047961" y="2359466"/>
            <a:ext cx="1014403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sz="2570">
                <a:solidFill>
                  <a:srgbClr val="2980B9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req contient toutes les informations envoyées par le client au serveur.</a:t>
            </a:r>
            <a:endParaRPr lang="en-US" sz="2570">
              <a:solidFill>
                <a:srgbClr val="2980B9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-5400000">
            <a:off x="4130145" y="8321126"/>
            <a:ext cx="883730" cy="3048000"/>
            <a:chOff x="0" y="0"/>
            <a:chExt cx="1178306" cy="406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8306" cy="4064000"/>
            </a:xfrm>
            <a:custGeom>
              <a:avLst/>
              <a:gdLst/>
              <a:ahLst/>
              <a:cxnLst/>
              <a:rect l="l" t="t" r="r" b="b"/>
              <a:pathLst>
                <a:path w="1178306" h="4064000">
                  <a:moveTo>
                    <a:pt x="0" y="0"/>
                  </a:moveTo>
                  <a:lnTo>
                    <a:pt x="1178306" y="0"/>
                  </a:lnTo>
                  <a:lnTo>
                    <a:pt x="1178306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3" name="Group 13"/>
          <p:cNvGrpSpPr/>
          <p:nvPr/>
        </p:nvGrpSpPr>
        <p:grpSpPr>
          <a:xfrm rot="-5400000">
            <a:off x="6273165" y="7265918"/>
            <a:ext cx="2693670" cy="3048000"/>
            <a:chOff x="0" y="0"/>
            <a:chExt cx="3591560" cy="406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91560" cy="4064000"/>
            </a:xfrm>
            <a:custGeom>
              <a:avLst/>
              <a:gdLst/>
              <a:ahLst/>
              <a:cxnLst/>
              <a:rect l="l" t="t" r="r" b="b"/>
              <a:pathLst>
                <a:path w="3591560" h="4064000">
                  <a:moveTo>
                    <a:pt x="0" y="0"/>
                  </a:moveTo>
                  <a:lnTo>
                    <a:pt x="3591560" y="0"/>
                  </a:lnTo>
                  <a:lnTo>
                    <a:pt x="359156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5" name="Group 15"/>
          <p:cNvGrpSpPr/>
          <p:nvPr/>
        </p:nvGrpSpPr>
        <p:grpSpPr>
          <a:xfrm rot="-5400000">
            <a:off x="9907953" y="8002953"/>
            <a:ext cx="1520095" cy="3048000"/>
            <a:chOff x="0" y="0"/>
            <a:chExt cx="2026793" cy="406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6793" cy="4064000"/>
            </a:xfrm>
            <a:custGeom>
              <a:avLst/>
              <a:gdLst/>
              <a:ahLst/>
              <a:cxnLst/>
              <a:rect l="l" t="t" r="r" b="b"/>
              <a:pathLst>
                <a:path w="2026793" h="4064000">
                  <a:moveTo>
                    <a:pt x="0" y="0"/>
                  </a:moveTo>
                  <a:lnTo>
                    <a:pt x="2026793" y="0"/>
                  </a:lnTo>
                  <a:lnTo>
                    <a:pt x="2026793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17" name="Group 17"/>
          <p:cNvGrpSpPr/>
          <p:nvPr/>
        </p:nvGrpSpPr>
        <p:grpSpPr>
          <a:xfrm rot="-5400000">
            <a:off x="12659011" y="7706011"/>
            <a:ext cx="2113978" cy="3048000"/>
            <a:chOff x="0" y="0"/>
            <a:chExt cx="2818638" cy="406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18638" cy="4064000"/>
            </a:xfrm>
            <a:custGeom>
              <a:avLst/>
              <a:gdLst/>
              <a:ahLst/>
              <a:cxnLst/>
              <a:rect l="l" t="t" r="r" b="b"/>
              <a:pathLst>
                <a:path w="2818638" h="4064000">
                  <a:moveTo>
                    <a:pt x="0" y="0"/>
                  </a:moveTo>
                  <a:lnTo>
                    <a:pt x="2818638" y="0"/>
                  </a:lnTo>
                  <a:lnTo>
                    <a:pt x="2818638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19" name="Group 19"/>
          <p:cNvGrpSpPr/>
          <p:nvPr/>
        </p:nvGrpSpPr>
        <p:grpSpPr>
          <a:xfrm rot="-5400000">
            <a:off x="16272596" y="8271596"/>
            <a:ext cx="982790" cy="3048000"/>
            <a:chOff x="0" y="0"/>
            <a:chExt cx="1310386" cy="406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10386" cy="4064000"/>
            </a:xfrm>
            <a:custGeom>
              <a:avLst/>
              <a:gdLst/>
              <a:ahLst/>
              <a:cxnLst/>
              <a:rect l="l" t="t" r="r" b="b"/>
              <a:pathLst>
                <a:path w="1310386" h="4064000">
                  <a:moveTo>
                    <a:pt x="0" y="0"/>
                  </a:moveTo>
                  <a:lnTo>
                    <a:pt x="1310386" y="0"/>
                  </a:lnTo>
                  <a:lnTo>
                    <a:pt x="1310386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1" name="Group 21"/>
          <p:cNvGrpSpPr/>
          <p:nvPr/>
        </p:nvGrpSpPr>
        <p:grpSpPr>
          <a:xfrm rot="-5400000">
            <a:off x="877072" y="8116052"/>
            <a:ext cx="1293876" cy="3048000"/>
            <a:chOff x="0" y="0"/>
            <a:chExt cx="1725168" cy="4064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25168" cy="4064000"/>
            </a:xfrm>
            <a:custGeom>
              <a:avLst/>
              <a:gdLst/>
              <a:ahLst/>
              <a:cxnLst/>
              <a:rect l="l" t="t" r="r" b="b"/>
              <a:pathLst>
                <a:path w="1725168" h="4064000">
                  <a:moveTo>
                    <a:pt x="0" y="0"/>
                  </a:moveTo>
                  <a:lnTo>
                    <a:pt x="1725168" y="0"/>
                  </a:lnTo>
                  <a:lnTo>
                    <a:pt x="1725168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365238" y="1865052"/>
            <a:ext cx="1157754" cy="1001392"/>
          </a:xfrm>
          <a:custGeom>
            <a:avLst/>
            <a:gdLst/>
            <a:ahLst/>
            <a:cxnLst/>
            <a:rect l="l" t="t" r="r" b="b"/>
            <a:pathLst>
              <a:path w="1157754" h="1001392">
                <a:moveTo>
                  <a:pt x="0" y="0"/>
                </a:moveTo>
                <a:lnTo>
                  <a:pt x="1157755" y="0"/>
                </a:lnTo>
                <a:lnTo>
                  <a:pt x="1157755" y="1001392"/>
                </a:lnTo>
                <a:lnTo>
                  <a:pt x="0" y="10013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26" b="-225"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963454" y="6849932"/>
            <a:ext cx="6636810" cy="33357"/>
            <a:chOff x="0" y="0"/>
            <a:chExt cx="8849081" cy="444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849106" cy="44450"/>
            </a:xfrm>
            <a:custGeom>
              <a:avLst/>
              <a:gdLst/>
              <a:ahLst/>
              <a:cxnLst/>
              <a:rect l="l" t="t" r="r" b="b"/>
              <a:pathLst>
                <a:path w="8849106" h="44450">
                  <a:moveTo>
                    <a:pt x="6350" y="0"/>
                  </a:moveTo>
                  <a:lnTo>
                    <a:pt x="8842756" y="31750"/>
                  </a:lnTo>
                  <a:cubicBezTo>
                    <a:pt x="8846313" y="31750"/>
                    <a:pt x="8849106" y="34671"/>
                    <a:pt x="8849106" y="38100"/>
                  </a:cubicBezTo>
                  <a:cubicBezTo>
                    <a:pt x="8849106" y="41529"/>
                    <a:pt x="8846186" y="44450"/>
                    <a:pt x="8842756" y="44450"/>
                  </a:cubicBez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590739" y="6873764"/>
            <a:ext cx="33357" cy="736197"/>
            <a:chOff x="0" y="0"/>
            <a:chExt cx="44475" cy="981596"/>
          </a:xfrm>
        </p:grpSpPr>
        <p:sp>
          <p:nvSpPr>
            <p:cNvPr id="28" name="Freeform 28"/>
            <p:cNvSpPr/>
            <p:nvPr/>
          </p:nvSpPr>
          <p:spPr>
            <a:xfrm>
              <a:off x="-4" y="-4"/>
              <a:ext cx="44458" cy="981591"/>
            </a:xfrm>
            <a:custGeom>
              <a:avLst/>
              <a:gdLst/>
              <a:ahLst/>
              <a:cxnLst/>
              <a:rect l="l" t="t" r="r" b="b"/>
              <a:pathLst>
                <a:path w="44458" h="981591">
                  <a:moveTo>
                    <a:pt x="12704" y="6100"/>
                  </a:moveTo>
                  <a:lnTo>
                    <a:pt x="44454" y="974983"/>
                  </a:lnTo>
                  <a:cubicBezTo>
                    <a:pt x="44581" y="978539"/>
                    <a:pt x="41787" y="981460"/>
                    <a:pt x="38358" y="981587"/>
                  </a:cubicBezTo>
                  <a:cubicBezTo>
                    <a:pt x="34929" y="981714"/>
                    <a:pt x="31881" y="978920"/>
                    <a:pt x="31754" y="975491"/>
                  </a:cubicBezTo>
                  <a:lnTo>
                    <a:pt x="4" y="6608"/>
                  </a:lnTo>
                  <a:cubicBezTo>
                    <a:pt x="-123" y="3052"/>
                    <a:pt x="2671" y="131"/>
                    <a:pt x="6100" y="4"/>
                  </a:cubicBezTo>
                  <a:cubicBezTo>
                    <a:pt x="9529" y="-123"/>
                    <a:pt x="12577" y="2671"/>
                    <a:pt x="12704" y="610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63454" y="1241812"/>
            <a:ext cx="33338" cy="5617645"/>
            <a:chOff x="0" y="0"/>
            <a:chExt cx="44450" cy="749019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4450" cy="7490206"/>
            </a:xfrm>
            <a:custGeom>
              <a:avLst/>
              <a:gdLst/>
              <a:ahLst/>
              <a:cxnLst/>
              <a:rect l="l" t="t" r="r" b="b"/>
              <a:pathLst>
                <a:path w="44450" h="7490206">
                  <a:moveTo>
                    <a:pt x="44450" y="6350"/>
                  </a:moveTo>
                  <a:lnTo>
                    <a:pt x="12700" y="7483856"/>
                  </a:lnTo>
                  <a:cubicBezTo>
                    <a:pt x="12700" y="7487413"/>
                    <a:pt x="9779" y="7490206"/>
                    <a:pt x="6350" y="7490206"/>
                  </a:cubicBezTo>
                  <a:cubicBezTo>
                    <a:pt x="2921" y="7490206"/>
                    <a:pt x="0" y="7487286"/>
                    <a:pt x="0" y="7483856"/>
                  </a:cubicBezTo>
                  <a:lnTo>
                    <a:pt x="31750" y="6350"/>
                  </a:lnTo>
                  <a:cubicBezTo>
                    <a:pt x="31750" y="2794"/>
                    <a:pt x="34671" y="0"/>
                    <a:pt x="38100" y="0"/>
                  </a:cubicBezTo>
                  <a:cubicBezTo>
                    <a:pt x="41529" y="0"/>
                    <a:pt x="44450" y="2921"/>
                    <a:pt x="44450" y="635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2047961" y="996077"/>
            <a:ext cx="6290548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Objet Request </a:t>
            </a:r>
            <a:endParaRPr lang="en-US" sz="810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568625" y="2866444"/>
            <a:ext cx="12728658" cy="388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150" dirty="0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     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Il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permet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d’accéder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à :</a:t>
            </a:r>
            <a:endParaRPr lang="en-US" sz="3150" dirty="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20090" lvl="2" indent="-240030" algn="l">
              <a:lnSpc>
                <a:spcPts val="3780"/>
              </a:lnSpc>
              <a:buFont typeface="Arial" panose="020B0604020202020204"/>
              <a:buChar char="⚬"/>
            </a:pP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req.params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: les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paramètres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présents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dans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l’URL</a:t>
            </a:r>
            <a:endParaRPr lang="en-US" sz="3150" dirty="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20090" lvl="2" indent="-240030" algn="l">
              <a:lnSpc>
                <a:spcPts val="3780"/>
              </a:lnSpc>
              <a:buFont typeface="Arial" panose="020B0604020202020204"/>
              <a:buChar char="⚬"/>
            </a:pP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req.query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: les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données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envoyées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dans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l’URL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sous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forme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de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requête</a:t>
            </a:r>
            <a:endParaRPr lang="en-US" sz="3150" dirty="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20090" lvl="2" indent="-240030" algn="l">
              <a:lnSpc>
                <a:spcPts val="3780"/>
              </a:lnSpc>
              <a:buFont typeface="Arial" panose="020B0604020202020204"/>
              <a:buChar char="⚬"/>
            </a:pP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req.body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: les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données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envoyées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dans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le corps de la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requête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(JSON, </a:t>
            </a:r>
            <a:r>
              <a:rPr lang="en-US" sz="3150" dirty="0" err="1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formulaire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)</a:t>
            </a:r>
            <a:endParaRPr lang="en-US" sz="3150" dirty="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20090" lvl="2" indent="-240030" algn="l">
              <a:lnSpc>
                <a:spcPts val="3780"/>
              </a:lnSpc>
            </a:pP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endParaRPr lang="en-US" sz="3150" dirty="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20090" lvl="2" indent="-240030" algn="l">
              <a:lnSpc>
                <a:spcPts val="3780"/>
              </a:lnSpc>
            </a:pPr>
            <a:r>
              <a:rPr lang="en-US" sz="3150" dirty="0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         </a:t>
            </a:r>
            <a:r>
              <a:rPr lang="en-US" sz="3150" dirty="0" err="1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Cet</a:t>
            </a:r>
            <a:r>
              <a:rPr lang="en-US" sz="3150" dirty="0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objet </a:t>
            </a:r>
            <a:r>
              <a:rPr lang="en-US" sz="3150" dirty="0" err="1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est</a:t>
            </a:r>
            <a:r>
              <a:rPr lang="en-US" sz="3150" dirty="0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3150" dirty="0" err="1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essentiel</a:t>
            </a:r>
            <a:r>
              <a:rPr lang="en-US" sz="3150" dirty="0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pour </a:t>
            </a:r>
            <a:r>
              <a:rPr lang="en-US" sz="3150" dirty="0" err="1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analyser</a:t>
            </a:r>
            <a:r>
              <a:rPr lang="en-US" sz="3150" dirty="0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la </a:t>
            </a:r>
            <a:r>
              <a:rPr lang="en-US" sz="3150" dirty="0" err="1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demande</a:t>
            </a:r>
            <a:r>
              <a:rPr lang="en-US" sz="3150" dirty="0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du client</a:t>
            </a:r>
            <a:r>
              <a:rPr lang="en-US" sz="3150" dirty="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.</a:t>
            </a:r>
            <a:endParaRPr lang="en-US" sz="3150" dirty="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20090" lvl="2" indent="-240030" algn="l">
              <a:lnSpc>
                <a:spcPts val="4385"/>
              </a:lnSpc>
            </a:pPr>
            <a:endParaRPr lang="en-US" sz="3150" dirty="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553200" y="6342059"/>
            <a:ext cx="2133600" cy="37941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1440"/>
              </a:lnSpc>
            </a:pPr>
            <a:endParaRPr lang="en-US" sz="1200" dirty="0">
              <a:solidFill>
                <a:srgbClr val="898989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17286399" y="495043"/>
            <a:ext cx="700002" cy="349996"/>
            <a:chOff x="0" y="0"/>
            <a:chExt cx="933336" cy="4666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20/45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21947" y="2972524"/>
            <a:ext cx="7470191" cy="1280665"/>
            <a:chOff x="0" y="0"/>
            <a:chExt cx="9960254" cy="17075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960229" cy="1707515"/>
            </a:xfrm>
            <a:custGeom>
              <a:avLst/>
              <a:gdLst/>
              <a:ahLst/>
              <a:cxnLst/>
              <a:rect l="l" t="t" r="r" b="b"/>
              <a:pathLst>
                <a:path w="9960229" h="1707515">
                  <a:moveTo>
                    <a:pt x="0" y="0"/>
                  </a:moveTo>
                  <a:lnTo>
                    <a:pt x="9960229" y="0"/>
                  </a:lnTo>
                  <a:lnTo>
                    <a:pt x="9960229" y="1707515"/>
                  </a:lnTo>
                  <a:lnTo>
                    <a:pt x="0" y="1707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22860" r="-22861" b="-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681772" y="2972524"/>
            <a:ext cx="8080867" cy="1280665"/>
            <a:chOff x="0" y="0"/>
            <a:chExt cx="10774490" cy="17075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74426" cy="1707515"/>
            </a:xfrm>
            <a:custGeom>
              <a:avLst/>
              <a:gdLst/>
              <a:ahLst/>
              <a:cxnLst/>
              <a:rect l="l" t="t" r="r" b="b"/>
              <a:pathLst>
                <a:path w="10774426" h="1707515">
                  <a:moveTo>
                    <a:pt x="0" y="0"/>
                  </a:moveTo>
                  <a:lnTo>
                    <a:pt x="10774426" y="0"/>
                  </a:lnTo>
                  <a:lnTo>
                    <a:pt x="10774426" y="1707515"/>
                  </a:lnTo>
                  <a:lnTo>
                    <a:pt x="0" y="1707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354" r="-17355" b="-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296277" y="2952960"/>
            <a:ext cx="4348201" cy="98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35"/>
              </a:lnSpc>
            </a:pPr>
            <a:r>
              <a:rPr lang="en-US" sz="503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req.params</a:t>
            </a:r>
            <a:endParaRPr lang="en-US" sz="503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97342" y="5010150"/>
            <a:ext cx="8346062" cy="234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5"/>
              </a:lnSpc>
            </a:pPr>
            <a:r>
              <a:rPr lang="en-US" sz="364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Permet de récupérer des informations directement depuis l’URL, généralement utilisées pour identifier une ressource précise (comme un identifiant)</a:t>
            </a:r>
            <a:endParaRPr lang="en-US" sz="364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899144" y="3112799"/>
            <a:ext cx="3208430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5"/>
              </a:lnSpc>
            </a:pPr>
            <a:r>
              <a:rPr lang="en-US" sz="433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req.query</a:t>
            </a:r>
            <a:endParaRPr lang="en-US" sz="433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81772" y="4667755"/>
            <a:ext cx="7643174" cy="300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379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  Utilisé pour accéder aux paramètres ajoutés après le symbole </a:t>
            </a:r>
            <a:r>
              <a:rPr lang="en-US" sz="3790" b="1">
                <a:solidFill>
                  <a:srgbClr val="FF3131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? </a:t>
            </a:r>
            <a:r>
              <a:rPr lang="en-US" sz="3790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dans l’URL.Il permet de transmettre des informations supplémentaires pour filtrer ou personnaliser la requête.</a:t>
            </a:r>
            <a:endParaRPr lang="en-US" sz="3790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49269" y="676761"/>
            <a:ext cx="13611349" cy="98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>
                <a:solidFill>
                  <a:srgbClr val="A6A6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Différence entre req.params et req.query</a:t>
            </a:r>
            <a:endParaRPr lang="en-US" sz="5200" b="1">
              <a:solidFill>
                <a:srgbClr val="A6A6A6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6553200" y="6356347"/>
            <a:ext cx="2133600" cy="365122"/>
            <a:chOff x="0" y="0"/>
            <a:chExt cx="2844800" cy="4868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endParaRPr lang="en-US" sz="1200" dirty="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297190" y="571243"/>
            <a:ext cx="700002" cy="349996"/>
            <a:chOff x="0" y="0"/>
            <a:chExt cx="933336" cy="4666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21/45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4" b="-24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64459" y="1176185"/>
            <a:ext cx="7275119" cy="2923642"/>
            <a:chOff x="0" y="0"/>
            <a:chExt cx="9700158" cy="38981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00133" cy="3898138"/>
            </a:xfrm>
            <a:custGeom>
              <a:avLst/>
              <a:gdLst/>
              <a:ahLst/>
              <a:cxnLst/>
              <a:rect l="l" t="t" r="r" b="b"/>
              <a:pathLst>
                <a:path w="9700133" h="3898138">
                  <a:moveTo>
                    <a:pt x="0" y="0"/>
                  </a:moveTo>
                  <a:lnTo>
                    <a:pt x="9700133" y="0"/>
                  </a:lnTo>
                  <a:lnTo>
                    <a:pt x="9700133" y="3898138"/>
                  </a:lnTo>
                  <a:lnTo>
                    <a:pt x="0" y="3898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7794" b="-17795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9144000" y="1215219"/>
            <a:ext cx="8675999" cy="2845565"/>
            <a:chOff x="0" y="0"/>
            <a:chExt cx="11567998" cy="37940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568049" cy="3794125"/>
            </a:xfrm>
            <a:custGeom>
              <a:avLst/>
              <a:gdLst/>
              <a:ahLst/>
              <a:cxnLst/>
              <a:rect l="l" t="t" r="r" b="b"/>
              <a:pathLst>
                <a:path w="11568049" h="3794125">
                  <a:moveTo>
                    <a:pt x="0" y="0"/>
                  </a:moveTo>
                  <a:lnTo>
                    <a:pt x="11568049" y="0"/>
                  </a:lnTo>
                  <a:lnTo>
                    <a:pt x="11568049" y="3794125"/>
                  </a:lnTo>
                  <a:lnTo>
                    <a:pt x="0" y="3794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1701" b="-3170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7119" y="5805326"/>
            <a:ext cx="7402459" cy="2387889"/>
            <a:chOff x="0" y="0"/>
            <a:chExt cx="9869945" cy="31838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869932" cy="3183890"/>
            </a:xfrm>
            <a:custGeom>
              <a:avLst/>
              <a:gdLst/>
              <a:ahLst/>
              <a:cxnLst/>
              <a:rect l="l" t="t" r="r" b="b"/>
              <a:pathLst>
                <a:path w="9869932" h="3183890">
                  <a:moveTo>
                    <a:pt x="0" y="0"/>
                  </a:moveTo>
                  <a:lnTo>
                    <a:pt x="9869932" y="0"/>
                  </a:lnTo>
                  <a:lnTo>
                    <a:pt x="9869932" y="3183890"/>
                  </a:lnTo>
                  <a:lnTo>
                    <a:pt x="0" y="3183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0646" b="-30645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9213647" y="5904824"/>
            <a:ext cx="8536705" cy="2288391"/>
            <a:chOff x="0" y="0"/>
            <a:chExt cx="11382273" cy="30511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382248" cy="3051175"/>
            </a:xfrm>
            <a:custGeom>
              <a:avLst/>
              <a:gdLst/>
              <a:ahLst/>
              <a:cxnLst/>
              <a:rect l="l" t="t" r="r" b="b"/>
              <a:pathLst>
                <a:path w="11382248" h="3051175">
                  <a:moveTo>
                    <a:pt x="0" y="0"/>
                  </a:moveTo>
                  <a:lnTo>
                    <a:pt x="11382248" y="0"/>
                  </a:lnTo>
                  <a:lnTo>
                    <a:pt x="11382248" y="3051175"/>
                  </a:lnTo>
                  <a:lnTo>
                    <a:pt x="0" y="3051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4408" b="-34409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-408622" y="4131345"/>
            <a:ext cx="7975559" cy="103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Capture de l'identifiant via req.params</a:t>
            </a:r>
            <a:endParaRPr lang="en-US" sz="280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.</a:t>
            </a:r>
            <a:endParaRPr lang="en-US" sz="280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4459" y="8288464"/>
            <a:ext cx="7275119" cy="594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Requête ciblée par ID </a:t>
            </a:r>
            <a:endParaRPr lang="en-US" sz="320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44000" y="4131345"/>
            <a:ext cx="8675999" cy="53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Extraction du paramètre via req.query</a:t>
            </a:r>
            <a:endParaRPr lang="en-US" sz="280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750857" y="8259890"/>
            <a:ext cx="7508443" cy="52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Requête avec filtre </a:t>
            </a:r>
            <a:endParaRPr lang="en-US" sz="2700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7286399" y="510921"/>
            <a:ext cx="700002" cy="349996"/>
            <a:chOff x="0" y="0"/>
            <a:chExt cx="933336" cy="46666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22/45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2047961" y="2359466"/>
            <a:ext cx="1014403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sz="2570">
                <a:solidFill>
                  <a:srgbClr val="2980B9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res  est utilisé pour envoyer une réponse du serveur vers le client</a:t>
            </a:r>
            <a:endParaRPr lang="en-US" sz="2570">
              <a:solidFill>
                <a:srgbClr val="2980B9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-5400000">
            <a:off x="4130145" y="8321126"/>
            <a:ext cx="883730" cy="3048000"/>
            <a:chOff x="0" y="0"/>
            <a:chExt cx="1178306" cy="406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8306" cy="4064000"/>
            </a:xfrm>
            <a:custGeom>
              <a:avLst/>
              <a:gdLst/>
              <a:ahLst/>
              <a:cxnLst/>
              <a:rect l="l" t="t" r="r" b="b"/>
              <a:pathLst>
                <a:path w="1178306" h="4064000">
                  <a:moveTo>
                    <a:pt x="0" y="0"/>
                  </a:moveTo>
                  <a:lnTo>
                    <a:pt x="1178306" y="0"/>
                  </a:lnTo>
                  <a:lnTo>
                    <a:pt x="1178306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3" name="Group 13"/>
          <p:cNvGrpSpPr/>
          <p:nvPr/>
        </p:nvGrpSpPr>
        <p:grpSpPr>
          <a:xfrm rot="-5400000">
            <a:off x="6273165" y="7265918"/>
            <a:ext cx="2693670" cy="3048000"/>
            <a:chOff x="0" y="0"/>
            <a:chExt cx="3591560" cy="406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91560" cy="4064000"/>
            </a:xfrm>
            <a:custGeom>
              <a:avLst/>
              <a:gdLst/>
              <a:ahLst/>
              <a:cxnLst/>
              <a:rect l="l" t="t" r="r" b="b"/>
              <a:pathLst>
                <a:path w="3591560" h="4064000">
                  <a:moveTo>
                    <a:pt x="0" y="0"/>
                  </a:moveTo>
                  <a:lnTo>
                    <a:pt x="3591560" y="0"/>
                  </a:lnTo>
                  <a:lnTo>
                    <a:pt x="359156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5" name="Group 15"/>
          <p:cNvGrpSpPr/>
          <p:nvPr/>
        </p:nvGrpSpPr>
        <p:grpSpPr>
          <a:xfrm rot="-5400000">
            <a:off x="9907953" y="8002953"/>
            <a:ext cx="1520095" cy="3048000"/>
            <a:chOff x="0" y="0"/>
            <a:chExt cx="2026793" cy="406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6793" cy="4064000"/>
            </a:xfrm>
            <a:custGeom>
              <a:avLst/>
              <a:gdLst/>
              <a:ahLst/>
              <a:cxnLst/>
              <a:rect l="l" t="t" r="r" b="b"/>
              <a:pathLst>
                <a:path w="2026793" h="4064000">
                  <a:moveTo>
                    <a:pt x="0" y="0"/>
                  </a:moveTo>
                  <a:lnTo>
                    <a:pt x="2026793" y="0"/>
                  </a:lnTo>
                  <a:lnTo>
                    <a:pt x="2026793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17" name="Group 17"/>
          <p:cNvGrpSpPr/>
          <p:nvPr/>
        </p:nvGrpSpPr>
        <p:grpSpPr>
          <a:xfrm rot="-5400000">
            <a:off x="12659011" y="7706011"/>
            <a:ext cx="2113978" cy="3048000"/>
            <a:chOff x="0" y="0"/>
            <a:chExt cx="2818638" cy="406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18638" cy="4064000"/>
            </a:xfrm>
            <a:custGeom>
              <a:avLst/>
              <a:gdLst/>
              <a:ahLst/>
              <a:cxnLst/>
              <a:rect l="l" t="t" r="r" b="b"/>
              <a:pathLst>
                <a:path w="2818638" h="4064000">
                  <a:moveTo>
                    <a:pt x="0" y="0"/>
                  </a:moveTo>
                  <a:lnTo>
                    <a:pt x="2818638" y="0"/>
                  </a:lnTo>
                  <a:lnTo>
                    <a:pt x="2818638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19" name="Group 19"/>
          <p:cNvGrpSpPr/>
          <p:nvPr/>
        </p:nvGrpSpPr>
        <p:grpSpPr>
          <a:xfrm rot="-5400000">
            <a:off x="16272596" y="8271596"/>
            <a:ext cx="982790" cy="3048000"/>
            <a:chOff x="0" y="0"/>
            <a:chExt cx="1310386" cy="406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10386" cy="4064000"/>
            </a:xfrm>
            <a:custGeom>
              <a:avLst/>
              <a:gdLst/>
              <a:ahLst/>
              <a:cxnLst/>
              <a:rect l="l" t="t" r="r" b="b"/>
              <a:pathLst>
                <a:path w="1310386" h="4064000">
                  <a:moveTo>
                    <a:pt x="0" y="0"/>
                  </a:moveTo>
                  <a:lnTo>
                    <a:pt x="1310386" y="0"/>
                  </a:lnTo>
                  <a:lnTo>
                    <a:pt x="1310386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1" name="Group 21"/>
          <p:cNvGrpSpPr/>
          <p:nvPr/>
        </p:nvGrpSpPr>
        <p:grpSpPr>
          <a:xfrm rot="-5400000">
            <a:off x="877072" y="8116052"/>
            <a:ext cx="1293876" cy="3048000"/>
            <a:chOff x="0" y="0"/>
            <a:chExt cx="1725168" cy="4064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25168" cy="4064000"/>
            </a:xfrm>
            <a:custGeom>
              <a:avLst/>
              <a:gdLst/>
              <a:ahLst/>
              <a:cxnLst/>
              <a:rect l="l" t="t" r="r" b="b"/>
              <a:pathLst>
                <a:path w="1725168" h="4064000">
                  <a:moveTo>
                    <a:pt x="0" y="0"/>
                  </a:moveTo>
                  <a:lnTo>
                    <a:pt x="1725168" y="0"/>
                  </a:lnTo>
                  <a:lnTo>
                    <a:pt x="1725168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365238" y="1865052"/>
            <a:ext cx="1157754" cy="1001392"/>
          </a:xfrm>
          <a:custGeom>
            <a:avLst/>
            <a:gdLst/>
            <a:ahLst/>
            <a:cxnLst/>
            <a:rect l="l" t="t" r="r" b="b"/>
            <a:pathLst>
              <a:path w="1157754" h="1001392">
                <a:moveTo>
                  <a:pt x="0" y="0"/>
                </a:moveTo>
                <a:lnTo>
                  <a:pt x="1157755" y="0"/>
                </a:lnTo>
                <a:lnTo>
                  <a:pt x="1157755" y="1001392"/>
                </a:lnTo>
                <a:lnTo>
                  <a:pt x="0" y="10013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26" b="-225"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963454" y="6849932"/>
            <a:ext cx="6636810" cy="33357"/>
            <a:chOff x="0" y="0"/>
            <a:chExt cx="8849081" cy="444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849106" cy="44450"/>
            </a:xfrm>
            <a:custGeom>
              <a:avLst/>
              <a:gdLst/>
              <a:ahLst/>
              <a:cxnLst/>
              <a:rect l="l" t="t" r="r" b="b"/>
              <a:pathLst>
                <a:path w="8849106" h="44450">
                  <a:moveTo>
                    <a:pt x="6350" y="0"/>
                  </a:moveTo>
                  <a:lnTo>
                    <a:pt x="8842756" y="31750"/>
                  </a:lnTo>
                  <a:cubicBezTo>
                    <a:pt x="8846313" y="31750"/>
                    <a:pt x="8849106" y="34671"/>
                    <a:pt x="8849106" y="38100"/>
                  </a:cubicBezTo>
                  <a:cubicBezTo>
                    <a:pt x="8849106" y="41529"/>
                    <a:pt x="8846186" y="44450"/>
                    <a:pt x="8842756" y="44450"/>
                  </a:cubicBez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590739" y="6873764"/>
            <a:ext cx="33357" cy="736197"/>
            <a:chOff x="0" y="0"/>
            <a:chExt cx="44475" cy="981596"/>
          </a:xfrm>
        </p:grpSpPr>
        <p:sp>
          <p:nvSpPr>
            <p:cNvPr id="28" name="Freeform 28"/>
            <p:cNvSpPr/>
            <p:nvPr/>
          </p:nvSpPr>
          <p:spPr>
            <a:xfrm>
              <a:off x="-4" y="-4"/>
              <a:ext cx="44458" cy="981591"/>
            </a:xfrm>
            <a:custGeom>
              <a:avLst/>
              <a:gdLst/>
              <a:ahLst/>
              <a:cxnLst/>
              <a:rect l="l" t="t" r="r" b="b"/>
              <a:pathLst>
                <a:path w="44458" h="981591">
                  <a:moveTo>
                    <a:pt x="12704" y="6100"/>
                  </a:moveTo>
                  <a:lnTo>
                    <a:pt x="44454" y="974983"/>
                  </a:lnTo>
                  <a:cubicBezTo>
                    <a:pt x="44581" y="978539"/>
                    <a:pt x="41787" y="981460"/>
                    <a:pt x="38358" y="981587"/>
                  </a:cubicBezTo>
                  <a:cubicBezTo>
                    <a:pt x="34929" y="981714"/>
                    <a:pt x="31881" y="978920"/>
                    <a:pt x="31754" y="975491"/>
                  </a:cubicBezTo>
                  <a:lnTo>
                    <a:pt x="4" y="6608"/>
                  </a:lnTo>
                  <a:cubicBezTo>
                    <a:pt x="-123" y="3052"/>
                    <a:pt x="2671" y="131"/>
                    <a:pt x="6100" y="4"/>
                  </a:cubicBezTo>
                  <a:cubicBezTo>
                    <a:pt x="9529" y="-123"/>
                    <a:pt x="12577" y="2671"/>
                    <a:pt x="12704" y="610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63454" y="1241812"/>
            <a:ext cx="33338" cy="5617645"/>
            <a:chOff x="0" y="0"/>
            <a:chExt cx="44450" cy="749019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4450" cy="7490206"/>
            </a:xfrm>
            <a:custGeom>
              <a:avLst/>
              <a:gdLst/>
              <a:ahLst/>
              <a:cxnLst/>
              <a:rect l="l" t="t" r="r" b="b"/>
              <a:pathLst>
                <a:path w="44450" h="7490206">
                  <a:moveTo>
                    <a:pt x="44450" y="6350"/>
                  </a:moveTo>
                  <a:lnTo>
                    <a:pt x="12700" y="7483856"/>
                  </a:lnTo>
                  <a:cubicBezTo>
                    <a:pt x="12700" y="7487413"/>
                    <a:pt x="9779" y="7490206"/>
                    <a:pt x="6350" y="7490206"/>
                  </a:cubicBezTo>
                  <a:cubicBezTo>
                    <a:pt x="2921" y="7490206"/>
                    <a:pt x="0" y="7487286"/>
                    <a:pt x="0" y="7483856"/>
                  </a:cubicBezTo>
                  <a:lnTo>
                    <a:pt x="31750" y="6350"/>
                  </a:lnTo>
                  <a:cubicBezTo>
                    <a:pt x="31750" y="2794"/>
                    <a:pt x="34671" y="0"/>
                    <a:pt x="38100" y="0"/>
                  </a:cubicBezTo>
                  <a:cubicBezTo>
                    <a:pt x="41529" y="0"/>
                    <a:pt x="44450" y="2921"/>
                    <a:pt x="44450" y="635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2047961" y="996077"/>
            <a:ext cx="6934562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Objet Response</a:t>
            </a:r>
            <a:endParaRPr lang="en-US" sz="810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047961" y="2885494"/>
            <a:ext cx="12417390" cy="4236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3070">
                <a:solidFill>
                  <a:srgbClr val="1F608B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      Il permet :</a:t>
            </a:r>
            <a:endParaRPr lang="en-US" sz="3070">
              <a:solidFill>
                <a:srgbClr val="1F608B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1675" lvl="2" indent="-233680" algn="l">
              <a:lnSpc>
                <a:spcPts val="3685"/>
              </a:lnSpc>
              <a:buFont typeface="Arial" panose="020B0604020202020204"/>
              <a:buChar char="⚬"/>
            </a:pPr>
            <a:r>
              <a:rPr lang="en-US" sz="3070">
                <a:solidFill>
                  <a:srgbClr val="1F608B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d’envoyer du texte avec res.send()</a:t>
            </a:r>
            <a:endParaRPr lang="en-US" sz="3070">
              <a:solidFill>
                <a:srgbClr val="1F608B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1675" lvl="2" indent="-233680" algn="l">
              <a:lnSpc>
                <a:spcPts val="3685"/>
              </a:lnSpc>
              <a:buFont typeface="Arial" panose="020B0604020202020204"/>
              <a:buChar char="⚬"/>
            </a:pPr>
            <a:r>
              <a:rPr lang="en-US" sz="3070">
                <a:solidFill>
                  <a:srgbClr val="1F608B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d’envoyer des données structurées avec res.json()</a:t>
            </a:r>
            <a:endParaRPr lang="en-US" sz="3070">
              <a:solidFill>
                <a:srgbClr val="1F608B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1675" lvl="2" indent="-233680" algn="l">
              <a:lnSpc>
                <a:spcPts val="3685"/>
              </a:lnSpc>
              <a:buFont typeface="Arial" panose="020B0604020202020204"/>
              <a:buChar char="⚬"/>
            </a:pPr>
            <a:r>
              <a:rPr lang="en-US" sz="3070">
                <a:solidFill>
                  <a:srgbClr val="1F608B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de définir un code de statut avec res.status()</a:t>
            </a:r>
            <a:endParaRPr lang="en-US" sz="3070">
              <a:solidFill>
                <a:srgbClr val="1F608B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1675" lvl="2" indent="-233680" algn="l">
              <a:lnSpc>
                <a:spcPts val="3685"/>
              </a:lnSpc>
            </a:pPr>
            <a:endParaRPr lang="en-US" sz="3070">
              <a:solidFill>
                <a:srgbClr val="1F608B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1675" lvl="2" indent="-233680" algn="l">
              <a:lnSpc>
                <a:spcPts val="3685"/>
              </a:lnSpc>
            </a:pPr>
            <a:r>
              <a:rPr lang="en-US" sz="3070">
                <a:solidFill>
                  <a:srgbClr val="222A35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     Il joue un rôle important pour communiquer le résultat de la requête</a:t>
            </a:r>
            <a:r>
              <a:rPr lang="en-US" sz="3070">
                <a:solidFill>
                  <a:srgbClr val="20639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.</a:t>
            </a:r>
            <a:endParaRPr lang="en-US" sz="307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1675" lvl="2" indent="-233680" algn="l">
              <a:lnSpc>
                <a:spcPts val="3685"/>
              </a:lnSpc>
            </a:pPr>
            <a:endParaRPr lang="en-US" sz="307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1675" lvl="2" indent="-233680" algn="l">
              <a:lnSpc>
                <a:spcPts val="3685"/>
              </a:lnSpc>
            </a:pPr>
            <a:endParaRPr lang="en-US" sz="307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01675" lvl="2" indent="-233680" algn="l">
              <a:lnSpc>
                <a:spcPts val="4280"/>
              </a:lnSpc>
            </a:pPr>
            <a:endParaRPr lang="en-US" sz="3070">
              <a:solidFill>
                <a:srgbClr val="20639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6553200" y="6356347"/>
            <a:ext cx="2133600" cy="365122"/>
            <a:chOff x="0" y="0"/>
            <a:chExt cx="2844800" cy="48682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endParaRPr lang="en-US" sz="1200" dirty="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286399" y="571243"/>
            <a:ext cx="700002" cy="349996"/>
            <a:chOff x="0" y="0"/>
            <a:chExt cx="933336" cy="4666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23/45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89200" y="2722512"/>
            <a:ext cx="16491566" cy="6027039"/>
            <a:chOff x="0" y="0"/>
            <a:chExt cx="21988755" cy="80360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88780" cy="8036052"/>
            </a:xfrm>
            <a:custGeom>
              <a:avLst/>
              <a:gdLst/>
              <a:ahLst/>
              <a:cxnLst/>
              <a:rect l="l" t="t" r="r" b="b"/>
              <a:pathLst>
                <a:path w="21988780" h="8036052">
                  <a:moveTo>
                    <a:pt x="0" y="0"/>
                  </a:moveTo>
                  <a:lnTo>
                    <a:pt x="21988780" y="0"/>
                  </a:lnTo>
                  <a:lnTo>
                    <a:pt x="21988780" y="8036052"/>
                  </a:lnTo>
                  <a:lnTo>
                    <a:pt x="0" y="8036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1776" b="-1177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3460147" y="820817"/>
            <a:ext cx="10034178" cy="103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0"/>
              </a:lnSpc>
            </a:pPr>
            <a:r>
              <a:rPr lang="en-US" sz="5445" b="1">
                <a:solidFill>
                  <a:srgbClr val="80808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Exemple de route </a:t>
            </a:r>
            <a:endParaRPr lang="en-US" sz="5445" b="1">
              <a:solidFill>
                <a:srgbClr val="80808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6553200" y="6356347"/>
            <a:ext cx="2133600" cy="365122"/>
            <a:chOff x="0" y="0"/>
            <a:chExt cx="2844800" cy="4868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endParaRPr lang="en-US" sz="1200" dirty="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286399" y="575691"/>
            <a:ext cx="700002" cy="349996"/>
            <a:chOff x="0" y="0"/>
            <a:chExt cx="933336" cy="4666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24/45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050"/>
            <a:ext cx="18288000" cy="2939282"/>
            <a:chOff x="0" y="0"/>
            <a:chExt cx="24384000" cy="3919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919093"/>
            </a:xfrm>
            <a:custGeom>
              <a:avLst/>
              <a:gdLst/>
              <a:ahLst/>
              <a:cxnLst/>
              <a:rect l="l" t="t" r="r" b="b"/>
              <a:pathLst>
                <a:path w="24384000" h="3919093">
                  <a:moveTo>
                    <a:pt x="0" y="0"/>
                  </a:moveTo>
                  <a:lnTo>
                    <a:pt x="24384000" y="0"/>
                  </a:lnTo>
                  <a:lnTo>
                    <a:pt x="24384000" y="3919093"/>
                  </a:lnTo>
                  <a:lnTo>
                    <a:pt x="0" y="3919093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077498" y="549793"/>
            <a:ext cx="13219043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Synthèse du concept</a:t>
            </a:r>
            <a:endParaRPr lang="en-US" sz="75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19541" y="4538529"/>
            <a:ext cx="17362103" cy="3008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340">
                <a:solidFill>
                  <a:srgbClr val="20639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Le routing est un élément fondamental dans Express.js,il permet de structurer l’application et de gérer efficacement les interactions entre le client et le serveur.</a:t>
            </a:r>
            <a:endParaRPr lang="en-US" sz="3340">
              <a:solidFill>
                <a:srgbClr val="20639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algn="l">
              <a:lnSpc>
                <a:spcPts val="4680"/>
              </a:lnSpc>
            </a:pPr>
            <a:r>
              <a:rPr lang="en-US" sz="3340">
                <a:solidFill>
                  <a:srgbClr val="20639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Grâce aux routes et aux méthodes HTTP, le serveur peut répondre correctement à chaque demande</a:t>
            </a:r>
            <a:endParaRPr lang="en-US" sz="3340">
              <a:solidFill>
                <a:srgbClr val="20639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algn="ctr">
              <a:lnSpc>
                <a:spcPts val="4820"/>
              </a:lnSpc>
            </a:pPr>
            <a:endParaRPr lang="en-US" sz="3340">
              <a:solidFill>
                <a:srgbClr val="20639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7286399" y="510921"/>
            <a:ext cx="700002" cy="349996"/>
            <a:chOff x="0" y="0"/>
            <a:chExt cx="933336" cy="4666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25/45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51144" y="7150465"/>
            <a:ext cx="1493025" cy="21412"/>
            <a:chOff x="0" y="0"/>
            <a:chExt cx="1990700" cy="285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0725" cy="28575"/>
            </a:xfrm>
            <a:custGeom>
              <a:avLst/>
              <a:gdLst/>
              <a:ahLst/>
              <a:cxnLst/>
              <a:rect l="l" t="t" r="r" b="b"/>
              <a:pathLst>
                <a:path w="1990725" h="28575">
                  <a:moveTo>
                    <a:pt x="6350" y="0"/>
                  </a:moveTo>
                  <a:lnTo>
                    <a:pt x="1984375" y="15875"/>
                  </a:lnTo>
                  <a:cubicBezTo>
                    <a:pt x="1987931" y="15875"/>
                    <a:pt x="1990725" y="18796"/>
                    <a:pt x="1990725" y="22225"/>
                  </a:cubicBezTo>
                  <a:cubicBezTo>
                    <a:pt x="1990725" y="25654"/>
                    <a:pt x="1987804" y="28575"/>
                    <a:pt x="1984375" y="28575"/>
                  </a:cubicBez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634653" y="7150465"/>
            <a:ext cx="33347" cy="690562"/>
            <a:chOff x="0" y="0"/>
            <a:chExt cx="44463" cy="920750"/>
          </a:xfrm>
        </p:grpSpPr>
        <p:sp>
          <p:nvSpPr>
            <p:cNvPr id="8" name="Freeform 8"/>
            <p:cNvSpPr/>
            <p:nvPr/>
          </p:nvSpPr>
          <p:spPr>
            <a:xfrm>
              <a:off x="-4" y="-4"/>
              <a:ext cx="44458" cy="920758"/>
            </a:xfrm>
            <a:custGeom>
              <a:avLst/>
              <a:gdLst/>
              <a:ahLst/>
              <a:cxnLst/>
              <a:rect l="l" t="t" r="r" b="b"/>
              <a:pathLst>
                <a:path w="44458" h="920758">
                  <a:moveTo>
                    <a:pt x="12704" y="6100"/>
                  </a:moveTo>
                  <a:lnTo>
                    <a:pt x="44454" y="914150"/>
                  </a:lnTo>
                  <a:cubicBezTo>
                    <a:pt x="44581" y="917706"/>
                    <a:pt x="41787" y="920627"/>
                    <a:pt x="38358" y="920754"/>
                  </a:cubicBezTo>
                  <a:cubicBezTo>
                    <a:pt x="34929" y="920881"/>
                    <a:pt x="31881" y="918087"/>
                    <a:pt x="31754" y="914658"/>
                  </a:cubicBezTo>
                  <a:lnTo>
                    <a:pt x="4" y="6608"/>
                  </a:lnTo>
                  <a:cubicBezTo>
                    <a:pt x="-123" y="3052"/>
                    <a:pt x="2671" y="131"/>
                    <a:pt x="6100" y="4"/>
                  </a:cubicBezTo>
                  <a:cubicBezTo>
                    <a:pt x="9529" y="-123"/>
                    <a:pt x="12577" y="2671"/>
                    <a:pt x="12704" y="610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146381" y="4674965"/>
            <a:ext cx="14288" cy="2484939"/>
            <a:chOff x="0" y="0"/>
            <a:chExt cx="19050" cy="3313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50" cy="3313303"/>
            </a:xfrm>
            <a:custGeom>
              <a:avLst/>
              <a:gdLst/>
              <a:ahLst/>
              <a:cxnLst/>
              <a:rect l="l" t="t" r="r" b="b"/>
              <a:pathLst>
                <a:path w="19050" h="3313303">
                  <a:moveTo>
                    <a:pt x="19050" y="6350"/>
                  </a:moveTo>
                  <a:lnTo>
                    <a:pt x="12700" y="3306953"/>
                  </a:lnTo>
                  <a:cubicBezTo>
                    <a:pt x="12700" y="3310509"/>
                    <a:pt x="9906" y="3313303"/>
                    <a:pt x="6350" y="3313303"/>
                  </a:cubicBezTo>
                  <a:cubicBezTo>
                    <a:pt x="2794" y="3313303"/>
                    <a:pt x="0" y="3310509"/>
                    <a:pt x="0" y="3306953"/>
                  </a:cubicBezTo>
                  <a:lnTo>
                    <a:pt x="6350" y="6350"/>
                  </a:lnTo>
                  <a:cubicBezTo>
                    <a:pt x="6350" y="2794"/>
                    <a:pt x="9144" y="0"/>
                    <a:pt x="12700" y="0"/>
                  </a:cubicBezTo>
                  <a:cubicBezTo>
                    <a:pt x="16256" y="0"/>
                    <a:pt x="19050" y="2794"/>
                    <a:pt x="19050" y="635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-5400000">
            <a:off x="6439310" y="8660844"/>
            <a:ext cx="1128712" cy="2123608"/>
            <a:chOff x="0" y="0"/>
            <a:chExt cx="1504950" cy="28314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04950" cy="2831465"/>
            </a:xfrm>
            <a:custGeom>
              <a:avLst/>
              <a:gdLst/>
              <a:ahLst/>
              <a:cxnLst/>
              <a:rect l="l" t="t" r="r" b="b"/>
              <a:pathLst>
                <a:path w="1504950" h="2831465">
                  <a:moveTo>
                    <a:pt x="0" y="0"/>
                  </a:moveTo>
                  <a:lnTo>
                    <a:pt x="1504950" y="0"/>
                  </a:lnTo>
                  <a:lnTo>
                    <a:pt x="1504950" y="2831465"/>
                  </a:lnTo>
                  <a:lnTo>
                    <a:pt x="0" y="2831465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6" name="Group 16"/>
          <p:cNvGrpSpPr/>
          <p:nvPr/>
        </p:nvGrpSpPr>
        <p:grpSpPr>
          <a:xfrm rot="-5400000">
            <a:off x="8496490" y="8727262"/>
            <a:ext cx="1128712" cy="1990754"/>
            <a:chOff x="0" y="0"/>
            <a:chExt cx="1504950" cy="26543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04950" cy="2654300"/>
            </a:xfrm>
            <a:custGeom>
              <a:avLst/>
              <a:gdLst/>
              <a:ahLst/>
              <a:cxnLst/>
              <a:rect l="l" t="t" r="r" b="b"/>
              <a:pathLst>
                <a:path w="1504950" h="2654300">
                  <a:moveTo>
                    <a:pt x="0" y="0"/>
                  </a:moveTo>
                  <a:lnTo>
                    <a:pt x="1504950" y="0"/>
                  </a:lnTo>
                  <a:lnTo>
                    <a:pt x="1504950" y="2654300"/>
                  </a:lnTo>
                  <a:lnTo>
                    <a:pt x="0" y="26543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8" name="Group 18"/>
          <p:cNvGrpSpPr/>
          <p:nvPr/>
        </p:nvGrpSpPr>
        <p:grpSpPr>
          <a:xfrm rot="-5400000">
            <a:off x="12606833" y="8649519"/>
            <a:ext cx="1128712" cy="2146230"/>
            <a:chOff x="0" y="0"/>
            <a:chExt cx="1504950" cy="2861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04950" cy="2861691"/>
            </a:xfrm>
            <a:custGeom>
              <a:avLst/>
              <a:gdLst/>
              <a:ahLst/>
              <a:cxnLst/>
              <a:rect l="l" t="t" r="r" b="b"/>
              <a:pathLst>
                <a:path w="1504950" h="2861691">
                  <a:moveTo>
                    <a:pt x="0" y="0"/>
                  </a:moveTo>
                  <a:lnTo>
                    <a:pt x="1504950" y="0"/>
                  </a:lnTo>
                  <a:lnTo>
                    <a:pt x="1504950" y="2861691"/>
                  </a:lnTo>
                  <a:lnTo>
                    <a:pt x="0" y="2861691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20" name="Group 20"/>
          <p:cNvGrpSpPr/>
          <p:nvPr/>
        </p:nvGrpSpPr>
        <p:grpSpPr>
          <a:xfrm rot="-5400000">
            <a:off x="16712727" y="8711727"/>
            <a:ext cx="1128712" cy="2021853"/>
            <a:chOff x="0" y="0"/>
            <a:chExt cx="1504950" cy="26958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2" name="Group 22"/>
          <p:cNvGrpSpPr/>
          <p:nvPr/>
        </p:nvGrpSpPr>
        <p:grpSpPr>
          <a:xfrm rot="-5400000">
            <a:off x="406556" y="8738616"/>
            <a:ext cx="1128712" cy="1968094"/>
            <a:chOff x="0" y="0"/>
            <a:chExt cx="1504950" cy="26241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04950" cy="2624074"/>
            </a:xfrm>
            <a:custGeom>
              <a:avLst/>
              <a:gdLst/>
              <a:ahLst/>
              <a:cxnLst/>
              <a:rect l="l" t="t" r="r" b="b"/>
              <a:pathLst>
                <a:path w="1504950" h="2624074">
                  <a:moveTo>
                    <a:pt x="0" y="0"/>
                  </a:moveTo>
                  <a:lnTo>
                    <a:pt x="1504950" y="0"/>
                  </a:lnTo>
                  <a:lnTo>
                    <a:pt x="1504950" y="2624074"/>
                  </a:lnTo>
                  <a:lnTo>
                    <a:pt x="0" y="2624074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24" name="Group 24"/>
          <p:cNvGrpSpPr/>
          <p:nvPr/>
        </p:nvGrpSpPr>
        <p:grpSpPr>
          <a:xfrm rot="-5400000">
            <a:off x="14690865" y="8711717"/>
            <a:ext cx="1128732" cy="2021853"/>
            <a:chOff x="0" y="0"/>
            <a:chExt cx="1504975" cy="26958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6" name="Group 26"/>
          <p:cNvGrpSpPr/>
          <p:nvPr/>
        </p:nvGrpSpPr>
        <p:grpSpPr>
          <a:xfrm rot="-5400000">
            <a:off x="2364877" y="8748351"/>
            <a:ext cx="1128712" cy="1948558"/>
            <a:chOff x="0" y="0"/>
            <a:chExt cx="1504950" cy="259807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04950" cy="2598039"/>
            </a:xfrm>
            <a:custGeom>
              <a:avLst/>
              <a:gdLst/>
              <a:ahLst/>
              <a:cxnLst/>
              <a:rect l="l" t="t" r="r" b="b"/>
              <a:pathLst>
                <a:path w="1504950" h="2598039">
                  <a:moveTo>
                    <a:pt x="0" y="0"/>
                  </a:moveTo>
                  <a:lnTo>
                    <a:pt x="1504950" y="0"/>
                  </a:lnTo>
                  <a:lnTo>
                    <a:pt x="1504950" y="2598039"/>
                  </a:lnTo>
                  <a:lnTo>
                    <a:pt x="0" y="259803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8" name="Group 28"/>
          <p:cNvGrpSpPr/>
          <p:nvPr/>
        </p:nvGrpSpPr>
        <p:grpSpPr>
          <a:xfrm rot="-5400000">
            <a:off x="4358335" y="8703450"/>
            <a:ext cx="1128712" cy="2038350"/>
            <a:chOff x="0" y="0"/>
            <a:chExt cx="1504950" cy="2717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04950" cy="2717800"/>
            </a:xfrm>
            <a:custGeom>
              <a:avLst/>
              <a:gdLst/>
              <a:ahLst/>
              <a:cxnLst/>
              <a:rect l="l" t="t" r="r" b="b"/>
              <a:pathLst>
                <a:path w="1504950" h="2717800">
                  <a:moveTo>
                    <a:pt x="0" y="0"/>
                  </a:moveTo>
                  <a:lnTo>
                    <a:pt x="1504950" y="0"/>
                  </a:lnTo>
                  <a:lnTo>
                    <a:pt x="1504950" y="2717800"/>
                  </a:lnTo>
                  <a:lnTo>
                    <a:pt x="0" y="27178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31" name="Group 31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33" name="Group 33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5" name="Group 35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37" name="Group 37"/>
          <p:cNvGrpSpPr/>
          <p:nvPr/>
        </p:nvGrpSpPr>
        <p:grpSpPr>
          <a:xfrm rot="-5400000">
            <a:off x="16199644" y="8198644"/>
            <a:ext cx="1128712" cy="3048000"/>
            <a:chOff x="0" y="0"/>
            <a:chExt cx="1504950" cy="4064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39" name="Group 39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41" name="Freeform 41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44" name="Group 44"/>
          <p:cNvGrpSpPr/>
          <p:nvPr/>
        </p:nvGrpSpPr>
        <p:grpSpPr>
          <a:xfrm rot="-5400000">
            <a:off x="9919011" y="7631420"/>
            <a:ext cx="2450735" cy="2860415"/>
            <a:chOff x="0" y="0"/>
            <a:chExt cx="3267646" cy="381388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267583" cy="3813937"/>
            </a:xfrm>
            <a:custGeom>
              <a:avLst/>
              <a:gdLst/>
              <a:ahLst/>
              <a:cxnLst/>
              <a:rect l="l" t="t" r="r" b="b"/>
              <a:pathLst>
                <a:path w="3267583" h="3813937">
                  <a:moveTo>
                    <a:pt x="0" y="0"/>
                  </a:moveTo>
                  <a:lnTo>
                    <a:pt x="3267583" y="0"/>
                  </a:lnTo>
                  <a:lnTo>
                    <a:pt x="3267583" y="3813937"/>
                  </a:lnTo>
                  <a:lnTo>
                    <a:pt x="0" y="3813937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5582574" y="2892581"/>
            <a:ext cx="7146655" cy="1454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30"/>
              </a:lnSpc>
            </a:pPr>
            <a:r>
              <a:rPr lang="en-US" sz="9525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Middelware</a:t>
            </a:r>
            <a:endParaRPr lang="en-US" sz="9525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17286399" y="571243"/>
            <a:ext cx="700002" cy="349996"/>
            <a:chOff x="0" y="0"/>
            <a:chExt cx="933336" cy="46666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26/45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050"/>
            <a:ext cx="18288000" cy="2939282"/>
            <a:chOff x="0" y="0"/>
            <a:chExt cx="24384000" cy="3919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919093"/>
            </a:xfrm>
            <a:custGeom>
              <a:avLst/>
              <a:gdLst/>
              <a:ahLst/>
              <a:cxnLst/>
              <a:rect l="l" t="t" r="r" b="b"/>
              <a:pathLst>
                <a:path w="24384000" h="3919093">
                  <a:moveTo>
                    <a:pt x="0" y="0"/>
                  </a:moveTo>
                  <a:lnTo>
                    <a:pt x="24384000" y="0"/>
                  </a:lnTo>
                  <a:lnTo>
                    <a:pt x="24384000" y="3919093"/>
                  </a:lnTo>
                  <a:lnTo>
                    <a:pt x="0" y="3919093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40325" y="473335"/>
            <a:ext cx="14607350" cy="160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5"/>
              </a:lnSpc>
            </a:pPr>
            <a:r>
              <a:rPr lang="en-US" sz="8285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Middleware</a:t>
            </a:r>
            <a:endParaRPr lang="en-US" sz="8285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00566" y="4585926"/>
            <a:ext cx="13895975" cy="2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0"/>
              </a:lnSpc>
            </a:pPr>
            <a:r>
              <a:rPr lang="en-US" sz="3990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Un middleware est une fonction qui reçoit trois paramètres:</a:t>
            </a:r>
            <a:r>
              <a:rPr lang="en-US" sz="3990" b="1">
                <a:solidFill>
                  <a:srgbClr val="1F608B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</a:t>
            </a:r>
            <a:r>
              <a:rPr lang="en-US" sz="3990" b="1">
                <a:solidFill>
                  <a:srgbClr val="20639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req</a:t>
            </a:r>
            <a:r>
              <a:rPr lang="en-US" sz="3990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(la requête),</a:t>
            </a:r>
            <a:r>
              <a:rPr lang="en-US" sz="3990" b="1">
                <a:solidFill>
                  <a:srgbClr val="20639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res</a:t>
            </a:r>
            <a:r>
              <a:rPr lang="en-US" sz="3990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(la réponse) et </a:t>
            </a:r>
            <a:r>
              <a:rPr lang="en-US" sz="3990" b="1">
                <a:solidFill>
                  <a:srgbClr val="20639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next </a:t>
            </a:r>
            <a:r>
              <a:rPr lang="en-US" sz="3990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(la fonction pour passer au middleware suivant). Elle peut lire la requête, la modifier, et décider de continuer ou d'arrêter.</a:t>
            </a:r>
            <a:endParaRPr lang="en-US" sz="3990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36693" y="3723084"/>
            <a:ext cx="10665733" cy="49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230">
                <a:solidFill>
                  <a:srgbClr val="2980B9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Une fonction qui s'exécute entre la requête et la réponse</a:t>
            </a:r>
            <a:endParaRPr lang="en-US" sz="3230">
              <a:solidFill>
                <a:srgbClr val="2980B9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7286399" y="495043"/>
            <a:ext cx="700002" cy="349996"/>
            <a:chOff x="0" y="0"/>
            <a:chExt cx="933336" cy="4666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27/45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89200" y="2104444"/>
            <a:ext cx="11860330" cy="2229622"/>
            <a:chOff x="0" y="0"/>
            <a:chExt cx="15813773" cy="2972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813787" cy="2972816"/>
            </a:xfrm>
            <a:custGeom>
              <a:avLst/>
              <a:gdLst/>
              <a:ahLst/>
              <a:cxnLst/>
              <a:rect l="l" t="t" r="r" b="b"/>
              <a:pathLst>
                <a:path w="15813787" h="2972816">
                  <a:moveTo>
                    <a:pt x="0" y="0"/>
                  </a:moveTo>
                  <a:lnTo>
                    <a:pt x="15813787" y="0"/>
                  </a:lnTo>
                  <a:lnTo>
                    <a:pt x="15813787" y="2972816"/>
                  </a:lnTo>
                  <a:lnTo>
                    <a:pt x="0" y="2972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29" b="-1029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338702" y="484365"/>
            <a:ext cx="13610596" cy="220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Structure d'un Middleware</a:t>
            </a:r>
            <a:endParaRPr lang="en-US" sz="72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8640"/>
              </a:lnSpc>
            </a:pPr>
            <a:endParaRPr lang="en-US" sz="72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0" y="4334066"/>
            <a:ext cx="17280293" cy="285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0"/>
              </a:lnSpc>
            </a:pPr>
          </a:p>
          <a:p>
            <a:pPr marL="870585" lvl="2" indent="-290195" algn="l">
              <a:lnSpc>
                <a:spcPts val="4570"/>
              </a:lnSpc>
              <a:buFont typeface="Arial" panose="020B0604020202020204"/>
              <a:buChar char="⚬"/>
            </a:pPr>
            <a:r>
              <a:rPr lang="en-US" sz="381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req (request) : contient toutes les informations de la requête (body, paramètres, headers…)</a:t>
            </a:r>
            <a:endParaRPr lang="en-US" sz="381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870585" lvl="2" indent="-290195" algn="l">
              <a:lnSpc>
                <a:spcPts val="4570"/>
              </a:lnSpc>
              <a:buFont typeface="Arial" panose="020B0604020202020204"/>
              <a:buChar char="⚬"/>
            </a:pPr>
            <a:r>
              <a:rPr lang="en-US" sz="381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res (response) : permet d’envoyer une réponse au client</a:t>
            </a:r>
            <a:endParaRPr lang="en-US" sz="381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870585" lvl="2" indent="-290195" algn="l">
              <a:lnSpc>
                <a:spcPts val="4570"/>
              </a:lnSpc>
              <a:buFont typeface="Arial" panose="020B0604020202020204"/>
              <a:buChar char="⚬"/>
            </a:pPr>
            <a:r>
              <a:rPr lang="en-US" sz="381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next : fonction qui permet de passer au middleware suivant</a:t>
            </a:r>
            <a:endParaRPr lang="en-US" sz="381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6553200" y="6356347"/>
            <a:ext cx="2133600" cy="365122"/>
            <a:chOff x="0" y="0"/>
            <a:chExt cx="2844800" cy="48682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endParaRPr lang="en-US" sz="1200" dirty="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297190" y="493776"/>
            <a:ext cx="700002" cy="349996"/>
            <a:chOff x="0" y="0"/>
            <a:chExt cx="933336" cy="4666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28/45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70224" y="2607802"/>
            <a:ext cx="12294127" cy="6195346"/>
            <a:chOff x="0" y="0"/>
            <a:chExt cx="16392169" cy="82604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392144" cy="8260461"/>
            </a:xfrm>
            <a:custGeom>
              <a:avLst/>
              <a:gdLst/>
              <a:ahLst/>
              <a:cxnLst/>
              <a:rect l="l" t="t" r="r" b="b"/>
              <a:pathLst>
                <a:path w="16392144" h="8260461">
                  <a:moveTo>
                    <a:pt x="0" y="0"/>
                  </a:moveTo>
                  <a:lnTo>
                    <a:pt x="16392144" y="0"/>
                  </a:lnTo>
                  <a:lnTo>
                    <a:pt x="16392144" y="8260461"/>
                  </a:lnTo>
                  <a:lnTo>
                    <a:pt x="0" y="8260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4792" r="-479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338702" y="-19050"/>
            <a:ext cx="13610596" cy="220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Exemple d’utilisation d’un middleware</a:t>
            </a:r>
            <a:endParaRPr lang="en-US" sz="72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209431" y="2974000"/>
            <a:ext cx="5776912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7725" lvl="2" indent="-282575" algn="l">
              <a:lnSpc>
                <a:spcPts val="4450"/>
              </a:lnSpc>
              <a:buFont typeface="Arial" panose="020B0604020202020204"/>
              <a:buChar char="⚬"/>
            </a:pPr>
            <a:r>
              <a:rPr lang="en-US" sz="371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Le middleware est exécuté avant la route</a:t>
            </a:r>
            <a:endParaRPr lang="en-US" sz="371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209431" y="4730267"/>
            <a:ext cx="641870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7725" lvl="2" indent="-282575" algn="l">
              <a:lnSpc>
                <a:spcPts val="4450"/>
              </a:lnSpc>
              <a:buFont typeface="Arial" panose="020B0604020202020204"/>
              <a:buChar char="⚬"/>
            </a:pPr>
            <a:r>
              <a:rPr lang="en-US" sz="371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La fonction next() permet </a:t>
            </a:r>
            <a:endParaRPr lang="en-US" sz="371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847725" lvl="2" indent="-282575" algn="l">
              <a:lnSpc>
                <a:spcPts val="4450"/>
              </a:lnSpc>
            </a:pPr>
            <a:r>
              <a:rPr lang="en-US" sz="371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      de continuer l’exécution</a:t>
            </a:r>
            <a:endParaRPr lang="en-US" sz="371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9431" y="6486525"/>
            <a:ext cx="6078569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7725" lvl="2" indent="-282575" algn="l">
              <a:lnSpc>
                <a:spcPts val="4450"/>
              </a:lnSpc>
              <a:buFont typeface="Arial" panose="020B0604020202020204"/>
              <a:buChar char="⚬"/>
            </a:pPr>
            <a:r>
              <a:rPr lang="en-US" sz="371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La route renvoie la réponse "Hello</a:t>
            </a:r>
            <a:endParaRPr lang="en-US" sz="371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7297190" y="571243"/>
            <a:ext cx="700002" cy="349996"/>
            <a:chOff x="0" y="0"/>
            <a:chExt cx="933336" cy="4666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29/45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7" name="Group 7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89200" y="1876625"/>
            <a:ext cx="5100628" cy="1002659"/>
            <a:chOff x="0" y="0"/>
            <a:chExt cx="6800837" cy="13368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00850" cy="1336929"/>
            </a:xfrm>
            <a:custGeom>
              <a:avLst/>
              <a:gdLst/>
              <a:ahLst/>
              <a:cxnLst/>
              <a:rect l="l" t="t" r="r" b="b"/>
              <a:pathLst>
                <a:path w="6800850" h="1336929">
                  <a:moveTo>
                    <a:pt x="0" y="0"/>
                  </a:moveTo>
                  <a:lnTo>
                    <a:pt x="6800850" y="0"/>
                  </a:lnTo>
                  <a:lnTo>
                    <a:pt x="6800850" y="1336929"/>
                  </a:lnTo>
                  <a:lnTo>
                    <a:pt x="0" y="133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616" r="-47616" b="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89200" y="2879284"/>
            <a:ext cx="5100628" cy="7493441"/>
            <a:chOff x="0" y="0"/>
            <a:chExt cx="6800837" cy="99912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00850" cy="9991217"/>
            </a:xfrm>
            <a:custGeom>
              <a:avLst/>
              <a:gdLst/>
              <a:ahLst/>
              <a:cxnLst/>
              <a:rect l="l" t="t" r="r" b="b"/>
              <a:pathLst>
                <a:path w="6800850" h="9991217">
                  <a:moveTo>
                    <a:pt x="0" y="0"/>
                  </a:moveTo>
                  <a:lnTo>
                    <a:pt x="6800850" y="0"/>
                  </a:lnTo>
                  <a:lnTo>
                    <a:pt x="6800850" y="9991217"/>
                  </a:lnTo>
                  <a:lnTo>
                    <a:pt x="0" y="9991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118" r="-7118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568625" y="-84058"/>
            <a:ext cx="14946411" cy="220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Les types de Middlewares</a:t>
            </a:r>
            <a:endParaRPr lang="en-US" sz="72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8640"/>
              </a:lnSpc>
            </a:pPr>
            <a:endParaRPr lang="en-US" sz="72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6593681" y="1876625"/>
            <a:ext cx="5100590" cy="1002659"/>
            <a:chOff x="0" y="0"/>
            <a:chExt cx="6800786" cy="13368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00723" cy="1336929"/>
            </a:xfrm>
            <a:custGeom>
              <a:avLst/>
              <a:gdLst/>
              <a:ahLst/>
              <a:cxnLst/>
              <a:rect l="l" t="t" r="r" b="b"/>
              <a:pathLst>
                <a:path w="6800723" h="1336929">
                  <a:moveTo>
                    <a:pt x="0" y="0"/>
                  </a:moveTo>
                  <a:lnTo>
                    <a:pt x="6800723" y="0"/>
                  </a:lnTo>
                  <a:lnTo>
                    <a:pt x="6800723" y="1336929"/>
                  </a:lnTo>
                  <a:lnTo>
                    <a:pt x="0" y="133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618" r="-47619" b="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2606128" y="1876625"/>
            <a:ext cx="5100628" cy="1002659"/>
            <a:chOff x="0" y="0"/>
            <a:chExt cx="6800837" cy="133687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00850" cy="1336929"/>
            </a:xfrm>
            <a:custGeom>
              <a:avLst/>
              <a:gdLst/>
              <a:ahLst/>
              <a:cxnLst/>
              <a:rect l="l" t="t" r="r" b="b"/>
              <a:pathLst>
                <a:path w="6800850" h="1336929">
                  <a:moveTo>
                    <a:pt x="0" y="0"/>
                  </a:moveTo>
                  <a:lnTo>
                    <a:pt x="6800850" y="0"/>
                  </a:lnTo>
                  <a:lnTo>
                    <a:pt x="6800850" y="1336929"/>
                  </a:lnTo>
                  <a:lnTo>
                    <a:pt x="0" y="133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616" r="-47616" b="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593681" y="2879284"/>
            <a:ext cx="5100628" cy="7493441"/>
            <a:chOff x="0" y="0"/>
            <a:chExt cx="6800837" cy="99912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00850" cy="9991217"/>
            </a:xfrm>
            <a:custGeom>
              <a:avLst/>
              <a:gdLst/>
              <a:ahLst/>
              <a:cxnLst/>
              <a:rect l="l" t="t" r="r" b="b"/>
              <a:pathLst>
                <a:path w="6800850" h="9991217">
                  <a:moveTo>
                    <a:pt x="0" y="0"/>
                  </a:moveTo>
                  <a:lnTo>
                    <a:pt x="6800850" y="0"/>
                  </a:lnTo>
                  <a:lnTo>
                    <a:pt x="6800850" y="9991217"/>
                  </a:lnTo>
                  <a:lnTo>
                    <a:pt x="0" y="9991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118" r="-7118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2606128" y="2879284"/>
            <a:ext cx="5100628" cy="7493441"/>
            <a:chOff x="0" y="0"/>
            <a:chExt cx="6800837" cy="999125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00850" cy="9991217"/>
            </a:xfrm>
            <a:custGeom>
              <a:avLst/>
              <a:gdLst/>
              <a:ahLst/>
              <a:cxnLst/>
              <a:rect l="l" t="t" r="r" b="b"/>
              <a:pathLst>
                <a:path w="6800850" h="9991217">
                  <a:moveTo>
                    <a:pt x="0" y="0"/>
                  </a:moveTo>
                  <a:lnTo>
                    <a:pt x="6800850" y="0"/>
                  </a:lnTo>
                  <a:lnTo>
                    <a:pt x="6800850" y="9991217"/>
                  </a:lnTo>
                  <a:lnTo>
                    <a:pt x="0" y="9991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118" r="-7118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2707322" y="8213779"/>
            <a:ext cx="4898241" cy="1771879"/>
            <a:chOff x="0" y="0"/>
            <a:chExt cx="6530988" cy="236250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530975" cy="2362454"/>
            </a:xfrm>
            <a:custGeom>
              <a:avLst/>
              <a:gdLst/>
              <a:ahLst/>
              <a:cxnLst/>
              <a:rect l="l" t="t" r="r" b="b"/>
              <a:pathLst>
                <a:path w="6530975" h="2362454">
                  <a:moveTo>
                    <a:pt x="0" y="0"/>
                  </a:moveTo>
                  <a:lnTo>
                    <a:pt x="6530975" y="0"/>
                  </a:lnTo>
                  <a:lnTo>
                    <a:pt x="6530975" y="2362454"/>
                  </a:lnTo>
                  <a:lnTo>
                    <a:pt x="0" y="2362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524" r="-4525" b="-2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745579" y="8221428"/>
            <a:ext cx="4933702" cy="1764230"/>
            <a:chOff x="0" y="0"/>
            <a:chExt cx="6578270" cy="235230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78219" cy="2352294"/>
            </a:xfrm>
            <a:custGeom>
              <a:avLst/>
              <a:gdLst/>
              <a:ahLst/>
              <a:cxnLst/>
              <a:rect l="l" t="t" r="r" b="b"/>
              <a:pathLst>
                <a:path w="6578219" h="2352294">
                  <a:moveTo>
                    <a:pt x="0" y="0"/>
                  </a:moveTo>
                  <a:lnTo>
                    <a:pt x="6578219" y="0"/>
                  </a:lnTo>
                  <a:lnTo>
                    <a:pt x="6578219" y="2352294"/>
                  </a:lnTo>
                  <a:lnTo>
                    <a:pt x="0" y="2352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899" r="-3900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6710315" y="8213779"/>
            <a:ext cx="4867323" cy="1731940"/>
            <a:chOff x="0" y="0"/>
            <a:chExt cx="6489764" cy="230925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489827" cy="2309241"/>
            </a:xfrm>
            <a:custGeom>
              <a:avLst/>
              <a:gdLst/>
              <a:ahLst/>
              <a:cxnLst/>
              <a:rect l="l" t="t" r="r" b="b"/>
              <a:pathLst>
                <a:path w="6489827" h="2309241">
                  <a:moveTo>
                    <a:pt x="0" y="0"/>
                  </a:moveTo>
                  <a:lnTo>
                    <a:pt x="6489827" y="0"/>
                  </a:lnTo>
                  <a:lnTo>
                    <a:pt x="6489827" y="2309241"/>
                  </a:lnTo>
                  <a:lnTo>
                    <a:pt x="0" y="2309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634" r="-3633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819541" y="2183959"/>
            <a:ext cx="482562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Les Middlewares intégrés </a:t>
            </a:r>
            <a:endParaRPr lang="en-US" sz="3010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629019" y="2183959"/>
            <a:ext cx="482562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Les Middlewares npm</a:t>
            </a:r>
            <a:endParaRPr lang="en-US" sz="3010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707322" y="1920754"/>
            <a:ext cx="476871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Les Middlewares  personnalisés</a:t>
            </a:r>
            <a:endParaRPr lang="en-US" sz="3010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710315" y="3291564"/>
            <a:ext cx="6714763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4110" b="1">
                <a:solidFill>
                  <a:srgbClr val="1F608B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2. Tiers</a:t>
            </a:r>
            <a:endParaRPr lang="en-US" sz="4110" b="1">
              <a:solidFill>
                <a:srgbClr val="1F608B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l">
              <a:lnSpc>
                <a:spcPts val="3610"/>
              </a:lnSpc>
            </a:pPr>
            <a:endParaRPr lang="en-US" sz="4110" b="1">
              <a:solidFill>
                <a:srgbClr val="1F608B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57260" y="3291564"/>
            <a:ext cx="6714763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4110" b="1">
                <a:solidFill>
                  <a:srgbClr val="1F608B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1. Built-in</a:t>
            </a:r>
            <a:endParaRPr lang="en-US" sz="4110" b="1">
              <a:solidFill>
                <a:srgbClr val="1F608B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l">
              <a:lnSpc>
                <a:spcPts val="3610"/>
              </a:lnSpc>
            </a:pPr>
            <a:endParaRPr lang="en-US" sz="4110" b="1">
              <a:solidFill>
                <a:srgbClr val="1F608B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779940" y="3291564"/>
            <a:ext cx="6714763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4110" b="1">
                <a:solidFill>
                  <a:srgbClr val="1F608B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3. Custom</a:t>
            </a:r>
            <a:endParaRPr lang="en-US" sz="4110" b="1">
              <a:solidFill>
                <a:srgbClr val="1F608B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l">
              <a:lnSpc>
                <a:spcPts val="3610"/>
              </a:lnSpc>
            </a:pPr>
            <a:r>
              <a:rPr lang="en-US" sz="301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.</a:t>
            </a:r>
            <a:endParaRPr lang="en-US" sz="301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l">
              <a:lnSpc>
                <a:spcPts val="3610"/>
              </a:lnSpc>
            </a:pPr>
            <a:endParaRPr lang="en-US" sz="301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89200" y="3483731"/>
            <a:ext cx="5007921" cy="4613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5"/>
              </a:lnSpc>
            </a:pPr>
          </a:p>
          <a:p>
            <a:pPr algn="ctr">
              <a:lnSpc>
                <a:spcPts val="4085"/>
              </a:lnSpc>
            </a:pPr>
            <a:r>
              <a:rPr lang="en-US" sz="3405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Fournis directement par Express, prêts à l'emploi:</a:t>
            </a:r>
            <a:endParaRPr lang="en-US" sz="3405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marL="778510" lvl="2" indent="-259715" algn="l">
              <a:lnSpc>
                <a:spcPts val="4085"/>
              </a:lnSpc>
              <a:buFont typeface="Arial" panose="020B0604020202020204"/>
              <a:buChar char="⚬"/>
            </a:pPr>
            <a:r>
              <a:rPr lang="en-US" sz="3405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express.json(): lit le corps JSON</a:t>
            </a:r>
            <a:endParaRPr lang="en-US" sz="3405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marL="778510" lvl="2" indent="-259715" algn="l">
              <a:lnSpc>
                <a:spcPts val="4085"/>
              </a:lnSpc>
              <a:buFont typeface="Arial" panose="020B0604020202020204"/>
              <a:buChar char="⚬"/>
            </a:pPr>
            <a:r>
              <a:rPr lang="en-US" sz="3405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express.urlencode: lit les formulaires</a:t>
            </a:r>
            <a:endParaRPr lang="en-US" sz="3405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marL="778510" lvl="2" indent="-259715" algn="l">
              <a:lnSpc>
                <a:spcPts val="4085"/>
              </a:lnSpc>
              <a:buFont typeface="Arial" panose="020B0604020202020204"/>
              <a:buChar char="⚬"/>
            </a:pPr>
            <a:r>
              <a:rPr lang="en-US" sz="3405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express.static() : sert des fichiers</a:t>
            </a:r>
            <a:endParaRPr lang="en-US" sz="3405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593681" y="3437153"/>
            <a:ext cx="4825670" cy="468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0"/>
              </a:lnSpc>
            </a:pPr>
            <a:endParaRPr dirty="0"/>
          </a:p>
          <a:p>
            <a:pPr algn="ctr">
              <a:lnSpc>
                <a:spcPts val="4110"/>
              </a:lnSpc>
            </a:pP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Installés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via </a:t>
            </a: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npm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, </a:t>
            </a: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très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</a:t>
            </a: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utilisés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</a:t>
            </a: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en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prod :</a:t>
            </a:r>
            <a:endParaRPr lang="en-US" sz="3425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marL="782955" lvl="2" indent="-260985" algn="l">
              <a:lnSpc>
                <a:spcPts val="4110"/>
              </a:lnSpc>
              <a:buFont typeface="Arial" panose="020B0604020202020204"/>
              <a:buChar char="⚬"/>
            </a:pP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cors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: </a:t>
            </a: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gère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les </a:t>
            </a: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accès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cross-origin</a:t>
            </a:r>
            <a:endParaRPr lang="en-US" sz="3425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marL="782955" lvl="2" indent="-260985" algn="l">
              <a:lnSpc>
                <a:spcPts val="4110"/>
              </a:lnSpc>
              <a:buFont typeface="Arial" panose="020B0604020202020204"/>
              <a:buChar char="⚬"/>
            </a:pP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morgan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: logs des </a:t>
            </a: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requêtes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HTTP</a:t>
            </a:r>
            <a:endParaRPr lang="en-US" sz="3425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marL="782955" lvl="2" indent="-260985" algn="l">
              <a:lnSpc>
                <a:spcPts val="4110"/>
              </a:lnSpc>
              <a:buFont typeface="Arial" panose="020B0604020202020204"/>
              <a:buChar char="⚬"/>
            </a:pP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helmet: </a:t>
            </a:r>
            <a:r>
              <a:rPr lang="en-US" sz="3425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sécurité</a:t>
            </a:r>
            <a:r>
              <a:rPr lang="en-US" sz="342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des headers</a:t>
            </a:r>
            <a:endParaRPr lang="en-US" sz="3425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478712" y="3483731"/>
            <a:ext cx="5228044" cy="461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0"/>
              </a:lnSpc>
            </a:pPr>
          </a:p>
          <a:p>
            <a:pPr algn="ctr">
              <a:lnSpc>
                <a:spcPts val="4090"/>
              </a:lnSpc>
            </a:pPr>
            <a:r>
              <a:rPr lang="en-US" sz="3405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Logique métier propre au projet :</a:t>
            </a:r>
            <a:endParaRPr lang="en-US" sz="3405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marL="778510" lvl="2" indent="-259715" algn="l">
              <a:lnSpc>
                <a:spcPts val="4090"/>
              </a:lnSpc>
              <a:buFont typeface="Arial" panose="020B0604020202020204"/>
              <a:buChar char="⚬"/>
            </a:pPr>
            <a:r>
              <a:rPr lang="en-US" sz="3405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Vérifier si l'utilisateur est connecté</a:t>
            </a:r>
            <a:endParaRPr lang="en-US" sz="3405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marL="778510" lvl="2" indent="-259715" algn="l">
              <a:lnSpc>
                <a:spcPts val="4090"/>
              </a:lnSpc>
              <a:buFont typeface="Arial" panose="020B0604020202020204"/>
              <a:buChar char="⚬"/>
            </a:pPr>
            <a:r>
              <a:rPr lang="en-US" sz="3405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Logger les actions dans une BDD</a:t>
            </a:r>
            <a:endParaRPr lang="en-US" sz="3405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marL="778510" lvl="2" indent="-259715" algn="l">
              <a:lnSpc>
                <a:spcPts val="4090"/>
              </a:lnSpc>
              <a:buFont typeface="Arial" panose="020B0604020202020204"/>
              <a:buChar char="⚬"/>
            </a:pPr>
            <a:r>
              <a:rPr lang="en-US" sz="3405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Valider les données entrantes</a:t>
            </a:r>
            <a:endParaRPr lang="en-US" sz="3405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45579" y="8780688"/>
            <a:ext cx="4791932" cy="478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A6A6A6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app.use(express.json());</a:t>
            </a:r>
            <a:endParaRPr lang="en-US" sz="3010" b="1">
              <a:solidFill>
                <a:srgbClr val="A6A6A6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182897" y="8335737"/>
            <a:ext cx="5647230" cy="923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A6A6A6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app.use(cors());                        app.use(morgan('dev'));</a:t>
            </a:r>
            <a:endParaRPr lang="en-US" sz="3010" b="1">
              <a:solidFill>
                <a:srgbClr val="A6A6A6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671060" y="8780688"/>
            <a:ext cx="5035696" cy="44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875" b="1">
                <a:solidFill>
                  <a:srgbClr val="A6A6A6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app.use(verifierConnexion);</a:t>
            </a:r>
            <a:endParaRPr lang="en-US" sz="2875" b="1">
              <a:solidFill>
                <a:srgbClr val="A6A6A6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321914" y="9247727"/>
            <a:ext cx="5872067" cy="47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130" b="1">
                <a:solidFill>
                  <a:srgbClr val="A6A6A6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app.use(helmet());</a:t>
            </a:r>
            <a:endParaRPr lang="en-US" sz="3130" b="1">
              <a:solidFill>
                <a:srgbClr val="A6A6A6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432406" y="1116092"/>
            <a:ext cx="19270589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4110" b="1">
                <a:solidFill>
                  <a:srgbClr val="FF3131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Structure: const nomVariable = require(‘middleware’);</a:t>
            </a:r>
            <a:endParaRPr lang="en-US" sz="4110" b="1">
              <a:solidFill>
                <a:srgbClr val="FF3131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l">
              <a:lnSpc>
                <a:spcPts val="3610"/>
              </a:lnSpc>
            </a:pPr>
            <a:endParaRPr lang="en-US" sz="4110" b="1">
              <a:solidFill>
                <a:srgbClr val="FF3131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6553200" y="6356347"/>
            <a:ext cx="2133600" cy="365122"/>
            <a:chOff x="0" y="0"/>
            <a:chExt cx="2844800" cy="486829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endParaRPr lang="en-US" sz="1200" dirty="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7286399" y="498853"/>
            <a:ext cx="700002" cy="349996"/>
            <a:chOff x="0" y="0"/>
            <a:chExt cx="933336" cy="46666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30/45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104688" y="4237253"/>
            <a:ext cx="10535222" cy="1911077"/>
            <a:chOff x="0" y="0"/>
            <a:chExt cx="14046962" cy="25481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46963" cy="2548128"/>
            </a:xfrm>
            <a:custGeom>
              <a:avLst/>
              <a:gdLst/>
              <a:ahLst/>
              <a:cxnLst/>
              <a:rect l="l" t="t" r="r" b="b"/>
              <a:pathLst>
                <a:path w="14046963" h="2548128">
                  <a:moveTo>
                    <a:pt x="0" y="0"/>
                  </a:moveTo>
                  <a:lnTo>
                    <a:pt x="14046963" y="0"/>
                  </a:lnTo>
                  <a:lnTo>
                    <a:pt x="14046963" y="2548128"/>
                  </a:lnTo>
                  <a:lnTo>
                    <a:pt x="0" y="2548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37" b="-936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037702" y="282683"/>
            <a:ext cx="14212605" cy="116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20"/>
              </a:lnSpc>
            </a:pPr>
            <a:r>
              <a:rPr lang="en-US" sz="752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La gestion des erreurs</a:t>
            </a:r>
            <a:endParaRPr lang="en-US" sz="752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11607" y="1116092"/>
            <a:ext cx="18143763" cy="407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0"/>
              </a:lnSpc>
            </a:pPr>
          </a:p>
          <a:p>
            <a:pPr algn="l">
              <a:lnSpc>
                <a:spcPts val="4570"/>
              </a:lnSpc>
            </a:pPr>
            <a:r>
              <a:rPr lang="en-US" sz="381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La gestion des erreurs en Express permet de traiter les problèmes qui peuvent arriver pendant l’exécution de l’application.</a:t>
            </a:r>
            <a:endParaRPr lang="en-US" sz="381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algn="l">
              <a:lnSpc>
                <a:spcPts val="4570"/>
              </a:lnSpc>
            </a:pPr>
            <a:r>
              <a:rPr lang="en-US" sz="381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On utilise la gestion des erreurs pour éviter que l’application crash et pour envoyer des messages clairs au client.</a:t>
            </a:r>
            <a:endParaRPr lang="en-US" sz="381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algn="l">
              <a:lnSpc>
                <a:spcPts val="4570"/>
              </a:lnSpc>
            </a:pPr>
            <a:endParaRPr lang="en-US" sz="381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algn="l">
              <a:lnSpc>
                <a:spcPts val="5170"/>
              </a:lnSpc>
            </a:pPr>
            <a:r>
              <a:rPr lang="en-US" sz="431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Exemple simple d’erreur :</a:t>
            </a:r>
            <a:endParaRPr lang="en-US" sz="431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21132" y="5649811"/>
            <a:ext cx="18143763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0"/>
              </a:lnSpc>
            </a:pPr>
            <a:endParaRPr dirty="0"/>
          </a:p>
          <a:p>
            <a:pPr algn="l">
              <a:lnSpc>
                <a:spcPts val="4570"/>
              </a:lnSpc>
            </a:pPr>
            <a:endParaRPr dirty="0"/>
          </a:p>
          <a:p>
            <a:pPr algn="l">
              <a:lnSpc>
                <a:spcPts val="5170"/>
              </a:lnSpc>
            </a:pPr>
            <a:r>
              <a:rPr lang="en-US" sz="431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Express </a:t>
            </a:r>
            <a:r>
              <a:rPr lang="en-US" sz="431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utilise</a:t>
            </a:r>
            <a:r>
              <a:rPr lang="en-US" sz="431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un middleware </a:t>
            </a:r>
            <a:r>
              <a:rPr lang="en-US" sz="431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spécial</a:t>
            </a:r>
            <a:r>
              <a:rPr lang="en-US" sz="431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pour </a:t>
            </a:r>
            <a:r>
              <a:rPr lang="en-US" sz="431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gérer</a:t>
            </a:r>
            <a:r>
              <a:rPr lang="en-US" sz="431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les </a:t>
            </a:r>
            <a:r>
              <a:rPr lang="en-US" sz="4310" b="1" dirty="0" err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erreurs</a:t>
            </a:r>
            <a:r>
              <a:rPr lang="en-US" sz="431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:</a:t>
            </a:r>
            <a:endParaRPr lang="en-US" sz="4310" b="1" dirty="0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7297190" y="579501"/>
            <a:ext cx="700002" cy="349996"/>
            <a:chOff x="0" y="0"/>
            <a:chExt cx="933336" cy="4666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31/45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pic>
        <p:nvPicPr>
          <p:cNvPr id="18" name="Imag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688" y="7912679"/>
            <a:ext cx="10542502" cy="1794819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258513" y="7984483"/>
            <a:ext cx="9334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                             </a:t>
            </a:r>
            <a:r>
              <a:rPr lang="fr-FR" sz="3200" dirty="0"/>
              <a:t>•  Capture les exceptions</a:t>
            </a:r>
            <a:endParaRPr lang="fr-FR" sz="3200" dirty="0"/>
          </a:p>
          <a:p>
            <a:r>
              <a:rPr lang="fr-FR" sz="3200" dirty="0"/>
              <a:t>                 •  Évite le crash du serveur</a:t>
            </a:r>
            <a:endParaRPr lang="fr-FR" sz="3200" dirty="0"/>
          </a:p>
          <a:p>
            <a:r>
              <a:rPr lang="fr-FR" sz="3200" dirty="0"/>
              <a:t>                 •  Retourne le code 500</a:t>
            </a:r>
            <a:endParaRPr lang="fr-FR" sz="32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21487" y="1084972"/>
            <a:ext cx="6442882" cy="779737"/>
            <a:chOff x="0" y="0"/>
            <a:chExt cx="8105775" cy="13368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05775" cy="1336929"/>
            </a:xfrm>
            <a:custGeom>
              <a:avLst/>
              <a:gdLst/>
              <a:ahLst/>
              <a:cxnLst/>
              <a:rect l="l" t="t" r="r" b="b"/>
              <a:pathLst>
                <a:path w="8105775" h="1336929">
                  <a:moveTo>
                    <a:pt x="0" y="0"/>
                  </a:moveTo>
                  <a:lnTo>
                    <a:pt x="8105775" y="0"/>
                  </a:lnTo>
                  <a:lnTo>
                    <a:pt x="8105775" y="1336929"/>
                  </a:lnTo>
                  <a:lnTo>
                    <a:pt x="0" y="133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1901" r="-31901" b="3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637574" y="1069801"/>
            <a:ext cx="9306017" cy="1136111"/>
            <a:chOff x="0" y="0"/>
            <a:chExt cx="12323648" cy="18783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323699" cy="1878330"/>
            </a:xfrm>
            <a:custGeom>
              <a:avLst/>
              <a:gdLst/>
              <a:ahLst/>
              <a:cxnLst/>
              <a:rect l="l" t="t" r="r" b="b"/>
              <a:pathLst>
                <a:path w="12323699" h="1878330">
                  <a:moveTo>
                    <a:pt x="0" y="0"/>
                  </a:moveTo>
                  <a:lnTo>
                    <a:pt x="12323699" y="0"/>
                  </a:lnTo>
                  <a:lnTo>
                    <a:pt x="12323699" y="1878330"/>
                  </a:lnTo>
                  <a:lnTo>
                    <a:pt x="0" y="1878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71874" b="-371875"/>
              </a:stretch>
            </a:blipFill>
          </p:spPr>
          <p:txBody>
            <a:bodyPr/>
            <a:lstStyle/>
            <a:p>
              <a:endParaRPr lang="fr-FR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323" y="3149066"/>
            <a:ext cx="6520609" cy="777827"/>
            <a:chOff x="5107" y="-19112"/>
            <a:chExt cx="8091297" cy="1336929"/>
          </a:xfrm>
        </p:grpSpPr>
        <p:sp>
          <p:nvSpPr>
            <p:cNvPr id="15" name="Freeform 15"/>
            <p:cNvSpPr/>
            <p:nvPr/>
          </p:nvSpPr>
          <p:spPr>
            <a:xfrm>
              <a:off x="5107" y="-19112"/>
              <a:ext cx="8091297" cy="1336929"/>
            </a:xfrm>
            <a:custGeom>
              <a:avLst/>
              <a:gdLst/>
              <a:ahLst/>
              <a:cxnLst/>
              <a:rect l="l" t="t" r="r" b="b"/>
              <a:pathLst>
                <a:path w="8091297" h="1336929">
                  <a:moveTo>
                    <a:pt x="0" y="0"/>
                  </a:moveTo>
                  <a:lnTo>
                    <a:pt x="8091297" y="0"/>
                  </a:lnTo>
                  <a:lnTo>
                    <a:pt x="8091297" y="1336929"/>
                  </a:lnTo>
                  <a:lnTo>
                    <a:pt x="0" y="133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2048" r="-32048" b="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557342" y="5650215"/>
            <a:ext cx="6520609" cy="816802"/>
            <a:chOff x="0" y="0"/>
            <a:chExt cx="8061160" cy="133687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061198" cy="1336929"/>
            </a:xfrm>
            <a:custGeom>
              <a:avLst/>
              <a:gdLst/>
              <a:ahLst/>
              <a:cxnLst/>
              <a:rect l="l" t="t" r="r" b="b"/>
              <a:pathLst>
                <a:path w="8061198" h="1336929">
                  <a:moveTo>
                    <a:pt x="0" y="0"/>
                  </a:moveTo>
                  <a:lnTo>
                    <a:pt x="8061198" y="0"/>
                  </a:lnTo>
                  <a:lnTo>
                    <a:pt x="8061198" y="1336929"/>
                  </a:lnTo>
                  <a:lnTo>
                    <a:pt x="0" y="133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2355" r="-32354" b="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700818" y="3168574"/>
            <a:ext cx="9242736" cy="1170094"/>
            <a:chOff x="0" y="0"/>
            <a:chExt cx="12323648" cy="19365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23699" cy="1936623"/>
            </a:xfrm>
            <a:custGeom>
              <a:avLst/>
              <a:gdLst/>
              <a:ahLst/>
              <a:cxnLst/>
              <a:rect l="l" t="t" r="r" b="b"/>
              <a:pathLst>
                <a:path w="12323699" h="1936623">
                  <a:moveTo>
                    <a:pt x="0" y="0"/>
                  </a:moveTo>
                  <a:lnTo>
                    <a:pt x="12323699" y="0"/>
                  </a:lnTo>
                  <a:lnTo>
                    <a:pt x="12323699" y="1936623"/>
                  </a:lnTo>
                  <a:lnTo>
                    <a:pt x="0" y="1936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59177" b="-359175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6675704" y="5634845"/>
            <a:ext cx="9559957" cy="1116446"/>
            <a:chOff x="0" y="0"/>
            <a:chExt cx="12746609" cy="16958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746609" cy="1695831"/>
            </a:xfrm>
            <a:custGeom>
              <a:avLst/>
              <a:gdLst/>
              <a:ahLst/>
              <a:cxnLst/>
              <a:rect l="l" t="t" r="r" b="b"/>
              <a:pathLst>
                <a:path w="12746609" h="1695831">
                  <a:moveTo>
                    <a:pt x="0" y="0"/>
                  </a:moveTo>
                  <a:lnTo>
                    <a:pt x="12746609" y="0"/>
                  </a:lnTo>
                  <a:lnTo>
                    <a:pt x="12746609" y="1695831"/>
                  </a:lnTo>
                  <a:lnTo>
                    <a:pt x="0" y="1695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33311" b="-433314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7064369" y="2233564"/>
            <a:ext cx="10308374" cy="738454"/>
            <a:chOff x="0" y="0"/>
            <a:chExt cx="13744499" cy="113437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744448" cy="1134364"/>
            </a:xfrm>
            <a:custGeom>
              <a:avLst/>
              <a:gdLst/>
              <a:ahLst/>
              <a:cxnLst/>
              <a:rect l="l" t="t" r="r" b="b"/>
              <a:pathLst>
                <a:path w="13744448" h="1134364">
                  <a:moveTo>
                    <a:pt x="0" y="0"/>
                  </a:moveTo>
                  <a:lnTo>
                    <a:pt x="13744448" y="0"/>
                  </a:lnTo>
                  <a:lnTo>
                    <a:pt x="13744448" y="1134364"/>
                  </a:lnTo>
                  <a:lnTo>
                    <a:pt x="0" y="1134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7118845" y="6751257"/>
            <a:ext cx="10308335" cy="1459440"/>
            <a:chOff x="0" y="0"/>
            <a:chExt cx="13994206" cy="19459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994257" cy="1945894"/>
            </a:xfrm>
            <a:custGeom>
              <a:avLst/>
              <a:gdLst/>
              <a:ahLst/>
              <a:cxnLst/>
              <a:rect l="l" t="t" r="r" b="b"/>
              <a:pathLst>
                <a:path w="13994257" h="1945894">
                  <a:moveTo>
                    <a:pt x="0" y="0"/>
                  </a:moveTo>
                  <a:lnTo>
                    <a:pt x="13994257" y="0"/>
                  </a:lnTo>
                  <a:lnTo>
                    <a:pt x="13994257" y="1945894"/>
                  </a:lnTo>
                  <a:lnTo>
                    <a:pt x="0" y="1945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692" b="-693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798252" y="-21743"/>
            <a:ext cx="16574491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dirty="0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Les codes d’état HTTP </a:t>
            </a:r>
            <a:endParaRPr lang="en-US" sz="7200" b="1" dirty="0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08679" y="1149489"/>
            <a:ext cx="5224308" cy="557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95"/>
              </a:lnSpc>
            </a:pPr>
            <a:r>
              <a:rPr lang="en-US" sz="3745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Code 200 — Succès</a:t>
            </a:r>
            <a:endParaRPr lang="en-US" sz="3745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52233" y="3311576"/>
            <a:ext cx="5564143" cy="508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5"/>
              </a:lnSpc>
            </a:pPr>
            <a:r>
              <a:rPr lang="en-US" sz="347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Code 404  — Not Found</a:t>
            </a:r>
            <a:endParaRPr lang="en-US" sz="3470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30255" y="5717428"/>
            <a:ext cx="5645163" cy="534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25"/>
              </a:lnSpc>
            </a:pPr>
            <a:r>
              <a:rPr lang="en-US" sz="352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Code 500  — </a:t>
            </a:r>
            <a:r>
              <a:rPr lang="en-US" sz="3520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Erreur</a:t>
            </a:r>
            <a:r>
              <a:rPr lang="en-US" sz="352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</a:t>
            </a:r>
            <a:r>
              <a:rPr lang="en-US" sz="3520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serveur</a:t>
            </a:r>
            <a:endParaRPr lang="en-US" sz="3520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637573" y="1041603"/>
            <a:ext cx="11444073" cy="1045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8510" lvl="2" indent="-259715" algn="l">
              <a:lnSpc>
                <a:spcPts val="4085"/>
              </a:lnSpc>
              <a:buFont typeface="Arial" panose="020B0604020202020204"/>
              <a:buChar char="⚬"/>
            </a:pP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Requête</a:t>
            </a:r>
            <a:r>
              <a:rPr lang="en-US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traitée</a:t>
            </a:r>
            <a:r>
              <a:rPr lang="en-US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avec succès</a:t>
            </a:r>
            <a:endParaRPr lang="en-US" sz="2800" dirty="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78510" lvl="2" indent="-259715" algn="l">
              <a:lnSpc>
                <a:spcPts val="4085"/>
              </a:lnSpc>
              <a:buFont typeface="Arial" panose="020B0604020202020204"/>
              <a:buChar char="⚬"/>
            </a:pP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Réponse</a:t>
            </a:r>
            <a:r>
              <a:rPr lang="en-US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correcte</a:t>
            </a:r>
            <a:r>
              <a:rPr lang="en-US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du </a:t>
            </a: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serveur</a:t>
            </a:r>
            <a:endParaRPr lang="en-US" sz="2800" dirty="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637575" y="3185415"/>
            <a:ext cx="7232685" cy="155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5970" lvl="2" indent="-258445" algn="l">
              <a:lnSpc>
                <a:spcPts val="4070"/>
              </a:lnSpc>
              <a:buFont typeface="Arial" panose="020B0604020202020204"/>
              <a:buChar char="⚬"/>
            </a:pPr>
            <a:r>
              <a:rPr lang="en-US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Route </a:t>
            </a: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ou</a:t>
            </a:r>
            <a:r>
              <a:rPr lang="en-US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ressource</a:t>
            </a:r>
            <a:r>
              <a:rPr lang="en-US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introuvable</a:t>
            </a:r>
            <a:endParaRPr lang="en-US" sz="2800" dirty="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75970" lvl="2" indent="-258445" algn="l">
              <a:lnSpc>
                <a:spcPts val="4070"/>
              </a:lnSpc>
              <a:buFont typeface="Arial" panose="020B0604020202020204"/>
              <a:buChar char="⚬"/>
            </a:pPr>
            <a:r>
              <a:rPr lang="en-US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URL </a:t>
            </a: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incorrecte</a:t>
            </a:r>
            <a:endParaRPr lang="en-US" sz="2800" dirty="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75970" lvl="2" indent="-258445" algn="l">
              <a:lnSpc>
                <a:spcPts val="4070"/>
              </a:lnSpc>
            </a:pPr>
            <a:endParaRPr lang="en-US" sz="3395" dirty="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700779" y="5603692"/>
            <a:ext cx="10671924" cy="98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7715" lvl="2" indent="-255905" algn="l">
              <a:lnSpc>
                <a:spcPts val="4030"/>
              </a:lnSpc>
              <a:buFont typeface="Arial" panose="020B0604020202020204"/>
              <a:buChar char="⚬"/>
            </a:pP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Erreur</a:t>
            </a:r>
            <a:r>
              <a:rPr lang="en-US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interne du </a:t>
            </a: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serveur</a:t>
            </a:r>
            <a:endParaRPr lang="en-US" sz="2800" dirty="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67715" lvl="2" indent="-255905" algn="l">
              <a:lnSpc>
                <a:spcPts val="4030"/>
              </a:lnSpc>
              <a:buFont typeface="Arial" panose="020B0604020202020204"/>
              <a:buChar char="⚬"/>
            </a:pPr>
            <a:r>
              <a:rPr lang="en-US" sz="2800" dirty="0" err="1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Problème</a:t>
            </a:r>
            <a:r>
              <a:rPr lang="en-US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 dans le code</a:t>
            </a:r>
            <a:endParaRPr lang="en-US" sz="2800" dirty="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17297190" y="495043"/>
            <a:ext cx="700002" cy="349996"/>
            <a:chOff x="0" y="0"/>
            <a:chExt cx="933336" cy="46666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32/45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pic>
        <p:nvPicPr>
          <p:cNvPr id="36" name="Image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4368" y="4325999"/>
            <a:ext cx="10308335" cy="1071302"/>
          </a:xfrm>
          <a:prstGeom prst="rect">
            <a:avLst/>
          </a:prstGeom>
        </p:spPr>
      </p:pic>
      <p:grpSp>
        <p:nvGrpSpPr>
          <p:cNvPr id="37" name="Group 16"/>
          <p:cNvGrpSpPr/>
          <p:nvPr/>
        </p:nvGrpSpPr>
        <p:grpSpPr>
          <a:xfrm>
            <a:off x="598236" y="8471174"/>
            <a:ext cx="6520609" cy="816802"/>
            <a:chOff x="0" y="0"/>
            <a:chExt cx="8061160" cy="1336878"/>
          </a:xfrm>
        </p:grpSpPr>
        <p:sp>
          <p:nvSpPr>
            <p:cNvPr id="41" name="Freeform 17"/>
            <p:cNvSpPr/>
            <p:nvPr/>
          </p:nvSpPr>
          <p:spPr>
            <a:xfrm>
              <a:off x="0" y="0"/>
              <a:ext cx="8061198" cy="1336929"/>
            </a:xfrm>
            <a:custGeom>
              <a:avLst/>
              <a:gdLst/>
              <a:ahLst/>
              <a:cxnLst/>
              <a:rect l="l" t="t" r="r" b="b"/>
              <a:pathLst>
                <a:path w="8061198" h="1336929">
                  <a:moveTo>
                    <a:pt x="0" y="0"/>
                  </a:moveTo>
                  <a:lnTo>
                    <a:pt x="8061198" y="0"/>
                  </a:lnTo>
                  <a:lnTo>
                    <a:pt x="8061198" y="1336929"/>
                  </a:lnTo>
                  <a:lnTo>
                    <a:pt x="0" y="133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2355" r="-32354" b="3"/>
              </a:stretch>
            </a:blipFill>
          </p:spPr>
        </p:sp>
      </p:grpSp>
      <p:grpSp>
        <p:nvGrpSpPr>
          <p:cNvPr id="44" name="Group 20"/>
          <p:cNvGrpSpPr/>
          <p:nvPr/>
        </p:nvGrpSpPr>
        <p:grpSpPr>
          <a:xfrm>
            <a:off x="6700779" y="8471174"/>
            <a:ext cx="9559957" cy="985447"/>
            <a:chOff x="0" y="0"/>
            <a:chExt cx="12746609" cy="1695882"/>
          </a:xfrm>
        </p:grpSpPr>
        <p:sp>
          <p:nvSpPr>
            <p:cNvPr id="45" name="Freeform 21"/>
            <p:cNvSpPr/>
            <p:nvPr/>
          </p:nvSpPr>
          <p:spPr>
            <a:xfrm>
              <a:off x="0" y="0"/>
              <a:ext cx="12746609" cy="1695831"/>
            </a:xfrm>
            <a:custGeom>
              <a:avLst/>
              <a:gdLst/>
              <a:ahLst/>
              <a:cxnLst/>
              <a:rect l="l" t="t" r="r" b="b"/>
              <a:pathLst>
                <a:path w="12746609" h="1695831">
                  <a:moveTo>
                    <a:pt x="0" y="0"/>
                  </a:moveTo>
                  <a:lnTo>
                    <a:pt x="12746609" y="0"/>
                  </a:lnTo>
                  <a:lnTo>
                    <a:pt x="12746609" y="1695831"/>
                  </a:lnTo>
                  <a:lnTo>
                    <a:pt x="0" y="1695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33311" b="-433314"/>
              </a:stretch>
            </a:blipFill>
          </p:spPr>
        </p:sp>
      </p:grpSp>
      <p:sp>
        <p:nvSpPr>
          <p:cNvPr id="48" name="TextBox 34"/>
          <p:cNvSpPr txBox="1"/>
          <p:nvPr/>
        </p:nvSpPr>
        <p:spPr>
          <a:xfrm>
            <a:off x="6684449" y="8398123"/>
            <a:ext cx="10671924" cy="98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7715" lvl="2" indent="-255905">
              <a:lnSpc>
                <a:spcPts val="4030"/>
              </a:lnSpc>
              <a:buFont typeface="Arial" panose="020B0604020202020204"/>
              <a:buChar char="⚬"/>
            </a:pPr>
            <a:r>
              <a:rPr lang="fr-FR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Ressource déplacée ou redirection</a:t>
            </a:r>
            <a:endParaRPr lang="fr-FR" sz="2800" dirty="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767715" lvl="2" indent="-255905">
              <a:lnSpc>
                <a:spcPts val="4030"/>
              </a:lnSpc>
              <a:buFont typeface="Arial" panose="020B0604020202020204"/>
              <a:buChar char="⚬"/>
            </a:pPr>
            <a:r>
              <a:rPr lang="fr-FR" sz="2800" dirty="0">
                <a:solidFill>
                  <a:srgbClr val="00000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Le client doit effectuer une autre action / URL</a:t>
            </a:r>
            <a:endParaRPr lang="en-US" sz="2800" dirty="0">
              <a:solidFill>
                <a:srgbClr val="00000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-719164" y="8548119"/>
            <a:ext cx="9144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5"/>
              </a:lnSpc>
            </a:pPr>
            <a:r>
              <a:rPr lang="en-US" sz="360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Code 300  — Redirection</a:t>
            </a:r>
            <a:endParaRPr lang="en-US" sz="3600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pic>
        <p:nvPicPr>
          <p:cNvPr id="53" name="Imag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8845" y="9433645"/>
            <a:ext cx="10237528" cy="78115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8" name="Group 8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53021" y="5438352"/>
            <a:ext cx="11616242" cy="4416904"/>
            <a:chOff x="0" y="0"/>
            <a:chExt cx="15488323" cy="58892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488286" cy="5889244"/>
            </a:xfrm>
            <a:custGeom>
              <a:avLst/>
              <a:gdLst/>
              <a:ahLst/>
              <a:cxnLst/>
              <a:rect l="l" t="t" r="r" b="b"/>
              <a:pathLst>
                <a:path w="15488286" h="5889244">
                  <a:moveTo>
                    <a:pt x="0" y="0"/>
                  </a:moveTo>
                  <a:lnTo>
                    <a:pt x="15488286" y="0"/>
                  </a:lnTo>
                  <a:lnTo>
                    <a:pt x="15488286" y="5889244"/>
                  </a:lnTo>
                  <a:lnTo>
                    <a:pt x="0" y="5889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78" b="-378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541030" y="11192"/>
            <a:ext cx="16752446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0"/>
              </a:lnSpc>
            </a:pPr>
            <a:r>
              <a:rPr lang="en-US" sz="6700" b="1">
                <a:solidFill>
                  <a:srgbClr val="80808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Exemple de gestion des erreurs </a:t>
            </a:r>
            <a:endParaRPr lang="en-US" sz="6700" b="1">
              <a:solidFill>
                <a:srgbClr val="80808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869293" y="2895600"/>
            <a:ext cx="6418707" cy="449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</a:pPr>
          </a:p>
          <a:p>
            <a:pPr marL="847725" lvl="2" indent="-282575" algn="l">
              <a:lnSpc>
                <a:spcPts val="4450"/>
              </a:lnSpc>
              <a:buFont typeface="Arial" panose="020B0604020202020204"/>
              <a:buChar char="⚬"/>
            </a:pPr>
            <a:r>
              <a:rPr lang="en-US" sz="371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Une erreur est générée dans la route</a:t>
            </a:r>
            <a:endParaRPr lang="en-US" sz="371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847725" lvl="2" indent="-282575" algn="l">
              <a:lnSpc>
                <a:spcPts val="4450"/>
              </a:lnSpc>
              <a:buFont typeface="Arial" panose="020B0604020202020204"/>
              <a:buChar char="⚬"/>
            </a:pPr>
            <a:r>
              <a:rPr lang="en-US" sz="371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Le middleware d’erreur capture cette erreur</a:t>
            </a:r>
            <a:endParaRPr lang="en-US" sz="371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847725" lvl="2" indent="-282575" algn="l">
              <a:lnSpc>
                <a:spcPts val="4450"/>
              </a:lnSpc>
              <a:buFont typeface="Arial" panose="020B0604020202020204"/>
              <a:buChar char="⚬"/>
            </a:pPr>
            <a:r>
              <a:rPr lang="en-US" sz="3710">
                <a:solidFill>
                  <a:srgbClr val="808080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Une réponse avec le code 500 est envoyée</a:t>
            </a:r>
            <a:endParaRPr lang="en-US" sz="371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  <a:p>
            <a:pPr marL="847725" lvl="2" indent="-282575" algn="l">
              <a:lnSpc>
                <a:spcPts val="4450"/>
              </a:lnSpc>
            </a:pPr>
            <a:endParaRPr lang="en-US" sz="3710">
              <a:solidFill>
                <a:srgbClr val="808080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53200" y="6342059"/>
            <a:ext cx="2133600" cy="37941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1440"/>
              </a:lnSpc>
            </a:pPr>
            <a:endParaRPr lang="en-US" sz="1200" dirty="0">
              <a:solidFill>
                <a:srgbClr val="898989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7286399" y="510921"/>
            <a:ext cx="700002" cy="349996"/>
            <a:chOff x="0" y="0"/>
            <a:chExt cx="933336" cy="4666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33/45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pic>
        <p:nvPicPr>
          <p:cNvPr id="25" name="Imag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720" y="1485900"/>
            <a:ext cx="11603515" cy="395245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51144" y="7150465"/>
            <a:ext cx="1493025" cy="21412"/>
            <a:chOff x="0" y="0"/>
            <a:chExt cx="1990700" cy="285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0725" cy="28575"/>
            </a:xfrm>
            <a:custGeom>
              <a:avLst/>
              <a:gdLst/>
              <a:ahLst/>
              <a:cxnLst/>
              <a:rect l="l" t="t" r="r" b="b"/>
              <a:pathLst>
                <a:path w="1990725" h="28575">
                  <a:moveTo>
                    <a:pt x="6350" y="0"/>
                  </a:moveTo>
                  <a:lnTo>
                    <a:pt x="1984375" y="15875"/>
                  </a:lnTo>
                  <a:cubicBezTo>
                    <a:pt x="1987931" y="15875"/>
                    <a:pt x="1990725" y="18796"/>
                    <a:pt x="1990725" y="22225"/>
                  </a:cubicBezTo>
                  <a:cubicBezTo>
                    <a:pt x="1990725" y="25654"/>
                    <a:pt x="1987804" y="28575"/>
                    <a:pt x="1984375" y="28575"/>
                  </a:cubicBez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634653" y="7150465"/>
            <a:ext cx="33347" cy="690562"/>
            <a:chOff x="0" y="0"/>
            <a:chExt cx="44463" cy="920750"/>
          </a:xfrm>
        </p:grpSpPr>
        <p:sp>
          <p:nvSpPr>
            <p:cNvPr id="8" name="Freeform 8"/>
            <p:cNvSpPr/>
            <p:nvPr/>
          </p:nvSpPr>
          <p:spPr>
            <a:xfrm>
              <a:off x="-4" y="-4"/>
              <a:ext cx="44458" cy="920758"/>
            </a:xfrm>
            <a:custGeom>
              <a:avLst/>
              <a:gdLst/>
              <a:ahLst/>
              <a:cxnLst/>
              <a:rect l="l" t="t" r="r" b="b"/>
              <a:pathLst>
                <a:path w="44458" h="920758">
                  <a:moveTo>
                    <a:pt x="12704" y="6100"/>
                  </a:moveTo>
                  <a:lnTo>
                    <a:pt x="44454" y="914150"/>
                  </a:lnTo>
                  <a:cubicBezTo>
                    <a:pt x="44581" y="917706"/>
                    <a:pt x="41787" y="920627"/>
                    <a:pt x="38358" y="920754"/>
                  </a:cubicBezTo>
                  <a:cubicBezTo>
                    <a:pt x="34929" y="920881"/>
                    <a:pt x="31881" y="918087"/>
                    <a:pt x="31754" y="914658"/>
                  </a:cubicBezTo>
                  <a:lnTo>
                    <a:pt x="4" y="6608"/>
                  </a:lnTo>
                  <a:cubicBezTo>
                    <a:pt x="-123" y="3052"/>
                    <a:pt x="2671" y="131"/>
                    <a:pt x="6100" y="4"/>
                  </a:cubicBezTo>
                  <a:cubicBezTo>
                    <a:pt x="9529" y="-123"/>
                    <a:pt x="12577" y="2671"/>
                    <a:pt x="12704" y="610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146381" y="4674965"/>
            <a:ext cx="14288" cy="2484939"/>
            <a:chOff x="0" y="0"/>
            <a:chExt cx="19050" cy="3313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050" cy="3313303"/>
            </a:xfrm>
            <a:custGeom>
              <a:avLst/>
              <a:gdLst/>
              <a:ahLst/>
              <a:cxnLst/>
              <a:rect l="l" t="t" r="r" b="b"/>
              <a:pathLst>
                <a:path w="19050" h="3313303">
                  <a:moveTo>
                    <a:pt x="19050" y="6350"/>
                  </a:moveTo>
                  <a:lnTo>
                    <a:pt x="12700" y="3306953"/>
                  </a:lnTo>
                  <a:cubicBezTo>
                    <a:pt x="12700" y="3310509"/>
                    <a:pt x="9906" y="3313303"/>
                    <a:pt x="6350" y="3313303"/>
                  </a:cubicBezTo>
                  <a:cubicBezTo>
                    <a:pt x="2794" y="3313303"/>
                    <a:pt x="0" y="3310509"/>
                    <a:pt x="0" y="3306953"/>
                  </a:cubicBezTo>
                  <a:lnTo>
                    <a:pt x="6350" y="6350"/>
                  </a:lnTo>
                  <a:cubicBezTo>
                    <a:pt x="6350" y="2794"/>
                    <a:pt x="9144" y="0"/>
                    <a:pt x="12700" y="0"/>
                  </a:cubicBezTo>
                  <a:cubicBezTo>
                    <a:pt x="16256" y="0"/>
                    <a:pt x="19050" y="2794"/>
                    <a:pt x="19050" y="635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-5400000">
            <a:off x="6439310" y="8660844"/>
            <a:ext cx="1128712" cy="2123608"/>
            <a:chOff x="0" y="0"/>
            <a:chExt cx="1504950" cy="28314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04950" cy="2831465"/>
            </a:xfrm>
            <a:custGeom>
              <a:avLst/>
              <a:gdLst/>
              <a:ahLst/>
              <a:cxnLst/>
              <a:rect l="l" t="t" r="r" b="b"/>
              <a:pathLst>
                <a:path w="1504950" h="2831465">
                  <a:moveTo>
                    <a:pt x="0" y="0"/>
                  </a:moveTo>
                  <a:lnTo>
                    <a:pt x="1504950" y="0"/>
                  </a:lnTo>
                  <a:lnTo>
                    <a:pt x="1504950" y="2831465"/>
                  </a:lnTo>
                  <a:lnTo>
                    <a:pt x="0" y="2831465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6" name="Group 16"/>
          <p:cNvGrpSpPr/>
          <p:nvPr/>
        </p:nvGrpSpPr>
        <p:grpSpPr>
          <a:xfrm rot="-5400000">
            <a:off x="8496490" y="8727262"/>
            <a:ext cx="1128712" cy="1990754"/>
            <a:chOff x="0" y="0"/>
            <a:chExt cx="1504950" cy="26543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04950" cy="2654300"/>
            </a:xfrm>
            <a:custGeom>
              <a:avLst/>
              <a:gdLst/>
              <a:ahLst/>
              <a:cxnLst/>
              <a:rect l="l" t="t" r="r" b="b"/>
              <a:pathLst>
                <a:path w="1504950" h="2654300">
                  <a:moveTo>
                    <a:pt x="0" y="0"/>
                  </a:moveTo>
                  <a:lnTo>
                    <a:pt x="1504950" y="0"/>
                  </a:lnTo>
                  <a:lnTo>
                    <a:pt x="1504950" y="2654300"/>
                  </a:lnTo>
                  <a:lnTo>
                    <a:pt x="0" y="26543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8" name="Group 18"/>
          <p:cNvGrpSpPr/>
          <p:nvPr/>
        </p:nvGrpSpPr>
        <p:grpSpPr>
          <a:xfrm rot="-5400000">
            <a:off x="12606833" y="8649519"/>
            <a:ext cx="1128712" cy="2146230"/>
            <a:chOff x="0" y="0"/>
            <a:chExt cx="1504950" cy="2861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04950" cy="2861691"/>
            </a:xfrm>
            <a:custGeom>
              <a:avLst/>
              <a:gdLst/>
              <a:ahLst/>
              <a:cxnLst/>
              <a:rect l="l" t="t" r="r" b="b"/>
              <a:pathLst>
                <a:path w="1504950" h="2861691">
                  <a:moveTo>
                    <a:pt x="0" y="0"/>
                  </a:moveTo>
                  <a:lnTo>
                    <a:pt x="1504950" y="0"/>
                  </a:lnTo>
                  <a:lnTo>
                    <a:pt x="1504950" y="2861691"/>
                  </a:lnTo>
                  <a:lnTo>
                    <a:pt x="0" y="2861691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20" name="Group 20"/>
          <p:cNvGrpSpPr/>
          <p:nvPr/>
        </p:nvGrpSpPr>
        <p:grpSpPr>
          <a:xfrm rot="-5400000">
            <a:off x="16712727" y="8711727"/>
            <a:ext cx="1128712" cy="2021853"/>
            <a:chOff x="0" y="0"/>
            <a:chExt cx="1504950" cy="26958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2" name="Group 22"/>
          <p:cNvGrpSpPr/>
          <p:nvPr/>
        </p:nvGrpSpPr>
        <p:grpSpPr>
          <a:xfrm rot="-5400000">
            <a:off x="406556" y="8738616"/>
            <a:ext cx="1128712" cy="1968094"/>
            <a:chOff x="0" y="0"/>
            <a:chExt cx="1504950" cy="26241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04950" cy="2624074"/>
            </a:xfrm>
            <a:custGeom>
              <a:avLst/>
              <a:gdLst/>
              <a:ahLst/>
              <a:cxnLst/>
              <a:rect l="l" t="t" r="r" b="b"/>
              <a:pathLst>
                <a:path w="1504950" h="2624074">
                  <a:moveTo>
                    <a:pt x="0" y="0"/>
                  </a:moveTo>
                  <a:lnTo>
                    <a:pt x="1504950" y="0"/>
                  </a:lnTo>
                  <a:lnTo>
                    <a:pt x="1504950" y="2624074"/>
                  </a:lnTo>
                  <a:lnTo>
                    <a:pt x="0" y="2624074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24" name="Group 24"/>
          <p:cNvGrpSpPr/>
          <p:nvPr/>
        </p:nvGrpSpPr>
        <p:grpSpPr>
          <a:xfrm rot="-5400000">
            <a:off x="14690865" y="8711717"/>
            <a:ext cx="1128732" cy="2021853"/>
            <a:chOff x="0" y="0"/>
            <a:chExt cx="1504975" cy="26958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6" name="Group 26"/>
          <p:cNvGrpSpPr/>
          <p:nvPr/>
        </p:nvGrpSpPr>
        <p:grpSpPr>
          <a:xfrm rot="-5400000">
            <a:off x="2364877" y="8748351"/>
            <a:ext cx="1128712" cy="1948558"/>
            <a:chOff x="0" y="0"/>
            <a:chExt cx="1504950" cy="259807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04950" cy="2598039"/>
            </a:xfrm>
            <a:custGeom>
              <a:avLst/>
              <a:gdLst/>
              <a:ahLst/>
              <a:cxnLst/>
              <a:rect l="l" t="t" r="r" b="b"/>
              <a:pathLst>
                <a:path w="1504950" h="2598039">
                  <a:moveTo>
                    <a:pt x="0" y="0"/>
                  </a:moveTo>
                  <a:lnTo>
                    <a:pt x="1504950" y="0"/>
                  </a:lnTo>
                  <a:lnTo>
                    <a:pt x="1504950" y="2598039"/>
                  </a:lnTo>
                  <a:lnTo>
                    <a:pt x="0" y="259803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8" name="Group 28"/>
          <p:cNvGrpSpPr/>
          <p:nvPr/>
        </p:nvGrpSpPr>
        <p:grpSpPr>
          <a:xfrm rot="-5400000">
            <a:off x="4358335" y="8703450"/>
            <a:ext cx="1128712" cy="2038350"/>
            <a:chOff x="0" y="0"/>
            <a:chExt cx="1504950" cy="2717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04950" cy="2717800"/>
            </a:xfrm>
            <a:custGeom>
              <a:avLst/>
              <a:gdLst/>
              <a:ahLst/>
              <a:cxnLst/>
              <a:rect l="l" t="t" r="r" b="b"/>
              <a:pathLst>
                <a:path w="1504950" h="2717800">
                  <a:moveTo>
                    <a:pt x="0" y="0"/>
                  </a:moveTo>
                  <a:lnTo>
                    <a:pt x="1504950" y="0"/>
                  </a:lnTo>
                  <a:lnTo>
                    <a:pt x="1504950" y="2717800"/>
                  </a:lnTo>
                  <a:lnTo>
                    <a:pt x="0" y="27178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31" name="Group 31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33" name="Group 33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5" name="Group 35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37" name="Group 37"/>
          <p:cNvGrpSpPr/>
          <p:nvPr/>
        </p:nvGrpSpPr>
        <p:grpSpPr>
          <a:xfrm rot="-5400000">
            <a:off x="16199644" y="8198644"/>
            <a:ext cx="1128712" cy="3048000"/>
            <a:chOff x="0" y="0"/>
            <a:chExt cx="1504950" cy="4064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39" name="Group 39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41" name="Freeform 41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44" name="Group 44"/>
          <p:cNvGrpSpPr/>
          <p:nvPr/>
        </p:nvGrpSpPr>
        <p:grpSpPr>
          <a:xfrm rot="-5400000">
            <a:off x="9919011" y="7631420"/>
            <a:ext cx="2450735" cy="2860415"/>
            <a:chOff x="0" y="0"/>
            <a:chExt cx="3267646" cy="381388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267583" cy="3813937"/>
            </a:xfrm>
            <a:custGeom>
              <a:avLst/>
              <a:gdLst/>
              <a:ahLst/>
              <a:cxnLst/>
              <a:rect l="l" t="t" r="r" b="b"/>
              <a:pathLst>
                <a:path w="3267583" h="3813937">
                  <a:moveTo>
                    <a:pt x="0" y="0"/>
                  </a:moveTo>
                  <a:lnTo>
                    <a:pt x="3267583" y="0"/>
                  </a:lnTo>
                  <a:lnTo>
                    <a:pt x="3267583" y="3813937"/>
                  </a:lnTo>
                  <a:lnTo>
                    <a:pt x="0" y="3813937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sp>
        <p:nvSpPr>
          <p:cNvPr id="46" name="TextBox 46"/>
          <p:cNvSpPr txBox="1"/>
          <p:nvPr/>
        </p:nvSpPr>
        <p:spPr>
          <a:xfrm>
            <a:off x="6684940" y="3369050"/>
            <a:ext cx="4751813" cy="245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MVC</a:t>
            </a:r>
            <a:endParaRPr lang="en-US" sz="810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9720"/>
              </a:lnSpc>
            </a:pPr>
            <a:endParaRPr lang="en-US" sz="810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17297190" y="510921"/>
            <a:ext cx="700002" cy="349996"/>
            <a:chOff x="0" y="0"/>
            <a:chExt cx="933336" cy="46666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34/45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06575" y="805396"/>
            <a:ext cx="7462133" cy="4136269"/>
            <a:chOff x="0" y="0"/>
            <a:chExt cx="9949510" cy="55150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949561" cy="5514975"/>
            </a:xfrm>
            <a:custGeom>
              <a:avLst/>
              <a:gdLst/>
              <a:ahLst/>
              <a:cxnLst/>
              <a:rect l="l" t="t" r="r" b="b"/>
              <a:pathLst>
                <a:path w="9949561" h="5514975">
                  <a:moveTo>
                    <a:pt x="0" y="0"/>
                  </a:moveTo>
                  <a:lnTo>
                    <a:pt x="9949561" y="0"/>
                  </a:lnTo>
                  <a:lnTo>
                    <a:pt x="9949561" y="5514975"/>
                  </a:lnTo>
                  <a:lnTo>
                    <a:pt x="0" y="5514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7602" r="-1760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33400" y="1544927"/>
            <a:ext cx="5067014" cy="1102366"/>
            <a:chOff x="0" y="0"/>
            <a:chExt cx="6756019" cy="14698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56019" cy="1469771"/>
            </a:xfrm>
            <a:custGeom>
              <a:avLst/>
              <a:gdLst/>
              <a:ahLst/>
              <a:cxnLst/>
              <a:rect l="l" t="t" r="r" b="b"/>
              <a:pathLst>
                <a:path w="6756019" h="1469771">
                  <a:moveTo>
                    <a:pt x="0" y="0"/>
                  </a:moveTo>
                  <a:lnTo>
                    <a:pt x="6756019" y="0"/>
                  </a:lnTo>
                  <a:lnTo>
                    <a:pt x="6756019" y="1469771"/>
                  </a:lnTo>
                  <a:lnTo>
                    <a:pt x="0" y="1469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2776" r="-52776"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797167" y="1028700"/>
            <a:ext cx="7462133" cy="4114800"/>
            <a:chOff x="0" y="0"/>
            <a:chExt cx="9949510" cy="548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949561" cy="5486400"/>
            </a:xfrm>
            <a:custGeom>
              <a:avLst/>
              <a:gdLst/>
              <a:ahLst/>
              <a:cxnLst/>
              <a:rect l="l" t="t" r="r" b="b"/>
              <a:pathLst>
                <a:path w="9949561" h="5486400">
                  <a:moveTo>
                    <a:pt x="0" y="0"/>
                  </a:moveTo>
                  <a:lnTo>
                    <a:pt x="9949561" y="0"/>
                  </a:lnTo>
                  <a:lnTo>
                    <a:pt x="9949561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252" r="-1725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829419" y="1544965"/>
            <a:ext cx="3698844" cy="1102328"/>
            <a:chOff x="0" y="0"/>
            <a:chExt cx="4931792" cy="14697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31792" cy="1469771"/>
            </a:xfrm>
            <a:custGeom>
              <a:avLst/>
              <a:gdLst/>
              <a:ahLst/>
              <a:cxnLst/>
              <a:rect l="l" t="t" r="r" b="b"/>
              <a:pathLst>
                <a:path w="4931791" h="1469771">
                  <a:moveTo>
                    <a:pt x="0" y="0"/>
                  </a:moveTo>
                  <a:lnTo>
                    <a:pt x="4931791" y="0"/>
                  </a:lnTo>
                  <a:lnTo>
                    <a:pt x="4931791" y="1469771"/>
                  </a:lnTo>
                  <a:lnTo>
                    <a:pt x="0" y="1469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0793" r="-90792" b="-3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4624" y="6332715"/>
            <a:ext cx="5136775" cy="2925585"/>
            <a:chOff x="0" y="0"/>
            <a:chExt cx="6849034" cy="39007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48983" cy="3900805"/>
            </a:xfrm>
            <a:custGeom>
              <a:avLst/>
              <a:gdLst/>
              <a:ahLst/>
              <a:cxnLst/>
              <a:rect l="l" t="t" r="r" b="b"/>
              <a:pathLst>
                <a:path w="6848983" h="3900805">
                  <a:moveTo>
                    <a:pt x="0" y="0"/>
                  </a:moveTo>
                  <a:lnTo>
                    <a:pt x="6848983" y="0"/>
                  </a:lnTo>
                  <a:lnTo>
                    <a:pt x="6848983" y="3900805"/>
                  </a:lnTo>
                  <a:lnTo>
                    <a:pt x="0" y="3900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522244" y="6426889"/>
            <a:ext cx="4806077" cy="2737237"/>
            <a:chOff x="0" y="0"/>
            <a:chExt cx="6408102" cy="36496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08166" cy="3649599"/>
            </a:xfrm>
            <a:custGeom>
              <a:avLst/>
              <a:gdLst/>
              <a:ahLst/>
              <a:cxnLst/>
              <a:rect l="l" t="t" r="r" b="b"/>
              <a:pathLst>
                <a:path w="6408166" h="3649599">
                  <a:moveTo>
                    <a:pt x="0" y="0"/>
                  </a:moveTo>
                  <a:lnTo>
                    <a:pt x="6408166" y="0"/>
                  </a:lnTo>
                  <a:lnTo>
                    <a:pt x="6408166" y="3649599"/>
                  </a:lnTo>
                  <a:lnTo>
                    <a:pt x="0" y="3649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2366546" y="6426889"/>
            <a:ext cx="4499820" cy="2562806"/>
            <a:chOff x="0" y="0"/>
            <a:chExt cx="5999759" cy="34170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999734" cy="3417062"/>
            </a:xfrm>
            <a:custGeom>
              <a:avLst/>
              <a:gdLst/>
              <a:ahLst/>
              <a:cxnLst/>
              <a:rect l="l" t="t" r="r" b="b"/>
              <a:pathLst>
                <a:path w="5999734" h="3417062">
                  <a:moveTo>
                    <a:pt x="0" y="0"/>
                  </a:moveTo>
                  <a:lnTo>
                    <a:pt x="5999734" y="0"/>
                  </a:lnTo>
                  <a:lnTo>
                    <a:pt x="5999734" y="3417062"/>
                  </a:lnTo>
                  <a:lnTo>
                    <a:pt x="0" y="3417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02546" y="2223039"/>
            <a:ext cx="5470227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Tout </a:t>
            </a:r>
            <a:r>
              <a:rPr lang="en-US" sz="3010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dans</a:t>
            </a: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server.js :</a:t>
            </a:r>
            <a:endParaRPr lang="en-US" sz="3010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3610"/>
              </a:lnSpc>
            </a:pP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routes + </a:t>
            </a:r>
            <a:r>
              <a:rPr lang="en-US" sz="3010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logique</a:t>
            </a: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 + BDD</a:t>
            </a:r>
            <a:endParaRPr lang="en-US" sz="3010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3610"/>
              </a:lnSpc>
            </a:pP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→ code </a:t>
            </a:r>
            <a:r>
              <a:rPr lang="en-US" sz="3010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illisible</a:t>
            </a: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, non </a:t>
            </a:r>
            <a:r>
              <a:rPr lang="en-US" sz="3010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maintenable</a:t>
            </a:r>
            <a:endParaRPr lang="en-US" sz="3010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500520" y="3216431"/>
            <a:ext cx="64348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5"/>
              </a:lnSpc>
            </a:pPr>
            <a:r>
              <a:rPr lang="en-US" sz="4515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→</a:t>
            </a:r>
            <a:endParaRPr lang="en-US" sz="4515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303964" y="2211164"/>
            <a:ext cx="4448575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routes/  →  </a:t>
            </a:r>
            <a:r>
              <a:rPr lang="en-US" sz="3010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Contrôleurs</a:t>
            </a: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/</a:t>
            </a:r>
            <a:endParaRPr lang="en-US" sz="3010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3610"/>
              </a:lnSpc>
            </a:pP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models/  →  </a:t>
            </a:r>
            <a:r>
              <a:rPr lang="en-US" sz="3010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Vues</a:t>
            </a: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/</a:t>
            </a:r>
            <a:endParaRPr lang="en-US" sz="3010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3610"/>
              </a:lnSpc>
            </a:pP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→ code </a:t>
            </a:r>
            <a:r>
              <a:rPr lang="en-US" sz="3010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propre</a:t>
            </a:r>
            <a:r>
              <a:rPr lang="en-US" sz="3010" b="1" dirty="0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, </a:t>
            </a:r>
            <a:r>
              <a:rPr lang="en-US" sz="3010" b="1" dirty="0" err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réutilisable</a:t>
            </a:r>
            <a:endParaRPr lang="en-US" sz="3010" b="1" dirty="0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5608815"/>
            <a:ext cx="726368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0"/>
              </a:lnSpc>
            </a:pPr>
            <a:r>
              <a:rPr lang="en-US" sz="3410" b="1">
                <a:solidFill>
                  <a:srgbClr val="000000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Les 3 couches de l'architecture MVC :</a:t>
            </a:r>
            <a:endParaRPr lang="en-US" sz="3410" b="1">
              <a:solidFill>
                <a:srgbClr val="000000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44624" y="6751815"/>
            <a:ext cx="51367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MODÈLE</a:t>
            </a:r>
            <a:endParaRPr lang="en-US" sz="301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44624" y="7708297"/>
            <a:ext cx="5136775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models/</a:t>
            </a:r>
            <a:endParaRPr lang="en-US" sz="301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Données &amp; BDD</a:t>
            </a:r>
            <a:endParaRPr lang="en-US" sz="301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520929" y="6751815"/>
            <a:ext cx="480607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VUE</a:t>
            </a:r>
            <a:endParaRPr lang="en-US" sz="301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22244" y="7656690"/>
            <a:ext cx="4806077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views/</a:t>
            </a:r>
            <a:endParaRPr lang="en-US" sz="301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Interface utilisateur</a:t>
            </a:r>
            <a:endParaRPr lang="en-US" sz="301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366546" y="6751815"/>
            <a:ext cx="449982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CONTRÔLEUR</a:t>
            </a:r>
            <a:endParaRPr lang="en-US" sz="301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366546" y="7656690"/>
            <a:ext cx="449982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controllers/</a:t>
            </a:r>
            <a:endParaRPr lang="en-US" sz="301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  <a:p>
            <a:pPr algn="ctr">
              <a:lnSpc>
                <a:spcPts val="3610"/>
              </a:lnSpc>
            </a:pPr>
            <a:r>
              <a:rPr lang="en-US" sz="301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Logique métier</a:t>
            </a:r>
            <a:endParaRPr lang="en-US" sz="301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6553200" y="6356347"/>
            <a:ext cx="2133600" cy="365125"/>
          </a:xfrm>
          <a:custGeom>
            <a:avLst/>
            <a:gdLst/>
            <a:ahLst/>
            <a:cxnLst/>
            <a:rect l="l" t="t" r="r" b="b"/>
            <a:pathLst>
              <a:path w="2844800" h="486833">
                <a:moveTo>
                  <a:pt x="0" y="0"/>
                </a:moveTo>
                <a:lnTo>
                  <a:pt x="2844800" y="0"/>
                </a:lnTo>
                <a:lnTo>
                  <a:pt x="2844800" y="486833"/>
                </a:lnTo>
                <a:lnTo>
                  <a:pt x="0" y="486833"/>
                </a:lnTo>
                <a:close/>
              </a:path>
            </a:pathLst>
          </a:custGeom>
          <a:blipFill>
            <a:blip r:embed="rId8">
              <a:alphaModFix amt="0"/>
            </a:blip>
            <a:stretch>
              <a:fillRect t="-63860" b="-63859"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7286399" y="571243"/>
            <a:ext cx="700002" cy="349996"/>
            <a:chOff x="0" y="0"/>
            <a:chExt cx="933336" cy="4666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35/45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050"/>
            <a:ext cx="18288000" cy="6228207"/>
            <a:chOff x="0" y="0"/>
            <a:chExt cx="24384000" cy="83042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04276"/>
            </a:xfrm>
            <a:custGeom>
              <a:avLst/>
              <a:gdLst/>
              <a:ahLst/>
              <a:cxnLst/>
              <a:rect l="l" t="t" r="r" b="b"/>
              <a:pathLst>
                <a:path w="24384000" h="8304276">
                  <a:moveTo>
                    <a:pt x="0" y="0"/>
                  </a:moveTo>
                  <a:lnTo>
                    <a:pt x="24384000" y="0"/>
                  </a:lnTo>
                  <a:lnTo>
                    <a:pt x="24384000" y="8304276"/>
                  </a:lnTo>
                  <a:lnTo>
                    <a:pt x="0" y="8304276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077498" y="2533650"/>
            <a:ext cx="13219043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Connexion à la Base de Données</a:t>
            </a:r>
            <a:endParaRPr lang="en-US" sz="75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6375511" y="8622468"/>
            <a:ext cx="6021391" cy="1664513"/>
            <a:chOff x="0" y="0"/>
            <a:chExt cx="8028521" cy="22193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028559" cy="2219325"/>
            </a:xfrm>
            <a:custGeom>
              <a:avLst/>
              <a:gdLst/>
              <a:ahLst/>
              <a:cxnLst/>
              <a:rect l="l" t="t" r="r" b="b"/>
              <a:pathLst>
                <a:path w="8028559" h="2219325">
                  <a:moveTo>
                    <a:pt x="0" y="0"/>
                  </a:moveTo>
                  <a:lnTo>
                    <a:pt x="8028559" y="0"/>
                  </a:lnTo>
                  <a:lnTo>
                    <a:pt x="8028559" y="2219325"/>
                  </a:lnTo>
                  <a:lnTo>
                    <a:pt x="0" y="2219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767" b="-176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7286399" y="495043"/>
            <a:ext cx="700002" cy="349996"/>
            <a:chOff x="0" y="0"/>
            <a:chExt cx="933336" cy="4666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36/45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8640" y="2286000"/>
            <a:ext cx="7955280" cy="7223760"/>
            <a:chOff x="0" y="0"/>
            <a:chExt cx="10607040" cy="96316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07040" cy="9631680"/>
            </a:xfrm>
            <a:custGeom>
              <a:avLst/>
              <a:gdLst/>
              <a:ahLst/>
              <a:cxnLst/>
              <a:rect l="l" t="t" r="r" b="b"/>
              <a:pathLst>
                <a:path w="10607040" h="9631680">
                  <a:moveTo>
                    <a:pt x="0" y="0"/>
                  </a:moveTo>
                  <a:lnTo>
                    <a:pt x="10607040" y="0"/>
                  </a:lnTo>
                  <a:lnTo>
                    <a:pt x="10607040" y="9631680"/>
                  </a:lnTo>
                  <a:lnTo>
                    <a:pt x="0" y="96316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535943" y="2273303"/>
            <a:ext cx="7980616" cy="939736"/>
          </a:xfrm>
          <a:custGeom>
            <a:avLst/>
            <a:gdLst/>
            <a:ahLst/>
            <a:cxnLst/>
            <a:rect l="l" t="t" r="r" b="b"/>
            <a:pathLst>
              <a:path w="7980616" h="939736">
                <a:moveTo>
                  <a:pt x="0" y="0"/>
                </a:moveTo>
                <a:lnTo>
                  <a:pt x="7980617" y="0"/>
                </a:lnTo>
                <a:lnTo>
                  <a:pt x="7980617" y="939737"/>
                </a:lnTo>
                <a:lnTo>
                  <a:pt x="0" y="93973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31520" y="2377440"/>
            <a:ext cx="7421337" cy="731520"/>
            <a:chOff x="0" y="0"/>
            <a:chExt cx="9895116" cy="9753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895078" cy="975360"/>
            </a:xfrm>
            <a:custGeom>
              <a:avLst/>
              <a:gdLst/>
              <a:ahLst/>
              <a:cxnLst/>
              <a:rect l="l" t="t" r="r" b="b"/>
              <a:pathLst>
                <a:path w="9895078" h="975360">
                  <a:moveTo>
                    <a:pt x="0" y="0"/>
                  </a:moveTo>
                  <a:lnTo>
                    <a:pt x="9895078" y="0"/>
                  </a:lnTo>
                  <a:lnTo>
                    <a:pt x="989507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540" b="-14754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31520" y="2334578"/>
            <a:ext cx="7421337" cy="774382"/>
            <a:chOff x="0" y="0"/>
            <a:chExt cx="9895116" cy="10325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95118" cy="1032510"/>
            </a:xfrm>
            <a:custGeom>
              <a:avLst/>
              <a:gdLst/>
              <a:ahLst/>
              <a:cxnLst/>
              <a:rect l="l" t="t" r="r" b="b"/>
              <a:pathLst>
                <a:path w="9895118" h="1032510">
                  <a:moveTo>
                    <a:pt x="0" y="0"/>
                  </a:moveTo>
                  <a:lnTo>
                    <a:pt x="9895118" y="0"/>
                  </a:lnTo>
                  <a:lnTo>
                    <a:pt x="9895118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6735" b="-13673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9895116" cy="108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MongoDB  +  Mongoose</a:t>
              </a:r>
              <a:endParaRPr lang="en-US" sz="26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2960" y="3383280"/>
            <a:ext cx="7498080" cy="5852160"/>
            <a:chOff x="0" y="0"/>
            <a:chExt cx="9997440" cy="78028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97440" cy="7802880"/>
            </a:xfrm>
            <a:custGeom>
              <a:avLst/>
              <a:gdLst/>
              <a:ahLst/>
              <a:cxnLst/>
              <a:rect l="l" t="t" r="r" b="b"/>
              <a:pathLst>
                <a:path w="9997440" h="7802880">
                  <a:moveTo>
                    <a:pt x="0" y="0"/>
                  </a:moveTo>
                  <a:lnTo>
                    <a:pt x="9997440" y="0"/>
                  </a:lnTo>
                  <a:lnTo>
                    <a:pt x="9997440" y="7802880"/>
                  </a:lnTo>
                  <a:lnTo>
                    <a:pt x="0" y="780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209" r="-50208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822960" y="3347561"/>
            <a:ext cx="7498080" cy="5887879"/>
            <a:chOff x="0" y="0"/>
            <a:chExt cx="9997440" cy="785050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97440" cy="7850505"/>
            </a:xfrm>
            <a:custGeom>
              <a:avLst/>
              <a:gdLst/>
              <a:ahLst/>
              <a:cxnLst/>
              <a:rect l="l" t="t" r="r" b="b"/>
              <a:pathLst>
                <a:path w="9997440" h="7850505">
                  <a:moveTo>
                    <a:pt x="0" y="0"/>
                  </a:moveTo>
                  <a:lnTo>
                    <a:pt x="9997440" y="0"/>
                  </a:lnTo>
                  <a:lnTo>
                    <a:pt x="9997440" y="7850505"/>
                  </a:lnTo>
                  <a:lnTo>
                    <a:pt x="0" y="78505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0750" r="-5075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997440" cy="7898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Type : </a:t>
              </a:r>
              <a:r>
                <a:rPr lang="en-US" sz="230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NoSQL (documents JSON)</a:t>
              </a:r>
              <a:endParaRPr lang="en-US" sz="230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endParaRPr lang="en-US" sz="230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Avantages : </a:t>
              </a:r>
              <a:r>
                <a:rPr lang="en-US" sz="230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flexible, rapide</a:t>
              </a:r>
              <a:endParaRPr lang="en-US" sz="230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endParaRPr lang="en-US" sz="230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Usage : </a:t>
              </a:r>
              <a:r>
                <a:rPr lang="en-US" sz="230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apps IA, données variées</a:t>
              </a:r>
              <a:endParaRPr lang="en-US" sz="230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endParaRPr lang="en-US" sz="230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endParaRPr lang="en-US" sz="230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300" i="1">
                  <a:solidFill>
                    <a:srgbClr val="1F2937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mongoose.connect(uri)</a:t>
              </a:r>
              <a:endParaRPr lang="en-US" sz="2300" i="1">
                <a:solidFill>
                  <a:srgbClr val="1F2937"/>
                </a:solidFill>
                <a:latin typeface="Calibri (MS) Italics" panose="020F05020202040A0204"/>
                <a:ea typeface="Calibri (MS) Italics" panose="020F05020202040A0204"/>
                <a:cs typeface="Calibri (MS) Italics" panose="020F05020202040A0204"/>
                <a:sym typeface="Calibri (MS) Italics" panose="020F05020202040A0204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300" i="1">
                  <a:solidFill>
                    <a:srgbClr val="1F2937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const UserSchema = new Schema({...})</a:t>
              </a:r>
              <a:endParaRPr lang="en-US" sz="2300" i="1">
                <a:solidFill>
                  <a:srgbClr val="1F2937"/>
                </a:solidFill>
                <a:latin typeface="Calibri (MS) Italics" panose="020F05020202040A0204"/>
                <a:ea typeface="Calibri (MS) Italics" panose="020F05020202040A0204"/>
                <a:cs typeface="Calibri (MS) Italics" panose="020F05020202040A0204"/>
                <a:sym typeface="Calibri (MS) Italics" panose="020F05020202040A0204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553200" y="6342059"/>
            <a:ext cx="2133600" cy="37941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1440"/>
              </a:lnSpc>
            </a:pPr>
            <a:endParaRPr lang="en-US" sz="1200" dirty="0">
              <a:solidFill>
                <a:srgbClr val="898989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17220990" y="510921"/>
            <a:ext cx="700002" cy="349996"/>
            <a:chOff x="0" y="0"/>
            <a:chExt cx="933336" cy="46666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37/45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grpSp>
        <p:nvGrpSpPr>
          <p:cNvPr id="17" name="Group 2"/>
          <p:cNvGrpSpPr/>
          <p:nvPr/>
        </p:nvGrpSpPr>
        <p:grpSpPr>
          <a:xfrm>
            <a:off x="12294870" y="2432777"/>
            <a:ext cx="692848" cy="551498"/>
            <a:chOff x="0" y="0"/>
            <a:chExt cx="923798" cy="735330"/>
          </a:xfrm>
        </p:grpSpPr>
        <p:sp>
          <p:nvSpPr>
            <p:cNvPr id="18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9" name="Group 10"/>
          <p:cNvGrpSpPr/>
          <p:nvPr/>
        </p:nvGrpSpPr>
        <p:grpSpPr>
          <a:xfrm>
            <a:off x="12752070" y="7989024"/>
            <a:ext cx="2133600" cy="365122"/>
            <a:chOff x="0" y="0"/>
            <a:chExt cx="2844800" cy="486829"/>
          </a:xfrm>
        </p:grpSpPr>
        <p:sp>
          <p:nvSpPr>
            <p:cNvPr id="20" name="Freeform 11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21" name="TextBox 12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endParaRPr lang="en-US" sz="1200" dirty="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2" name="Group 13"/>
          <p:cNvGrpSpPr/>
          <p:nvPr/>
        </p:nvGrpSpPr>
        <p:grpSpPr>
          <a:xfrm>
            <a:off x="12287793" y="2517502"/>
            <a:ext cx="700002" cy="349996"/>
            <a:chOff x="0" y="0"/>
            <a:chExt cx="933336" cy="466661"/>
          </a:xfrm>
        </p:grpSpPr>
        <p:sp>
          <p:nvSpPr>
            <p:cNvPr id="23" name="Freeform 14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4" name="TextBox 15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38/45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5" name="Group 16"/>
          <p:cNvGrpSpPr/>
          <p:nvPr/>
        </p:nvGrpSpPr>
        <p:grpSpPr>
          <a:xfrm>
            <a:off x="12294870" y="2984246"/>
            <a:ext cx="692848" cy="68580"/>
            <a:chOff x="0" y="0"/>
            <a:chExt cx="923798" cy="91440"/>
          </a:xfrm>
        </p:grpSpPr>
        <p:sp>
          <p:nvSpPr>
            <p:cNvPr id="26" name="Freeform 17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grpSp>
        <p:nvGrpSpPr>
          <p:cNvPr id="31" name="Group 17"/>
          <p:cNvGrpSpPr/>
          <p:nvPr/>
        </p:nvGrpSpPr>
        <p:grpSpPr>
          <a:xfrm>
            <a:off x="9372714" y="2247792"/>
            <a:ext cx="7955280" cy="7223760"/>
            <a:chOff x="0" y="0"/>
            <a:chExt cx="10607040" cy="9631680"/>
          </a:xfrm>
        </p:grpSpPr>
        <p:sp>
          <p:nvSpPr>
            <p:cNvPr id="27" name="Freeform 18"/>
            <p:cNvSpPr/>
            <p:nvPr/>
          </p:nvSpPr>
          <p:spPr>
            <a:xfrm>
              <a:off x="0" y="0"/>
              <a:ext cx="10607040" cy="9631680"/>
            </a:xfrm>
            <a:custGeom>
              <a:avLst/>
              <a:gdLst/>
              <a:ahLst/>
              <a:cxnLst/>
              <a:rect l="l" t="t" r="r" b="b"/>
              <a:pathLst>
                <a:path w="10607040" h="9631680">
                  <a:moveTo>
                    <a:pt x="0" y="0"/>
                  </a:moveTo>
                  <a:lnTo>
                    <a:pt x="10607040" y="0"/>
                  </a:lnTo>
                  <a:lnTo>
                    <a:pt x="10607040" y="9631680"/>
                  </a:lnTo>
                  <a:lnTo>
                    <a:pt x="0" y="96316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8" name="Freeform 19"/>
          <p:cNvSpPr/>
          <p:nvPr/>
        </p:nvSpPr>
        <p:spPr>
          <a:xfrm>
            <a:off x="9390497" y="2276462"/>
            <a:ext cx="7980616" cy="939736"/>
          </a:xfrm>
          <a:custGeom>
            <a:avLst/>
            <a:gdLst/>
            <a:ahLst/>
            <a:cxnLst/>
            <a:rect l="l" t="t" r="r" b="b"/>
            <a:pathLst>
              <a:path w="7980616" h="939736">
                <a:moveTo>
                  <a:pt x="0" y="0"/>
                </a:moveTo>
                <a:lnTo>
                  <a:pt x="7980617" y="0"/>
                </a:lnTo>
                <a:lnTo>
                  <a:pt x="7980617" y="939737"/>
                </a:lnTo>
                <a:lnTo>
                  <a:pt x="0" y="939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0"/>
          <p:cNvGrpSpPr/>
          <p:nvPr/>
        </p:nvGrpSpPr>
        <p:grpSpPr>
          <a:xfrm>
            <a:off x="9586074" y="2380599"/>
            <a:ext cx="7589520" cy="731520"/>
            <a:chOff x="0" y="0"/>
            <a:chExt cx="10119360" cy="975360"/>
          </a:xfrm>
        </p:grpSpPr>
        <p:sp>
          <p:nvSpPr>
            <p:cNvPr id="30" name="Freeform 21"/>
            <p:cNvSpPr/>
            <p:nvPr/>
          </p:nvSpPr>
          <p:spPr>
            <a:xfrm>
              <a:off x="0" y="0"/>
              <a:ext cx="10119360" cy="975360"/>
            </a:xfrm>
            <a:custGeom>
              <a:avLst/>
              <a:gdLst/>
              <a:ahLst/>
              <a:cxnLst/>
              <a:rect l="l" t="t" r="r" b="b"/>
              <a:pathLst>
                <a:path w="10119360" h="975360">
                  <a:moveTo>
                    <a:pt x="0" y="0"/>
                  </a:moveTo>
                  <a:lnTo>
                    <a:pt x="10119360" y="0"/>
                  </a:lnTo>
                  <a:lnTo>
                    <a:pt x="10119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016" b="-152016"/>
              </a:stretch>
            </a:blipFill>
          </p:spPr>
        </p:sp>
      </p:grpSp>
      <p:grpSp>
        <p:nvGrpSpPr>
          <p:cNvPr id="40" name="Group 22"/>
          <p:cNvGrpSpPr/>
          <p:nvPr/>
        </p:nvGrpSpPr>
        <p:grpSpPr>
          <a:xfrm>
            <a:off x="9586074" y="2337737"/>
            <a:ext cx="7589520" cy="774382"/>
            <a:chOff x="0" y="0"/>
            <a:chExt cx="10119360" cy="1032510"/>
          </a:xfrm>
        </p:grpSpPr>
        <p:sp>
          <p:nvSpPr>
            <p:cNvPr id="41" name="Freeform 23"/>
            <p:cNvSpPr/>
            <p:nvPr/>
          </p:nvSpPr>
          <p:spPr>
            <a:xfrm>
              <a:off x="0" y="0"/>
              <a:ext cx="10119360" cy="1032510"/>
            </a:xfrm>
            <a:custGeom>
              <a:avLst/>
              <a:gdLst/>
              <a:ahLst/>
              <a:cxnLst/>
              <a:rect l="l" t="t" r="r" b="b"/>
              <a:pathLst>
                <a:path w="10119360" h="1032510">
                  <a:moveTo>
                    <a:pt x="0" y="0"/>
                  </a:moveTo>
                  <a:lnTo>
                    <a:pt x="10119360" y="0"/>
                  </a:lnTo>
                  <a:lnTo>
                    <a:pt x="10119360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0967" b="-140967"/>
              </a:stretch>
            </a:blipFill>
          </p:spPr>
        </p:sp>
        <p:sp>
          <p:nvSpPr>
            <p:cNvPr id="42" name="TextBox 24"/>
            <p:cNvSpPr txBox="1"/>
            <p:nvPr/>
          </p:nvSpPr>
          <p:spPr>
            <a:xfrm>
              <a:off x="0" y="-57150"/>
              <a:ext cx="10119360" cy="108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MySQL / PostgreSQL  +  Sequelize</a:t>
              </a:r>
              <a:endParaRPr lang="en-US" sz="26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43" name="Group 25"/>
          <p:cNvGrpSpPr/>
          <p:nvPr/>
        </p:nvGrpSpPr>
        <p:grpSpPr>
          <a:xfrm>
            <a:off x="9677514" y="3386439"/>
            <a:ext cx="7498080" cy="5852160"/>
            <a:chOff x="0" y="0"/>
            <a:chExt cx="9997440" cy="7802880"/>
          </a:xfrm>
        </p:grpSpPr>
        <p:sp>
          <p:nvSpPr>
            <p:cNvPr id="44" name="Freeform 26"/>
            <p:cNvSpPr/>
            <p:nvPr/>
          </p:nvSpPr>
          <p:spPr>
            <a:xfrm>
              <a:off x="0" y="0"/>
              <a:ext cx="9997440" cy="7802880"/>
            </a:xfrm>
            <a:custGeom>
              <a:avLst/>
              <a:gdLst/>
              <a:ahLst/>
              <a:cxnLst/>
              <a:rect l="l" t="t" r="r" b="b"/>
              <a:pathLst>
                <a:path w="9997440" h="7802880">
                  <a:moveTo>
                    <a:pt x="0" y="0"/>
                  </a:moveTo>
                  <a:lnTo>
                    <a:pt x="9997440" y="0"/>
                  </a:lnTo>
                  <a:lnTo>
                    <a:pt x="9997440" y="7802880"/>
                  </a:lnTo>
                  <a:lnTo>
                    <a:pt x="0" y="780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209" r="-50208"/>
              </a:stretch>
            </a:blipFill>
          </p:spPr>
        </p:sp>
      </p:grpSp>
      <p:grpSp>
        <p:nvGrpSpPr>
          <p:cNvPr id="45" name="Group 27"/>
          <p:cNvGrpSpPr/>
          <p:nvPr/>
        </p:nvGrpSpPr>
        <p:grpSpPr>
          <a:xfrm>
            <a:off x="9677514" y="3350720"/>
            <a:ext cx="7498080" cy="5887879"/>
            <a:chOff x="0" y="0"/>
            <a:chExt cx="9997440" cy="7850505"/>
          </a:xfrm>
        </p:grpSpPr>
        <p:sp>
          <p:nvSpPr>
            <p:cNvPr id="46" name="Freeform 28"/>
            <p:cNvSpPr/>
            <p:nvPr/>
          </p:nvSpPr>
          <p:spPr>
            <a:xfrm>
              <a:off x="0" y="0"/>
              <a:ext cx="9997440" cy="7850505"/>
            </a:xfrm>
            <a:custGeom>
              <a:avLst/>
              <a:gdLst/>
              <a:ahLst/>
              <a:cxnLst/>
              <a:rect l="l" t="t" r="r" b="b"/>
              <a:pathLst>
                <a:path w="9997440" h="7850505">
                  <a:moveTo>
                    <a:pt x="0" y="0"/>
                  </a:moveTo>
                  <a:lnTo>
                    <a:pt x="9997440" y="0"/>
                  </a:lnTo>
                  <a:lnTo>
                    <a:pt x="9997440" y="7850505"/>
                  </a:lnTo>
                  <a:lnTo>
                    <a:pt x="0" y="78505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0750" r="-50750"/>
              </a:stretch>
            </a:blipFill>
          </p:spPr>
        </p:sp>
        <p:sp>
          <p:nvSpPr>
            <p:cNvPr id="47" name="TextBox 29"/>
            <p:cNvSpPr txBox="1"/>
            <p:nvPr/>
          </p:nvSpPr>
          <p:spPr>
            <a:xfrm>
              <a:off x="0" y="-47625"/>
              <a:ext cx="9997440" cy="7898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 dirty="0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Type : </a:t>
              </a:r>
              <a:r>
                <a:rPr lang="en-US" sz="2300" dirty="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SQL (tables </a:t>
              </a:r>
              <a:r>
                <a:rPr lang="en-US" sz="2300" dirty="0" err="1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relationnelles</a:t>
              </a:r>
              <a:r>
                <a:rPr lang="en-US" sz="2300" dirty="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)</a:t>
              </a:r>
              <a:endParaRPr lang="en-US" sz="2300" dirty="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endParaRPr lang="en-US" sz="2300" dirty="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300" b="1" dirty="0" err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Avantages</a:t>
              </a:r>
              <a:r>
                <a:rPr lang="en-US" sz="2300" b="1" dirty="0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 : </a:t>
              </a:r>
              <a:r>
                <a:rPr lang="en-US" sz="2300" dirty="0" err="1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structuré</a:t>
              </a:r>
              <a:r>
                <a:rPr lang="en-US" sz="2300" dirty="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, </a:t>
              </a:r>
              <a:r>
                <a:rPr lang="en-US" sz="2300" dirty="0" err="1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fiable</a:t>
              </a:r>
              <a:endParaRPr lang="en-US" sz="2300" dirty="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endParaRPr lang="en-US" sz="2300" dirty="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300" b="1" dirty="0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Usage : </a:t>
              </a:r>
              <a:r>
                <a:rPr lang="en-US" sz="2300" dirty="0" err="1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gestion</a:t>
              </a:r>
              <a:r>
                <a:rPr lang="en-US" sz="2300" dirty="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de </a:t>
              </a:r>
              <a:r>
                <a:rPr lang="en-US" sz="2300" dirty="0" err="1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données</a:t>
              </a:r>
              <a:r>
                <a:rPr lang="en-US" sz="2300" dirty="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complexes</a:t>
              </a:r>
              <a:endParaRPr lang="en-US" sz="2300" dirty="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endParaRPr lang="en-US" sz="2300" dirty="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endParaRPr lang="en-US" sz="2300" dirty="0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300" i="1" dirty="0" err="1">
                  <a:solidFill>
                    <a:srgbClr val="1F2937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sequelize.authenticate</a:t>
              </a:r>
              <a:r>
                <a:rPr lang="en-US" sz="2300" i="1" dirty="0">
                  <a:solidFill>
                    <a:srgbClr val="1F2937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()</a:t>
              </a:r>
              <a:endParaRPr lang="en-US" sz="2300" i="1" dirty="0">
                <a:solidFill>
                  <a:srgbClr val="1F2937"/>
                </a:solidFill>
                <a:latin typeface="Calibri (MS) Italics" panose="020F05020202040A0204"/>
                <a:ea typeface="Calibri (MS) Italics" panose="020F05020202040A0204"/>
                <a:cs typeface="Calibri (MS) Italics" panose="020F05020202040A0204"/>
                <a:sym typeface="Calibri (MS) Italics" panose="020F05020202040A0204"/>
              </a:endParaRPr>
            </a:p>
            <a:p>
              <a:pPr algn="l">
                <a:lnSpc>
                  <a:spcPts val="2760"/>
                </a:lnSpc>
              </a:pPr>
              <a:r>
                <a:rPr lang="en-US" sz="2300" i="1" dirty="0" err="1">
                  <a:solidFill>
                    <a:srgbClr val="1F2937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User.findAll</a:t>
              </a:r>
              <a:r>
                <a:rPr lang="en-US" sz="2300" i="1" dirty="0">
                  <a:solidFill>
                    <a:srgbClr val="1F2937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({ where: {...} })</a:t>
              </a:r>
              <a:endParaRPr lang="en-US" sz="2300" i="1" dirty="0">
                <a:solidFill>
                  <a:srgbClr val="1F2937"/>
                </a:solidFill>
                <a:latin typeface="Calibri (MS) Italics" panose="020F05020202040A0204"/>
                <a:ea typeface="Calibri (MS) Italics" panose="020F05020202040A0204"/>
                <a:cs typeface="Calibri (MS) Italics" panose="020F05020202040A0204"/>
                <a:sym typeface="Calibri (MS) Italics" panose="020F05020202040A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/>
          <p:nvPr/>
        </p:nvGrpSpPr>
        <p:grpSpPr>
          <a:xfrm>
            <a:off x="609600" y="962025"/>
            <a:ext cx="7421337" cy="731520"/>
            <a:chOff x="0" y="0"/>
            <a:chExt cx="9895116" cy="9753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895078" cy="975360"/>
            </a:xfrm>
            <a:custGeom>
              <a:avLst/>
              <a:gdLst/>
              <a:ahLst/>
              <a:cxnLst/>
              <a:rect l="l" t="t" r="r" b="b"/>
              <a:pathLst>
                <a:path w="9895078" h="975360">
                  <a:moveTo>
                    <a:pt x="0" y="0"/>
                  </a:moveTo>
                  <a:lnTo>
                    <a:pt x="9895078" y="0"/>
                  </a:lnTo>
                  <a:lnTo>
                    <a:pt x="989507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147540" b="-14754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09600" y="919163"/>
            <a:ext cx="7421337" cy="774382"/>
            <a:chOff x="0" y="0"/>
            <a:chExt cx="9895116" cy="1032510"/>
          </a:xfrm>
          <a:solidFill>
            <a:schemeClr val="accent3">
              <a:lumMod val="75000"/>
            </a:schemeClr>
          </a:solidFill>
        </p:grpSpPr>
        <p:sp>
          <p:nvSpPr>
            <p:cNvPr id="18" name="Freeform 10"/>
            <p:cNvSpPr/>
            <p:nvPr/>
          </p:nvSpPr>
          <p:spPr>
            <a:xfrm>
              <a:off x="0" y="0"/>
              <a:ext cx="9895118" cy="1032510"/>
            </a:xfrm>
            <a:custGeom>
              <a:avLst/>
              <a:gdLst/>
              <a:ahLst/>
              <a:cxnLst/>
              <a:rect l="l" t="t" r="r" b="b"/>
              <a:pathLst>
                <a:path w="9895118" h="1032510">
                  <a:moveTo>
                    <a:pt x="0" y="0"/>
                  </a:moveTo>
                  <a:lnTo>
                    <a:pt x="9895118" y="0"/>
                  </a:lnTo>
                  <a:lnTo>
                    <a:pt x="9895118" y="1032510"/>
                  </a:lnTo>
                  <a:lnTo>
                    <a:pt x="0" y="1032510"/>
                  </a:lnTo>
                  <a:close/>
                </a:path>
              </a:pathLst>
            </a:custGeom>
            <a:grpFill/>
          </p:spPr>
        </p:sp>
        <p:sp>
          <p:nvSpPr>
            <p:cNvPr id="19" name="TextBox 11"/>
            <p:cNvSpPr txBox="1"/>
            <p:nvPr/>
          </p:nvSpPr>
          <p:spPr>
            <a:xfrm>
              <a:off x="0" y="-57150"/>
              <a:ext cx="9895116" cy="10896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MongoDB  +  Mongoose</a:t>
              </a:r>
              <a:endParaRPr lang="en-US" sz="26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grpSp>
        <p:nvGrpSpPr>
          <p:cNvPr id="20" name="Group 7"/>
          <p:cNvGrpSpPr/>
          <p:nvPr/>
        </p:nvGrpSpPr>
        <p:grpSpPr>
          <a:xfrm>
            <a:off x="10134600" y="962025"/>
            <a:ext cx="7421337" cy="731520"/>
            <a:chOff x="0" y="0"/>
            <a:chExt cx="9895116" cy="975360"/>
          </a:xfrm>
          <a:solidFill>
            <a:schemeClr val="accent1"/>
          </a:solidFill>
        </p:grpSpPr>
        <p:sp>
          <p:nvSpPr>
            <p:cNvPr id="21" name="Freeform 8"/>
            <p:cNvSpPr/>
            <p:nvPr/>
          </p:nvSpPr>
          <p:spPr>
            <a:xfrm>
              <a:off x="0" y="0"/>
              <a:ext cx="9895078" cy="975360"/>
            </a:xfrm>
            <a:custGeom>
              <a:avLst/>
              <a:gdLst/>
              <a:ahLst/>
              <a:cxnLst/>
              <a:rect l="l" t="t" r="r" b="b"/>
              <a:pathLst>
                <a:path w="9895078" h="975360">
                  <a:moveTo>
                    <a:pt x="0" y="0"/>
                  </a:moveTo>
                  <a:lnTo>
                    <a:pt x="9895078" y="0"/>
                  </a:lnTo>
                  <a:lnTo>
                    <a:pt x="9895078" y="975360"/>
                  </a:lnTo>
                  <a:lnTo>
                    <a:pt x="0" y="975360"/>
                  </a:lnTo>
                  <a:close/>
                </a:path>
              </a:pathLst>
            </a:custGeom>
            <a:grpFill/>
          </p:spPr>
        </p:sp>
      </p:grpSp>
      <p:grpSp>
        <p:nvGrpSpPr>
          <p:cNvPr id="22" name="Group 9"/>
          <p:cNvGrpSpPr/>
          <p:nvPr/>
        </p:nvGrpSpPr>
        <p:grpSpPr>
          <a:xfrm>
            <a:off x="10134600" y="919163"/>
            <a:ext cx="7421337" cy="774382"/>
            <a:chOff x="0" y="0"/>
            <a:chExt cx="9895116" cy="1032510"/>
          </a:xfrm>
          <a:solidFill>
            <a:schemeClr val="accent1"/>
          </a:solidFill>
        </p:grpSpPr>
        <p:sp>
          <p:nvSpPr>
            <p:cNvPr id="23" name="Freeform 10"/>
            <p:cNvSpPr/>
            <p:nvPr/>
          </p:nvSpPr>
          <p:spPr>
            <a:xfrm>
              <a:off x="0" y="0"/>
              <a:ext cx="9895118" cy="1032510"/>
            </a:xfrm>
            <a:custGeom>
              <a:avLst/>
              <a:gdLst/>
              <a:ahLst/>
              <a:cxnLst/>
              <a:rect l="l" t="t" r="r" b="b"/>
              <a:pathLst>
                <a:path w="9895118" h="1032510">
                  <a:moveTo>
                    <a:pt x="0" y="0"/>
                  </a:moveTo>
                  <a:lnTo>
                    <a:pt x="9895118" y="0"/>
                  </a:lnTo>
                  <a:lnTo>
                    <a:pt x="9895118" y="1032510"/>
                  </a:lnTo>
                  <a:lnTo>
                    <a:pt x="0" y="1032510"/>
                  </a:lnTo>
                  <a:close/>
                </a:path>
              </a:pathLst>
            </a:custGeom>
            <a:grpFill/>
          </p:spPr>
        </p:sp>
        <p:sp>
          <p:nvSpPr>
            <p:cNvPr id="24" name="TextBox 11"/>
            <p:cNvSpPr txBox="1"/>
            <p:nvPr/>
          </p:nvSpPr>
          <p:spPr>
            <a:xfrm>
              <a:off x="0" y="-57150"/>
              <a:ext cx="9895116" cy="1089660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MySQL / PostgreSQL  +  Sequelize</a:t>
              </a:r>
              <a:endParaRPr lang="en-US" sz="26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pic>
        <p:nvPicPr>
          <p:cNvPr id="27" name="TerminalImg"/>
          <p:cNvPicPr/>
          <p:nvPr/>
        </p:nvPicPr>
        <p:blipFill>
          <a:blip r:embed="rId2"/>
          <a:stretch>
            <a:fillRect/>
          </a:stretch>
        </p:blipFill>
        <p:spPr>
          <a:xfrm>
            <a:off x="400050" y="6911340"/>
            <a:ext cx="17487900" cy="3175635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35" y="1693545"/>
            <a:ext cx="7421245" cy="5488305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965" y="1685290"/>
            <a:ext cx="7430770" cy="5496560"/>
          </a:xfrm>
          <a:prstGeom prst="rect">
            <a:avLst/>
          </a:prstGeom>
        </p:spPr>
      </p:pic>
      <p:grpSp>
        <p:nvGrpSpPr>
          <p:cNvPr id="28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29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0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44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grpSp>
        <p:nvGrpSpPr>
          <p:cNvPr id="45" name="Group 32"/>
          <p:cNvGrpSpPr/>
          <p:nvPr/>
        </p:nvGrpSpPr>
        <p:grpSpPr>
          <a:xfrm>
            <a:off x="17297190" y="510921"/>
            <a:ext cx="700002" cy="349996"/>
            <a:chOff x="0" y="0"/>
            <a:chExt cx="933336" cy="466661"/>
          </a:xfrm>
        </p:grpSpPr>
        <p:sp>
          <p:nvSpPr>
            <p:cNvPr id="46" name="Freeform 33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47" name="TextBox 34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fr-FR" alt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38</a:t>
              </a: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9050"/>
            <a:ext cx="18288000" cy="6228207"/>
            <a:chOff x="0" y="0"/>
            <a:chExt cx="24384000" cy="83042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304276"/>
            </a:xfrm>
            <a:custGeom>
              <a:avLst/>
              <a:gdLst/>
              <a:ahLst/>
              <a:cxnLst/>
              <a:rect l="l" t="t" r="r" b="b"/>
              <a:pathLst>
                <a:path w="24384000" h="8304276">
                  <a:moveTo>
                    <a:pt x="0" y="0"/>
                  </a:moveTo>
                  <a:lnTo>
                    <a:pt x="24384000" y="0"/>
                  </a:lnTo>
                  <a:lnTo>
                    <a:pt x="24384000" y="8304276"/>
                  </a:lnTo>
                  <a:lnTo>
                    <a:pt x="0" y="8304276"/>
                  </a:lnTo>
                  <a:close/>
                </a:path>
              </a:pathLst>
            </a:custGeom>
            <a:solidFill>
              <a:srgbClr val="287CB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21132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8" y="0"/>
                </a:lnTo>
                <a:lnTo>
                  <a:pt x="336128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756" r="-75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0566" y="9613983"/>
            <a:ext cx="336128" cy="331737"/>
          </a:xfrm>
          <a:custGeom>
            <a:avLst/>
            <a:gdLst/>
            <a:ahLst/>
            <a:cxnLst/>
            <a:rect l="l" t="t" r="r" b="b"/>
            <a:pathLst>
              <a:path w="336128" h="331737">
                <a:moveTo>
                  <a:pt x="0" y="0"/>
                </a:moveTo>
                <a:lnTo>
                  <a:pt x="336127" y="0"/>
                </a:lnTo>
                <a:lnTo>
                  <a:pt x="336127" y="331736"/>
                </a:lnTo>
                <a:lnTo>
                  <a:pt x="0" y="3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6" r="-756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110880">
            <a:off x="814626" y="9774498"/>
            <a:ext cx="600380" cy="9525"/>
            <a:chOff x="0" y="0"/>
            <a:chExt cx="800506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0481" cy="12700"/>
            </a:xfrm>
            <a:custGeom>
              <a:avLst/>
              <a:gdLst/>
              <a:ahLst/>
              <a:cxnLst/>
              <a:rect l="l" t="t" r="r" b="b"/>
              <a:pathLst>
                <a:path w="800481" h="12700">
                  <a:moveTo>
                    <a:pt x="6350" y="0"/>
                  </a:moveTo>
                  <a:lnTo>
                    <a:pt x="794131" y="0"/>
                  </a:lnTo>
                  <a:cubicBezTo>
                    <a:pt x="797687" y="0"/>
                    <a:pt x="800481" y="2794"/>
                    <a:pt x="800481" y="6350"/>
                  </a:cubicBezTo>
                  <a:cubicBezTo>
                    <a:pt x="800481" y="9906"/>
                    <a:pt x="797687" y="12700"/>
                    <a:pt x="794131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077498" y="2533650"/>
            <a:ext cx="13219043" cy="247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Création d'une API REST</a:t>
            </a:r>
            <a:endParaRPr lang="en-US" sz="75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9000"/>
              </a:lnSpc>
            </a:pPr>
            <a:endParaRPr lang="en-US" sz="75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6375511" y="8622468"/>
            <a:ext cx="6021391" cy="1664513"/>
            <a:chOff x="0" y="0"/>
            <a:chExt cx="8028521" cy="22193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028559" cy="2219325"/>
            </a:xfrm>
            <a:custGeom>
              <a:avLst/>
              <a:gdLst/>
              <a:ahLst/>
              <a:cxnLst/>
              <a:rect l="l" t="t" r="r" b="b"/>
              <a:pathLst>
                <a:path w="8028559" h="2219325">
                  <a:moveTo>
                    <a:pt x="0" y="0"/>
                  </a:moveTo>
                  <a:lnTo>
                    <a:pt x="8028559" y="0"/>
                  </a:lnTo>
                  <a:lnTo>
                    <a:pt x="8028559" y="2219325"/>
                  </a:lnTo>
                  <a:lnTo>
                    <a:pt x="0" y="2219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767" b="-176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7286399" y="510921"/>
            <a:ext cx="700002" cy="349996"/>
            <a:chOff x="0" y="0"/>
            <a:chExt cx="933336" cy="46666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39/45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3562464"/>
            <a:ext cx="4355963" cy="5289394"/>
            <a:chOff x="0" y="0"/>
            <a:chExt cx="5807951" cy="70525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7964" cy="7052564"/>
            </a:xfrm>
            <a:custGeom>
              <a:avLst/>
              <a:gdLst/>
              <a:ahLst/>
              <a:cxnLst/>
              <a:rect l="l" t="t" r="r" b="b"/>
              <a:pathLst>
                <a:path w="5807964" h="7052564">
                  <a:moveTo>
                    <a:pt x="0" y="0"/>
                  </a:moveTo>
                  <a:lnTo>
                    <a:pt x="5807964" y="0"/>
                  </a:lnTo>
                  <a:lnTo>
                    <a:pt x="5807964" y="7052564"/>
                  </a:lnTo>
                  <a:lnTo>
                    <a:pt x="0" y="7052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4941" r="-1494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747470" y="3562464"/>
            <a:ext cx="4256199" cy="5289394"/>
            <a:chOff x="0" y="0"/>
            <a:chExt cx="5674932" cy="70525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74995" cy="7052564"/>
            </a:xfrm>
            <a:custGeom>
              <a:avLst/>
              <a:gdLst/>
              <a:ahLst/>
              <a:cxnLst/>
              <a:rect l="l" t="t" r="r" b="b"/>
              <a:pathLst>
                <a:path w="5674995" h="7052564">
                  <a:moveTo>
                    <a:pt x="0" y="0"/>
                  </a:moveTo>
                  <a:lnTo>
                    <a:pt x="5674995" y="0"/>
                  </a:lnTo>
                  <a:lnTo>
                    <a:pt x="5674995" y="7052564"/>
                  </a:lnTo>
                  <a:lnTo>
                    <a:pt x="0" y="7052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6463" r="-1646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726754" y="3562464"/>
            <a:ext cx="4277468" cy="5289394"/>
            <a:chOff x="0" y="0"/>
            <a:chExt cx="5703291" cy="70525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03316" cy="7052564"/>
            </a:xfrm>
            <a:custGeom>
              <a:avLst/>
              <a:gdLst/>
              <a:ahLst/>
              <a:cxnLst/>
              <a:rect l="l" t="t" r="r" b="b"/>
              <a:pathLst>
                <a:path w="5703316" h="7052564">
                  <a:moveTo>
                    <a:pt x="0" y="0"/>
                  </a:moveTo>
                  <a:lnTo>
                    <a:pt x="5703316" y="0"/>
                  </a:lnTo>
                  <a:lnTo>
                    <a:pt x="5703316" y="7052564"/>
                  </a:lnTo>
                  <a:lnTo>
                    <a:pt x="0" y="7052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6132" r="-1613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144000" y="3697919"/>
            <a:ext cx="4316054" cy="5153939"/>
            <a:chOff x="0" y="0"/>
            <a:chExt cx="5754738" cy="68719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54751" cy="6871970"/>
            </a:xfrm>
            <a:custGeom>
              <a:avLst/>
              <a:gdLst/>
              <a:ahLst/>
              <a:cxnLst/>
              <a:rect l="l" t="t" r="r" b="b"/>
              <a:pathLst>
                <a:path w="5754751" h="6871970">
                  <a:moveTo>
                    <a:pt x="0" y="0"/>
                  </a:moveTo>
                  <a:lnTo>
                    <a:pt x="5754751" y="0"/>
                  </a:lnTo>
                  <a:lnTo>
                    <a:pt x="5754751" y="6871970"/>
                  </a:lnTo>
                  <a:lnTo>
                    <a:pt x="0" y="687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3863" r="-1386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4623902" y="3562463"/>
            <a:ext cx="4256199" cy="1559159"/>
            <a:chOff x="0" y="0"/>
            <a:chExt cx="5674932" cy="16239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74995" cy="1623949"/>
            </a:xfrm>
            <a:custGeom>
              <a:avLst/>
              <a:gdLst/>
              <a:ahLst/>
              <a:cxnLst/>
              <a:rect l="l" t="t" r="r" b="b"/>
              <a:pathLst>
                <a:path w="5674995" h="1623949">
                  <a:moveTo>
                    <a:pt x="0" y="0"/>
                  </a:moveTo>
                  <a:lnTo>
                    <a:pt x="5674995" y="0"/>
                  </a:lnTo>
                  <a:lnTo>
                    <a:pt x="5674995" y="1623949"/>
                  </a:lnTo>
                  <a:lnTo>
                    <a:pt x="0" y="1623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680" r="-11679" b="-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9144000" y="3562464"/>
            <a:ext cx="4316054" cy="1559086"/>
            <a:chOff x="0" y="0"/>
            <a:chExt cx="5754738" cy="1623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754751" cy="1623949"/>
            </a:xfrm>
            <a:custGeom>
              <a:avLst/>
              <a:gdLst/>
              <a:ahLst/>
              <a:cxnLst/>
              <a:rect l="l" t="t" r="r" b="b"/>
              <a:pathLst>
                <a:path w="5754751" h="1623949">
                  <a:moveTo>
                    <a:pt x="0" y="0"/>
                  </a:moveTo>
                  <a:lnTo>
                    <a:pt x="5754751" y="0"/>
                  </a:lnTo>
                  <a:lnTo>
                    <a:pt x="5754751" y="1623949"/>
                  </a:lnTo>
                  <a:lnTo>
                    <a:pt x="0" y="1623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25" r="-10825" b="-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726754" y="3562464"/>
            <a:ext cx="4277468" cy="1559050"/>
            <a:chOff x="0" y="0"/>
            <a:chExt cx="5703291" cy="162398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703316" cy="1623949"/>
            </a:xfrm>
            <a:custGeom>
              <a:avLst/>
              <a:gdLst/>
              <a:ahLst/>
              <a:cxnLst/>
              <a:rect l="l" t="t" r="r" b="b"/>
              <a:pathLst>
                <a:path w="5703316" h="1623949">
                  <a:moveTo>
                    <a:pt x="0" y="0"/>
                  </a:moveTo>
                  <a:lnTo>
                    <a:pt x="5703316" y="0"/>
                  </a:lnTo>
                  <a:lnTo>
                    <a:pt x="5703316" y="1623949"/>
                  </a:lnTo>
                  <a:lnTo>
                    <a:pt x="0" y="1623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74" r="-11373" b="-2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514350" y="1120988"/>
            <a:ext cx="17259300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sz="4780" b="1" i="1" dirty="0">
                <a:solidFill>
                  <a:srgbClr val="000000"/>
                </a:solidFill>
                <a:latin typeface="Calibri (MS) Bold Italics" panose="020F07020304040A0204"/>
                <a:ea typeface="Calibri (MS) Bold Italics" panose="020F07020304040A0204"/>
                <a:cs typeface="Calibri (MS) Bold Italics" panose="020F07020304040A0204"/>
                <a:sym typeface="Calibri (MS) Bold Italics" panose="020F07020304040A0204"/>
              </a:rPr>
              <a:t>🔌 </a:t>
            </a:r>
            <a:r>
              <a:rPr lang="en-US" sz="4780" b="1" i="1" dirty="0" err="1">
                <a:solidFill>
                  <a:srgbClr val="000000"/>
                </a:solidFill>
                <a:latin typeface="Calibri (MS) Bold Italics" panose="020F07020304040A0204"/>
                <a:ea typeface="Calibri (MS) Bold Italics" panose="020F07020304040A0204"/>
                <a:cs typeface="Calibri (MS) Bold Italics" panose="020F07020304040A0204"/>
                <a:sym typeface="Calibri (MS) Bold Italics" panose="020F07020304040A0204"/>
              </a:rPr>
              <a:t>Création</a:t>
            </a:r>
            <a:r>
              <a:rPr lang="en-US" sz="4780" b="1" i="1" dirty="0">
                <a:solidFill>
                  <a:srgbClr val="000000"/>
                </a:solidFill>
                <a:latin typeface="Calibri (MS) Bold Italics" panose="020F07020304040A0204"/>
                <a:ea typeface="Calibri (MS) Bold Italics" panose="020F07020304040A0204"/>
                <a:cs typeface="Calibri (MS) Bold Italics" panose="020F07020304040A0204"/>
                <a:sym typeface="Calibri (MS) Bold Italics" panose="020F07020304040A0204"/>
              </a:rPr>
              <a:t> </a:t>
            </a:r>
            <a:r>
              <a:rPr lang="en-US" sz="4780" b="1" i="1" dirty="0" err="1">
                <a:solidFill>
                  <a:srgbClr val="000000"/>
                </a:solidFill>
                <a:latin typeface="Calibri (MS) Bold Italics" panose="020F07020304040A0204"/>
                <a:ea typeface="Calibri (MS) Bold Italics" panose="020F07020304040A0204"/>
                <a:cs typeface="Calibri (MS) Bold Italics" panose="020F07020304040A0204"/>
                <a:sym typeface="Calibri (MS) Bold Italics" panose="020F07020304040A0204"/>
              </a:rPr>
              <a:t>d'une</a:t>
            </a:r>
            <a:r>
              <a:rPr lang="en-US" sz="4780" b="1" i="1" dirty="0">
                <a:solidFill>
                  <a:srgbClr val="000000"/>
                </a:solidFill>
                <a:latin typeface="Calibri (MS) Bold Italics" panose="020F07020304040A0204"/>
                <a:ea typeface="Calibri (MS) Bold Italics" panose="020F07020304040A0204"/>
                <a:cs typeface="Calibri (MS) Bold Italics" panose="020F07020304040A0204"/>
                <a:sym typeface="Calibri (MS) Bold Italics" panose="020F07020304040A0204"/>
              </a:rPr>
              <a:t> API REST avec Express</a:t>
            </a:r>
            <a:endParaRPr lang="en-US" sz="4780" b="1" i="1" dirty="0">
              <a:solidFill>
                <a:srgbClr val="000000"/>
              </a:solidFill>
              <a:latin typeface="Calibri (MS) Bold Italics" panose="020F07020304040A0204"/>
              <a:ea typeface="Calibri (MS) Bold Italics" panose="020F07020304040A0204"/>
              <a:cs typeface="Calibri (MS) Bold Italics" panose="020F07020304040A0204"/>
              <a:sym typeface="Calibri (MS) Bold Italics" panose="020F07020304040A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81000" y="3607156"/>
            <a:ext cx="2971190" cy="89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51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Définition</a:t>
            </a:r>
            <a:endParaRPr lang="en-US" sz="51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87103" y="5647230"/>
            <a:ext cx="4068870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Interface entre client et serveur</a:t>
            </a:r>
            <a:endParaRPr lang="en-US" sz="3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via HTTP / JSON</a:t>
            </a:r>
            <a:endParaRPr lang="en-US" sz="3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895942" y="3894241"/>
            <a:ext cx="4316054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5100" b="1" dirty="0" err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Analogie</a:t>
            </a:r>
            <a:r>
              <a:rPr lang="en-US" sz="5100" b="1" dirty="0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</a:t>
            </a:r>
            <a:endParaRPr lang="en-US" sz="5100" b="1" dirty="0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126365" y="3898090"/>
            <a:ext cx="2036711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5100" b="1" dirty="0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Code </a:t>
            </a:r>
            <a:endParaRPr lang="en-US" sz="5100" b="1" dirty="0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64047" y="3617900"/>
            <a:ext cx="4316054" cy="156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5100" b="1" dirty="0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4 </a:t>
            </a:r>
            <a:r>
              <a:rPr lang="en-US" sz="5100" b="1" dirty="0" err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méthodes</a:t>
            </a:r>
            <a:r>
              <a:rPr lang="en-US" sz="5100" b="1" dirty="0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HTTP</a:t>
            </a:r>
            <a:endParaRPr lang="en-US" sz="5100" b="1" dirty="0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503584" y="5647230"/>
            <a:ext cx="3270066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Bouton</a:t>
            </a:r>
            <a:r>
              <a:rPr lang="en-US" sz="3000" dirty="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(GET/POST...) =</a:t>
            </a:r>
            <a:endParaRPr lang="en-US" sz="3000" dirty="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fr-FR" sz="3000" dirty="0">
                <a:solidFill>
                  <a:srgbClr val="000000"/>
                </a:solidFill>
                <a:latin typeface="Calibri (MS)" panose="020F0502020204030204"/>
              </a:rPr>
              <a:t>télécommande → serveur réagit</a:t>
            </a:r>
            <a:endParaRPr lang="fr-FR" sz="3000" dirty="0">
              <a:solidFill>
                <a:srgbClr val="000000"/>
              </a:solidFill>
              <a:latin typeface="Calibri (MS)" panose="020F050202020403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809436" y="5647230"/>
            <a:ext cx="3124695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app.get</a:t>
            </a:r>
            <a:r>
              <a:rPr lang="en-US" sz="3000" dirty="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('/</a:t>
            </a:r>
            <a:r>
              <a:rPr lang="en-US" sz="3000" dirty="0" err="1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api</a:t>
            </a:r>
            <a:r>
              <a:rPr lang="en-US" sz="3000" dirty="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/users',</a:t>
            </a:r>
            <a:endParaRPr lang="en-US" sz="3000" dirty="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fr-FR" sz="3000" dirty="0">
                <a:solidFill>
                  <a:srgbClr val="000000"/>
                </a:solidFill>
                <a:latin typeface="Calibri (MS)" panose="020F0502020204030204"/>
              </a:rPr>
              <a:t>(</a:t>
            </a:r>
            <a:r>
              <a:rPr lang="fr-FR" sz="3000" dirty="0" err="1">
                <a:solidFill>
                  <a:srgbClr val="000000"/>
                </a:solidFill>
                <a:latin typeface="Calibri (MS)" panose="020F0502020204030204"/>
              </a:rPr>
              <a:t>req</a:t>
            </a:r>
            <a:r>
              <a:rPr lang="fr-FR" sz="3000" dirty="0">
                <a:solidFill>
                  <a:srgbClr val="000000"/>
                </a:solidFill>
                <a:latin typeface="Calibri (MS)" panose="020F0502020204030204"/>
              </a:rPr>
              <a:t>, </a:t>
            </a:r>
            <a:r>
              <a:rPr lang="fr-FR" sz="3000" dirty="0" err="1">
                <a:solidFill>
                  <a:srgbClr val="000000"/>
                </a:solidFill>
                <a:latin typeface="Calibri (MS)" panose="020F0502020204030204"/>
              </a:rPr>
              <a:t>res</a:t>
            </a:r>
            <a:r>
              <a:rPr lang="fr-FR" sz="3000" dirty="0">
                <a:solidFill>
                  <a:srgbClr val="000000"/>
                </a:solidFill>
                <a:latin typeface="Calibri (MS)" panose="020F0502020204030204"/>
              </a:rPr>
              <a:t>) =&gt; </a:t>
            </a:r>
            <a:r>
              <a:rPr lang="fr-FR" sz="3000" dirty="0" err="1">
                <a:solidFill>
                  <a:srgbClr val="000000"/>
                </a:solidFill>
                <a:latin typeface="Calibri (MS)" panose="020F0502020204030204"/>
              </a:rPr>
              <a:t>res.json</a:t>
            </a:r>
            <a:r>
              <a:rPr lang="fr-FR" sz="3000" dirty="0">
                <a:solidFill>
                  <a:srgbClr val="000000"/>
                </a:solidFill>
                <a:latin typeface="Calibri (MS)" panose="020F0502020204030204"/>
              </a:rPr>
              <a:t>(</a:t>
            </a:r>
            <a:r>
              <a:rPr lang="fr-FR" sz="3000" dirty="0" err="1">
                <a:solidFill>
                  <a:srgbClr val="000000"/>
                </a:solidFill>
                <a:latin typeface="Calibri (MS)" panose="020F0502020204030204"/>
              </a:rPr>
              <a:t>users</a:t>
            </a:r>
            <a:r>
              <a:rPr lang="fr-FR" sz="3000" dirty="0">
                <a:solidFill>
                  <a:srgbClr val="000000"/>
                </a:solidFill>
                <a:latin typeface="Calibri (MS)" panose="020F0502020204030204"/>
              </a:rPr>
              <a:t>))</a:t>
            </a:r>
            <a:endParaRPr lang="fr-FR" sz="3000" dirty="0">
              <a:solidFill>
                <a:srgbClr val="000000"/>
              </a:solidFill>
              <a:latin typeface="Calibri (MS)" panose="020F050202020403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243065" y="5647230"/>
            <a:ext cx="3300841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Le serveur renvoie</a:t>
            </a:r>
            <a:endParaRPr lang="en-US" sz="3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des données en JSON</a:t>
            </a:r>
            <a:endParaRPr lang="en-US" sz="3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6553200" y="6356347"/>
            <a:ext cx="2133600" cy="365122"/>
            <a:chOff x="0" y="0"/>
            <a:chExt cx="2844800" cy="48682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endParaRPr lang="en-US" sz="1200" dirty="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297190" y="510921"/>
            <a:ext cx="700002" cy="349996"/>
            <a:chOff x="0" y="0"/>
            <a:chExt cx="933336" cy="46666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40/45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93438" y="3562464"/>
            <a:ext cx="4256199" cy="1559122"/>
            <a:chOff x="0" y="0"/>
            <a:chExt cx="5674932" cy="162398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674995" cy="1623949"/>
            </a:xfrm>
            <a:custGeom>
              <a:avLst/>
              <a:gdLst/>
              <a:ahLst/>
              <a:cxnLst/>
              <a:rect l="l" t="t" r="r" b="b"/>
              <a:pathLst>
                <a:path w="5674995" h="1623949">
                  <a:moveTo>
                    <a:pt x="0" y="0"/>
                  </a:moveTo>
                  <a:lnTo>
                    <a:pt x="5674995" y="0"/>
                  </a:lnTo>
                  <a:lnTo>
                    <a:pt x="5674995" y="1623949"/>
                  </a:lnTo>
                  <a:lnTo>
                    <a:pt x="0" y="16239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9855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193438" y="3671397"/>
            <a:ext cx="4256199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5100" b="1" dirty="0" err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C’est</a:t>
            </a:r>
            <a:r>
              <a:rPr lang="en-US" sz="5100" b="1" dirty="0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 quoi?</a:t>
            </a:r>
            <a:endParaRPr lang="en-US" sz="5100" b="1" dirty="0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51144" y="7150465"/>
            <a:ext cx="1493025" cy="21412"/>
            <a:chOff x="0" y="0"/>
            <a:chExt cx="1990700" cy="285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90725" cy="28575"/>
            </a:xfrm>
            <a:custGeom>
              <a:avLst/>
              <a:gdLst/>
              <a:ahLst/>
              <a:cxnLst/>
              <a:rect l="l" t="t" r="r" b="b"/>
              <a:pathLst>
                <a:path w="1990725" h="28575">
                  <a:moveTo>
                    <a:pt x="6350" y="0"/>
                  </a:moveTo>
                  <a:lnTo>
                    <a:pt x="1984375" y="15875"/>
                  </a:lnTo>
                  <a:cubicBezTo>
                    <a:pt x="1987931" y="15875"/>
                    <a:pt x="1990725" y="18796"/>
                    <a:pt x="1990725" y="22225"/>
                  </a:cubicBezTo>
                  <a:cubicBezTo>
                    <a:pt x="1990725" y="25654"/>
                    <a:pt x="1987804" y="28575"/>
                    <a:pt x="1984375" y="28575"/>
                  </a:cubicBezTo>
                  <a:lnTo>
                    <a:pt x="6350" y="12700"/>
                  </a:lnTo>
                  <a:cubicBezTo>
                    <a:pt x="2794" y="12700"/>
                    <a:pt x="0" y="9779"/>
                    <a:pt x="0" y="6350"/>
                  </a:cubicBezTo>
                  <a:cubicBezTo>
                    <a:pt x="0" y="2921"/>
                    <a:pt x="2921" y="0"/>
                    <a:pt x="6350" y="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634653" y="7150465"/>
            <a:ext cx="33347" cy="690562"/>
            <a:chOff x="0" y="0"/>
            <a:chExt cx="44463" cy="920750"/>
          </a:xfrm>
        </p:grpSpPr>
        <p:sp>
          <p:nvSpPr>
            <p:cNvPr id="8" name="Freeform 8"/>
            <p:cNvSpPr/>
            <p:nvPr/>
          </p:nvSpPr>
          <p:spPr>
            <a:xfrm>
              <a:off x="-4" y="-4"/>
              <a:ext cx="44458" cy="920758"/>
            </a:xfrm>
            <a:custGeom>
              <a:avLst/>
              <a:gdLst/>
              <a:ahLst/>
              <a:cxnLst/>
              <a:rect l="l" t="t" r="r" b="b"/>
              <a:pathLst>
                <a:path w="44458" h="920758">
                  <a:moveTo>
                    <a:pt x="12704" y="6100"/>
                  </a:moveTo>
                  <a:lnTo>
                    <a:pt x="44454" y="914150"/>
                  </a:lnTo>
                  <a:cubicBezTo>
                    <a:pt x="44581" y="917706"/>
                    <a:pt x="41787" y="920627"/>
                    <a:pt x="38358" y="920754"/>
                  </a:cubicBezTo>
                  <a:cubicBezTo>
                    <a:pt x="34929" y="920881"/>
                    <a:pt x="31881" y="918087"/>
                    <a:pt x="31754" y="914658"/>
                  </a:cubicBezTo>
                  <a:lnTo>
                    <a:pt x="4" y="6608"/>
                  </a:lnTo>
                  <a:cubicBezTo>
                    <a:pt x="-123" y="3052"/>
                    <a:pt x="2671" y="131"/>
                    <a:pt x="6100" y="4"/>
                  </a:cubicBezTo>
                  <a:cubicBezTo>
                    <a:pt x="9529" y="-123"/>
                    <a:pt x="12577" y="2671"/>
                    <a:pt x="12704" y="610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6219092" y="3290297"/>
            <a:ext cx="594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FFFFFF"/>
                </a:solidFill>
                <a:latin typeface="Source Sans Pro Bold" panose="020B0703030403020204"/>
                <a:ea typeface="Source Sans Pro Bold" panose="020B0703030403020204"/>
                <a:cs typeface="Source Sans Pro Bold" panose="020B0703030403020204"/>
                <a:sym typeface="Source Sans Pro Bold" panose="020B0703030403020204"/>
              </a:rPr>
              <a:t>Lien avec l'IA</a:t>
            </a:r>
            <a:endParaRPr lang="en-US" sz="8100" b="1">
              <a:solidFill>
                <a:srgbClr val="FFFFFF"/>
              </a:solidFill>
              <a:latin typeface="Source Sans Pro Bold" panose="020B0703030403020204"/>
              <a:ea typeface="Source Sans Pro Bold" panose="020B0703030403020204"/>
              <a:cs typeface="Source Sans Pro Bold" panose="020B0703030403020204"/>
              <a:sym typeface="Source Sans Pro Bold" panose="020B0703030403020204"/>
            </a:endParaRPr>
          </a:p>
        </p:txBody>
      </p:sp>
      <p:grpSp>
        <p:nvGrpSpPr>
          <p:cNvPr id="10" name="Group 10"/>
          <p:cNvGrpSpPr/>
          <p:nvPr/>
        </p:nvGrpSpPr>
        <p:grpSpPr>
          <a:xfrm rot="5333880">
            <a:off x="8520293" y="6526711"/>
            <a:ext cx="1247413" cy="9525"/>
            <a:chOff x="0" y="0"/>
            <a:chExt cx="1663217" cy="12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63192" cy="12700"/>
            </a:xfrm>
            <a:custGeom>
              <a:avLst/>
              <a:gdLst/>
              <a:ahLst/>
              <a:cxnLst/>
              <a:rect l="l" t="t" r="r" b="b"/>
              <a:pathLst>
                <a:path w="1663192" h="12700">
                  <a:moveTo>
                    <a:pt x="6350" y="0"/>
                  </a:moveTo>
                  <a:lnTo>
                    <a:pt x="1656842" y="0"/>
                  </a:lnTo>
                  <a:cubicBezTo>
                    <a:pt x="1660398" y="0"/>
                    <a:pt x="1663192" y="2794"/>
                    <a:pt x="1663192" y="6350"/>
                  </a:cubicBezTo>
                  <a:cubicBezTo>
                    <a:pt x="1663192" y="9906"/>
                    <a:pt x="1660398" y="12700"/>
                    <a:pt x="1656842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15" name="Group 15"/>
          <p:cNvGrpSpPr/>
          <p:nvPr/>
        </p:nvGrpSpPr>
        <p:grpSpPr>
          <a:xfrm rot="-5400000">
            <a:off x="6439310" y="8660844"/>
            <a:ext cx="1128712" cy="2123608"/>
            <a:chOff x="0" y="0"/>
            <a:chExt cx="1504950" cy="283147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04950" cy="2831465"/>
            </a:xfrm>
            <a:custGeom>
              <a:avLst/>
              <a:gdLst/>
              <a:ahLst/>
              <a:cxnLst/>
              <a:rect l="l" t="t" r="r" b="b"/>
              <a:pathLst>
                <a:path w="1504950" h="2831465">
                  <a:moveTo>
                    <a:pt x="0" y="0"/>
                  </a:moveTo>
                  <a:lnTo>
                    <a:pt x="1504950" y="0"/>
                  </a:lnTo>
                  <a:lnTo>
                    <a:pt x="1504950" y="2831465"/>
                  </a:lnTo>
                  <a:lnTo>
                    <a:pt x="0" y="2831465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7" name="Group 17"/>
          <p:cNvGrpSpPr/>
          <p:nvPr/>
        </p:nvGrpSpPr>
        <p:grpSpPr>
          <a:xfrm rot="-5400000">
            <a:off x="8496490" y="8727262"/>
            <a:ext cx="1128712" cy="1990754"/>
            <a:chOff x="0" y="0"/>
            <a:chExt cx="1504950" cy="26543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04950" cy="2654300"/>
            </a:xfrm>
            <a:custGeom>
              <a:avLst/>
              <a:gdLst/>
              <a:ahLst/>
              <a:cxnLst/>
              <a:rect l="l" t="t" r="r" b="b"/>
              <a:pathLst>
                <a:path w="1504950" h="2654300">
                  <a:moveTo>
                    <a:pt x="0" y="0"/>
                  </a:moveTo>
                  <a:lnTo>
                    <a:pt x="1504950" y="0"/>
                  </a:lnTo>
                  <a:lnTo>
                    <a:pt x="1504950" y="2654300"/>
                  </a:lnTo>
                  <a:lnTo>
                    <a:pt x="0" y="26543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9" name="Group 19"/>
          <p:cNvGrpSpPr/>
          <p:nvPr/>
        </p:nvGrpSpPr>
        <p:grpSpPr>
          <a:xfrm rot="-5400000">
            <a:off x="12606833" y="8649519"/>
            <a:ext cx="1128712" cy="2146230"/>
            <a:chOff x="0" y="0"/>
            <a:chExt cx="1504950" cy="2861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04950" cy="2861691"/>
            </a:xfrm>
            <a:custGeom>
              <a:avLst/>
              <a:gdLst/>
              <a:ahLst/>
              <a:cxnLst/>
              <a:rect l="l" t="t" r="r" b="b"/>
              <a:pathLst>
                <a:path w="1504950" h="2861691">
                  <a:moveTo>
                    <a:pt x="0" y="0"/>
                  </a:moveTo>
                  <a:lnTo>
                    <a:pt x="1504950" y="0"/>
                  </a:lnTo>
                  <a:lnTo>
                    <a:pt x="1504950" y="2861691"/>
                  </a:lnTo>
                  <a:lnTo>
                    <a:pt x="0" y="2861691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21" name="Group 21"/>
          <p:cNvGrpSpPr/>
          <p:nvPr/>
        </p:nvGrpSpPr>
        <p:grpSpPr>
          <a:xfrm rot="-5400000">
            <a:off x="16712727" y="8711727"/>
            <a:ext cx="1128712" cy="2021853"/>
            <a:chOff x="0" y="0"/>
            <a:chExt cx="1504950" cy="26958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3" name="Group 23"/>
          <p:cNvGrpSpPr/>
          <p:nvPr/>
        </p:nvGrpSpPr>
        <p:grpSpPr>
          <a:xfrm rot="-5400000">
            <a:off x="406556" y="8738616"/>
            <a:ext cx="1128712" cy="1968094"/>
            <a:chOff x="0" y="0"/>
            <a:chExt cx="1504950" cy="262412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4950" cy="2624074"/>
            </a:xfrm>
            <a:custGeom>
              <a:avLst/>
              <a:gdLst/>
              <a:ahLst/>
              <a:cxnLst/>
              <a:rect l="l" t="t" r="r" b="b"/>
              <a:pathLst>
                <a:path w="1504950" h="2624074">
                  <a:moveTo>
                    <a:pt x="0" y="0"/>
                  </a:moveTo>
                  <a:lnTo>
                    <a:pt x="1504950" y="0"/>
                  </a:lnTo>
                  <a:lnTo>
                    <a:pt x="1504950" y="2624074"/>
                  </a:lnTo>
                  <a:lnTo>
                    <a:pt x="0" y="2624074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25" name="Group 25"/>
          <p:cNvGrpSpPr/>
          <p:nvPr/>
        </p:nvGrpSpPr>
        <p:grpSpPr>
          <a:xfrm rot="-5400000">
            <a:off x="14690865" y="8711717"/>
            <a:ext cx="1128732" cy="2021853"/>
            <a:chOff x="0" y="0"/>
            <a:chExt cx="1504975" cy="269580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7" name="Group 27"/>
          <p:cNvGrpSpPr/>
          <p:nvPr/>
        </p:nvGrpSpPr>
        <p:grpSpPr>
          <a:xfrm rot="-5400000">
            <a:off x="2364877" y="8748351"/>
            <a:ext cx="1128712" cy="1948558"/>
            <a:chOff x="0" y="0"/>
            <a:chExt cx="1504950" cy="259807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04950" cy="2598039"/>
            </a:xfrm>
            <a:custGeom>
              <a:avLst/>
              <a:gdLst/>
              <a:ahLst/>
              <a:cxnLst/>
              <a:rect l="l" t="t" r="r" b="b"/>
              <a:pathLst>
                <a:path w="1504950" h="2598039">
                  <a:moveTo>
                    <a:pt x="0" y="0"/>
                  </a:moveTo>
                  <a:lnTo>
                    <a:pt x="1504950" y="0"/>
                  </a:lnTo>
                  <a:lnTo>
                    <a:pt x="1504950" y="2598039"/>
                  </a:lnTo>
                  <a:lnTo>
                    <a:pt x="0" y="259803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9" name="Group 29"/>
          <p:cNvGrpSpPr/>
          <p:nvPr/>
        </p:nvGrpSpPr>
        <p:grpSpPr>
          <a:xfrm rot="-5400000">
            <a:off x="4358335" y="8703450"/>
            <a:ext cx="1128712" cy="2038350"/>
            <a:chOff x="0" y="0"/>
            <a:chExt cx="1504950" cy="2717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04950" cy="2717800"/>
            </a:xfrm>
            <a:custGeom>
              <a:avLst/>
              <a:gdLst/>
              <a:ahLst/>
              <a:cxnLst/>
              <a:rect l="l" t="t" r="r" b="b"/>
              <a:pathLst>
                <a:path w="1504950" h="2717800">
                  <a:moveTo>
                    <a:pt x="0" y="0"/>
                  </a:moveTo>
                  <a:lnTo>
                    <a:pt x="1504950" y="0"/>
                  </a:lnTo>
                  <a:lnTo>
                    <a:pt x="1504950" y="2717800"/>
                  </a:lnTo>
                  <a:lnTo>
                    <a:pt x="0" y="27178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31" name="Freeform 31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32" name="Group 32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34" name="Group 34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6" name="Group 36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38" name="Group 38"/>
          <p:cNvGrpSpPr/>
          <p:nvPr/>
        </p:nvGrpSpPr>
        <p:grpSpPr>
          <a:xfrm rot="-5400000">
            <a:off x="16199644" y="8198644"/>
            <a:ext cx="1128712" cy="3048000"/>
            <a:chOff x="0" y="0"/>
            <a:chExt cx="1504950" cy="4064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40" name="Group 40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42" name="Freeform 42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45" name="Group 45"/>
          <p:cNvGrpSpPr/>
          <p:nvPr/>
        </p:nvGrpSpPr>
        <p:grpSpPr>
          <a:xfrm rot="-5400000">
            <a:off x="9919011" y="7631420"/>
            <a:ext cx="2450735" cy="2860415"/>
            <a:chOff x="0" y="0"/>
            <a:chExt cx="3267646" cy="381388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267583" cy="3813937"/>
            </a:xfrm>
            <a:custGeom>
              <a:avLst/>
              <a:gdLst/>
              <a:ahLst/>
              <a:cxnLst/>
              <a:rect l="l" t="t" r="r" b="b"/>
              <a:pathLst>
                <a:path w="3267583" h="3813937">
                  <a:moveTo>
                    <a:pt x="0" y="0"/>
                  </a:moveTo>
                  <a:lnTo>
                    <a:pt x="3267583" y="0"/>
                  </a:lnTo>
                  <a:lnTo>
                    <a:pt x="3267583" y="3813937"/>
                  </a:lnTo>
                  <a:lnTo>
                    <a:pt x="0" y="3813937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7286399" y="495043"/>
            <a:ext cx="700002" cy="349996"/>
            <a:chOff x="0" y="0"/>
            <a:chExt cx="933336" cy="46666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41/45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694856" y="1992678"/>
            <a:ext cx="5165769" cy="6774037"/>
            <a:chOff x="0" y="0"/>
            <a:chExt cx="6887693" cy="9032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887718" cy="9031986"/>
            </a:xfrm>
            <a:custGeom>
              <a:avLst/>
              <a:gdLst/>
              <a:ahLst/>
              <a:cxnLst/>
              <a:rect l="l" t="t" r="r" b="b"/>
              <a:pathLst>
                <a:path w="6887718" h="9031986">
                  <a:moveTo>
                    <a:pt x="0" y="0"/>
                  </a:moveTo>
                  <a:lnTo>
                    <a:pt x="6887718" y="0"/>
                  </a:lnTo>
                  <a:lnTo>
                    <a:pt x="6887718" y="9031986"/>
                  </a:lnTo>
                  <a:lnTo>
                    <a:pt x="0" y="9031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20131" r="-201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499849" y="1992678"/>
            <a:ext cx="4788151" cy="6774037"/>
            <a:chOff x="0" y="0"/>
            <a:chExt cx="6384201" cy="9032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84163" cy="9031986"/>
            </a:xfrm>
            <a:custGeom>
              <a:avLst/>
              <a:gdLst/>
              <a:ahLst/>
              <a:cxnLst/>
              <a:rect l="l" t="t" r="r" b="b"/>
              <a:pathLst>
                <a:path w="6384163" h="9031986">
                  <a:moveTo>
                    <a:pt x="0" y="0"/>
                  </a:moveTo>
                  <a:lnTo>
                    <a:pt x="6384163" y="0"/>
                  </a:lnTo>
                  <a:lnTo>
                    <a:pt x="6384163" y="9031986"/>
                  </a:lnTo>
                  <a:lnTo>
                    <a:pt x="0" y="9031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25662" r="-2566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1992678"/>
            <a:ext cx="5165769" cy="6774037"/>
            <a:chOff x="0" y="0"/>
            <a:chExt cx="6887693" cy="9032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87718" cy="9031986"/>
            </a:xfrm>
            <a:custGeom>
              <a:avLst/>
              <a:gdLst/>
              <a:ahLst/>
              <a:cxnLst/>
              <a:rect l="l" t="t" r="r" b="b"/>
              <a:pathLst>
                <a:path w="6887718" h="9031986">
                  <a:moveTo>
                    <a:pt x="0" y="0"/>
                  </a:moveTo>
                  <a:lnTo>
                    <a:pt x="6887718" y="0"/>
                  </a:lnTo>
                  <a:lnTo>
                    <a:pt x="6887718" y="9031986"/>
                  </a:lnTo>
                  <a:lnTo>
                    <a:pt x="0" y="9031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20131" r="-201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5646" y="1992678"/>
            <a:ext cx="5100123" cy="1469069"/>
            <a:chOff x="0" y="0"/>
            <a:chExt cx="6800164" cy="19587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00215" cy="1958721"/>
            </a:xfrm>
            <a:custGeom>
              <a:avLst/>
              <a:gdLst/>
              <a:ahLst/>
              <a:cxnLst/>
              <a:rect l="l" t="t" r="r" b="b"/>
              <a:pathLst>
                <a:path w="6800215" h="1958721">
                  <a:moveTo>
                    <a:pt x="0" y="0"/>
                  </a:moveTo>
                  <a:lnTo>
                    <a:pt x="6800215" y="0"/>
                  </a:lnTo>
                  <a:lnTo>
                    <a:pt x="6800215" y="1958721"/>
                  </a:lnTo>
                  <a:lnTo>
                    <a:pt x="0" y="1958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4048" r="-34047" b="-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694856" y="1992678"/>
            <a:ext cx="5165769" cy="1469069"/>
            <a:chOff x="0" y="0"/>
            <a:chExt cx="6887693" cy="195875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87718" cy="1958721"/>
            </a:xfrm>
            <a:custGeom>
              <a:avLst/>
              <a:gdLst/>
              <a:ahLst/>
              <a:cxnLst/>
              <a:rect l="l" t="t" r="r" b="b"/>
              <a:pathLst>
                <a:path w="6887718" h="1958721">
                  <a:moveTo>
                    <a:pt x="0" y="0"/>
                  </a:moveTo>
                  <a:lnTo>
                    <a:pt x="6887718" y="0"/>
                  </a:lnTo>
                  <a:lnTo>
                    <a:pt x="6887718" y="1958721"/>
                  </a:lnTo>
                  <a:lnTo>
                    <a:pt x="0" y="1958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980" r="-32980" b="-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499849" y="1992678"/>
            <a:ext cx="4788151" cy="1469069"/>
            <a:chOff x="0" y="0"/>
            <a:chExt cx="6384201" cy="19587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84163" cy="1958721"/>
            </a:xfrm>
            <a:custGeom>
              <a:avLst/>
              <a:gdLst/>
              <a:ahLst/>
              <a:cxnLst/>
              <a:rect l="l" t="t" r="r" b="b"/>
              <a:pathLst>
                <a:path w="6384163" h="1958721">
                  <a:moveTo>
                    <a:pt x="0" y="0"/>
                  </a:moveTo>
                  <a:lnTo>
                    <a:pt x="6384163" y="0"/>
                  </a:lnTo>
                  <a:lnTo>
                    <a:pt x="6384163" y="1958721"/>
                  </a:lnTo>
                  <a:lnTo>
                    <a:pt x="0" y="1958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322" b="-432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1908241" y="5413934"/>
            <a:ext cx="1543974" cy="531371"/>
            <a:chOff x="0" y="0"/>
            <a:chExt cx="2058632" cy="70849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58670" cy="708533"/>
            </a:xfrm>
            <a:custGeom>
              <a:avLst/>
              <a:gdLst/>
              <a:ahLst/>
              <a:cxnLst/>
              <a:rect l="l" t="t" r="r" b="b"/>
              <a:pathLst>
                <a:path w="2058670" h="708533">
                  <a:moveTo>
                    <a:pt x="0" y="0"/>
                  </a:moveTo>
                  <a:lnTo>
                    <a:pt x="2058670" y="0"/>
                  </a:lnTo>
                  <a:lnTo>
                    <a:pt x="2058670" y="708533"/>
                  </a:lnTo>
                  <a:lnTo>
                    <a:pt x="0" y="708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5165769" y="5413934"/>
            <a:ext cx="1529086" cy="526247"/>
            <a:chOff x="0" y="0"/>
            <a:chExt cx="2038782" cy="70166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38731" cy="701675"/>
            </a:xfrm>
            <a:custGeom>
              <a:avLst/>
              <a:gdLst/>
              <a:ahLst/>
              <a:cxnLst/>
              <a:rect l="l" t="t" r="r" b="b"/>
              <a:pathLst>
                <a:path w="2038731" h="701675">
                  <a:moveTo>
                    <a:pt x="0" y="0"/>
                  </a:moveTo>
                  <a:lnTo>
                    <a:pt x="2038731" y="0"/>
                  </a:lnTo>
                  <a:lnTo>
                    <a:pt x="2038731" y="701675"/>
                  </a:lnTo>
                  <a:lnTo>
                    <a:pt x="0" y="701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" b="1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894578" y="2246195"/>
            <a:ext cx="3376612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🐍  Python / IA</a:t>
            </a:r>
            <a:endParaRPr lang="en-US" sz="41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70462" y="2246195"/>
            <a:ext cx="5165769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⚡  Express.js</a:t>
            </a:r>
            <a:endParaRPr lang="en-US" sz="41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294720" y="2227145"/>
            <a:ext cx="2772023" cy="883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5"/>
              </a:lnSpc>
            </a:pPr>
            <a:r>
              <a:rPr lang="en-US" sz="459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Frontend</a:t>
            </a:r>
            <a:endParaRPr lang="en-US" sz="459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5646" y="4178417"/>
            <a:ext cx="4684119" cy="314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0"/>
              </a:lnSpc>
            </a:pPr>
            <a:r>
              <a:rPr lang="en-US" sz="329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• Modèle ML entraîné</a:t>
            </a:r>
            <a:endParaRPr lang="en-US" sz="329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50"/>
              </a:lnSpc>
            </a:pPr>
            <a:r>
              <a:rPr lang="en-US" sz="329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• Prédictions / NLP</a:t>
            </a:r>
            <a:endParaRPr lang="en-US" sz="329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50"/>
              </a:lnSpc>
            </a:pPr>
            <a:r>
              <a:rPr lang="en-US" sz="329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• Flask ou FastAPI</a:t>
            </a:r>
            <a:endParaRPr lang="en-US" sz="329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50"/>
              </a:lnSpc>
            </a:pPr>
            <a:endParaRPr lang="en-US" sz="329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50"/>
              </a:lnSpc>
            </a:pPr>
            <a:r>
              <a:rPr lang="en-US" sz="329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expose une route :</a:t>
            </a:r>
            <a:endParaRPr lang="en-US" sz="329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50"/>
              </a:lnSpc>
            </a:pPr>
            <a:r>
              <a:rPr lang="en-US" sz="329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/predict</a:t>
            </a:r>
            <a:endParaRPr lang="en-US" sz="329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325316" y="4178417"/>
            <a:ext cx="3846462" cy="367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5"/>
              </a:lnSpc>
            </a:pPr>
            <a:r>
              <a:rPr lang="en-US" sz="332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• Reçoit la requête</a:t>
            </a:r>
            <a:endParaRPr lang="en-US" sz="332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85"/>
              </a:lnSpc>
            </a:pPr>
            <a:r>
              <a:rPr lang="en-US" sz="332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• Appelle le modèle IA</a:t>
            </a:r>
            <a:endParaRPr lang="en-US" sz="332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85"/>
              </a:lnSpc>
            </a:pPr>
            <a:r>
              <a:rPr lang="en-US" sz="332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• Formate la réponse</a:t>
            </a:r>
            <a:endParaRPr lang="en-US" sz="332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85"/>
              </a:lnSpc>
            </a:pPr>
            <a:r>
              <a:rPr lang="en-US" sz="332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• Gère l'auth/sécurité</a:t>
            </a:r>
            <a:endParaRPr lang="en-US" sz="332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85"/>
              </a:lnSpc>
            </a:pPr>
            <a:endParaRPr lang="en-US" sz="332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85"/>
              </a:lnSpc>
            </a:pPr>
            <a:r>
              <a:rPr lang="en-US" sz="332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LE PONT entre</a:t>
            </a:r>
            <a:endParaRPr lang="en-US" sz="332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3985"/>
              </a:lnSpc>
            </a:pPr>
            <a:r>
              <a:rPr lang="en-US" sz="332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IA et Frontend</a:t>
            </a:r>
            <a:endParaRPr lang="en-US" sz="332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797486" y="4102217"/>
            <a:ext cx="3461814" cy="3219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93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React</a:t>
            </a:r>
            <a:endParaRPr lang="en-US" sz="4935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5925"/>
              </a:lnSpc>
            </a:pPr>
            <a:r>
              <a:rPr lang="en-US" sz="493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Angular</a:t>
            </a:r>
            <a:endParaRPr lang="en-US" sz="4935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5925"/>
              </a:lnSpc>
            </a:pPr>
            <a:r>
              <a:rPr lang="en-US" sz="493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Mobile</a:t>
            </a:r>
            <a:endParaRPr lang="en-US" sz="4935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5925"/>
              </a:lnSpc>
            </a:pPr>
            <a:r>
              <a:rPr lang="en-US" sz="493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HTML/JS</a:t>
            </a:r>
            <a:endParaRPr lang="en-US" sz="4935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067308" y="5317674"/>
            <a:ext cx="122584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JSON →</a:t>
            </a:r>
            <a:endParaRPr lang="en-US" sz="30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317388" y="5354755"/>
            <a:ext cx="122584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JSON →</a:t>
            </a:r>
            <a:endParaRPr lang="en-US" sz="30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17259090" y="510921"/>
            <a:ext cx="700002" cy="349996"/>
            <a:chOff x="0" y="0"/>
            <a:chExt cx="933336" cy="4666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42/45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39238" y="6838369"/>
            <a:ext cx="4552874" cy="9525"/>
            <a:chOff x="0" y="0"/>
            <a:chExt cx="6070498" cy="127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70473" cy="12700"/>
            </a:xfrm>
            <a:custGeom>
              <a:avLst/>
              <a:gdLst/>
              <a:ahLst/>
              <a:cxnLst/>
              <a:rect l="l" t="t" r="r" b="b"/>
              <a:pathLst>
                <a:path w="6070473" h="12700">
                  <a:moveTo>
                    <a:pt x="6350" y="0"/>
                  </a:moveTo>
                  <a:lnTo>
                    <a:pt x="6064123" y="0"/>
                  </a:lnTo>
                  <a:cubicBezTo>
                    <a:pt x="6067679" y="0"/>
                    <a:pt x="6070473" y="2794"/>
                    <a:pt x="6070473" y="6350"/>
                  </a:cubicBezTo>
                  <a:cubicBezTo>
                    <a:pt x="6070473" y="9906"/>
                    <a:pt x="6067679" y="12700"/>
                    <a:pt x="6064123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3682662" y="6809784"/>
            <a:ext cx="38100" cy="981666"/>
            <a:chOff x="0" y="0"/>
            <a:chExt cx="50800" cy="1308887"/>
          </a:xfrm>
        </p:grpSpPr>
        <p:sp>
          <p:nvSpPr>
            <p:cNvPr id="8" name="Freeform 8"/>
            <p:cNvSpPr/>
            <p:nvPr/>
          </p:nvSpPr>
          <p:spPr>
            <a:xfrm>
              <a:off x="-4" y="-4"/>
              <a:ext cx="50808" cy="1308866"/>
            </a:xfrm>
            <a:custGeom>
              <a:avLst/>
              <a:gdLst/>
              <a:ahLst/>
              <a:cxnLst/>
              <a:rect l="l" t="t" r="r" b="b"/>
              <a:pathLst>
                <a:path w="50808" h="1308866">
                  <a:moveTo>
                    <a:pt x="12704" y="6227"/>
                  </a:moveTo>
                  <a:lnTo>
                    <a:pt x="50804" y="1302389"/>
                  </a:lnTo>
                  <a:cubicBezTo>
                    <a:pt x="50931" y="1305945"/>
                    <a:pt x="48137" y="1308866"/>
                    <a:pt x="44581" y="1308866"/>
                  </a:cubicBezTo>
                  <a:cubicBezTo>
                    <a:pt x="41025" y="1308866"/>
                    <a:pt x="38104" y="1306199"/>
                    <a:pt x="38104" y="1302643"/>
                  </a:cubicBezTo>
                  <a:lnTo>
                    <a:pt x="4" y="6481"/>
                  </a:lnTo>
                  <a:cubicBezTo>
                    <a:pt x="-123" y="3052"/>
                    <a:pt x="2671" y="131"/>
                    <a:pt x="6227" y="4"/>
                  </a:cubicBezTo>
                  <a:cubicBezTo>
                    <a:pt x="9783" y="-123"/>
                    <a:pt x="12577" y="2671"/>
                    <a:pt x="12704" y="6227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4420152" y="2650284"/>
            <a:ext cx="9900695" cy="1989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80"/>
              </a:lnSpc>
            </a:pPr>
            <a:r>
              <a:rPr lang="en-US" sz="9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La partie pratique</a:t>
            </a:r>
            <a:endParaRPr lang="en-US" sz="99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82496" y="4573819"/>
            <a:ext cx="1172298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rPr>
              <a:t>TO-DO List with EXPRESS.JS</a:t>
            </a:r>
            <a:endParaRPr lang="en-US" sz="3000">
              <a:solidFill>
                <a:srgbClr val="FFFFFF"/>
              </a:solidFill>
              <a:latin typeface="Source Sans Pro" panose="020B0503030403020204"/>
              <a:ea typeface="Source Sans Pro" panose="020B0503030403020204"/>
              <a:cs typeface="Source Sans Pro" panose="020B0503030403020204"/>
              <a:sym typeface="Source Sans Pro" panose="020B0503030403020204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127331" y="5412496"/>
            <a:ext cx="21422" cy="1435398"/>
            <a:chOff x="0" y="0"/>
            <a:chExt cx="28562" cy="1913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575" cy="1913890"/>
            </a:xfrm>
            <a:custGeom>
              <a:avLst/>
              <a:gdLst/>
              <a:ahLst/>
              <a:cxnLst/>
              <a:rect l="l" t="t" r="r" b="b"/>
              <a:pathLst>
                <a:path w="28575" h="1913890">
                  <a:moveTo>
                    <a:pt x="12700" y="6350"/>
                  </a:moveTo>
                  <a:lnTo>
                    <a:pt x="28575" y="1907540"/>
                  </a:lnTo>
                  <a:cubicBezTo>
                    <a:pt x="28575" y="1911096"/>
                    <a:pt x="25781" y="1913890"/>
                    <a:pt x="22225" y="1913890"/>
                  </a:cubicBezTo>
                  <a:cubicBezTo>
                    <a:pt x="18669" y="1913890"/>
                    <a:pt x="15875" y="1911096"/>
                    <a:pt x="15875" y="1907540"/>
                  </a:cubicBezTo>
                  <a:lnTo>
                    <a:pt x="0" y="6350"/>
                  </a:lnTo>
                  <a:cubicBezTo>
                    <a:pt x="0" y="2921"/>
                    <a:pt x="2794" y="0"/>
                    <a:pt x="6350" y="0"/>
                  </a:cubicBezTo>
                  <a:cubicBezTo>
                    <a:pt x="9906" y="0"/>
                    <a:pt x="12700" y="2794"/>
                    <a:pt x="12700" y="635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-5400000">
            <a:off x="6439310" y="8660844"/>
            <a:ext cx="1128712" cy="2123608"/>
            <a:chOff x="0" y="0"/>
            <a:chExt cx="1504950" cy="28314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04950" cy="2831465"/>
            </a:xfrm>
            <a:custGeom>
              <a:avLst/>
              <a:gdLst/>
              <a:ahLst/>
              <a:cxnLst/>
              <a:rect l="l" t="t" r="r" b="b"/>
              <a:pathLst>
                <a:path w="1504950" h="2831465">
                  <a:moveTo>
                    <a:pt x="0" y="0"/>
                  </a:moveTo>
                  <a:lnTo>
                    <a:pt x="1504950" y="0"/>
                  </a:lnTo>
                  <a:lnTo>
                    <a:pt x="1504950" y="2831465"/>
                  </a:lnTo>
                  <a:lnTo>
                    <a:pt x="0" y="2831465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6" name="Group 16"/>
          <p:cNvGrpSpPr/>
          <p:nvPr/>
        </p:nvGrpSpPr>
        <p:grpSpPr>
          <a:xfrm rot="-5400000">
            <a:off x="8496490" y="8727262"/>
            <a:ext cx="1128712" cy="1990754"/>
            <a:chOff x="0" y="0"/>
            <a:chExt cx="1504950" cy="26543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04950" cy="2654300"/>
            </a:xfrm>
            <a:custGeom>
              <a:avLst/>
              <a:gdLst/>
              <a:ahLst/>
              <a:cxnLst/>
              <a:rect l="l" t="t" r="r" b="b"/>
              <a:pathLst>
                <a:path w="1504950" h="2654300">
                  <a:moveTo>
                    <a:pt x="0" y="0"/>
                  </a:moveTo>
                  <a:lnTo>
                    <a:pt x="1504950" y="0"/>
                  </a:lnTo>
                  <a:lnTo>
                    <a:pt x="1504950" y="2654300"/>
                  </a:lnTo>
                  <a:lnTo>
                    <a:pt x="0" y="26543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8" name="Group 18"/>
          <p:cNvGrpSpPr/>
          <p:nvPr/>
        </p:nvGrpSpPr>
        <p:grpSpPr>
          <a:xfrm rot="-5400000">
            <a:off x="10512790" y="8701716"/>
            <a:ext cx="1128712" cy="2041846"/>
            <a:chOff x="0" y="0"/>
            <a:chExt cx="1504950" cy="27224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04950" cy="2722499"/>
            </a:xfrm>
            <a:custGeom>
              <a:avLst/>
              <a:gdLst/>
              <a:ahLst/>
              <a:cxnLst/>
              <a:rect l="l" t="t" r="r" b="b"/>
              <a:pathLst>
                <a:path w="1504950" h="2722499">
                  <a:moveTo>
                    <a:pt x="0" y="0"/>
                  </a:moveTo>
                  <a:lnTo>
                    <a:pt x="1504950" y="0"/>
                  </a:lnTo>
                  <a:lnTo>
                    <a:pt x="1504950" y="2722499"/>
                  </a:lnTo>
                  <a:lnTo>
                    <a:pt x="0" y="272249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0" name="Group 20"/>
          <p:cNvGrpSpPr/>
          <p:nvPr/>
        </p:nvGrpSpPr>
        <p:grpSpPr>
          <a:xfrm rot="-5400000">
            <a:off x="12606833" y="8649519"/>
            <a:ext cx="1128712" cy="2146230"/>
            <a:chOff x="0" y="0"/>
            <a:chExt cx="1504950" cy="2861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04950" cy="2861691"/>
            </a:xfrm>
            <a:custGeom>
              <a:avLst/>
              <a:gdLst/>
              <a:ahLst/>
              <a:cxnLst/>
              <a:rect l="l" t="t" r="r" b="b"/>
              <a:pathLst>
                <a:path w="1504950" h="2861691">
                  <a:moveTo>
                    <a:pt x="0" y="0"/>
                  </a:moveTo>
                  <a:lnTo>
                    <a:pt x="1504950" y="0"/>
                  </a:lnTo>
                  <a:lnTo>
                    <a:pt x="1504950" y="2861691"/>
                  </a:lnTo>
                  <a:lnTo>
                    <a:pt x="0" y="2861691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22" name="Group 22"/>
          <p:cNvGrpSpPr/>
          <p:nvPr/>
        </p:nvGrpSpPr>
        <p:grpSpPr>
          <a:xfrm rot="-5400000">
            <a:off x="16712727" y="8711727"/>
            <a:ext cx="1128712" cy="2021853"/>
            <a:chOff x="0" y="0"/>
            <a:chExt cx="1504950" cy="26958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4" name="Group 24"/>
          <p:cNvGrpSpPr/>
          <p:nvPr/>
        </p:nvGrpSpPr>
        <p:grpSpPr>
          <a:xfrm rot="-5400000">
            <a:off x="406556" y="8738616"/>
            <a:ext cx="1128712" cy="1968094"/>
            <a:chOff x="0" y="0"/>
            <a:chExt cx="1504950" cy="26241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04950" cy="2624074"/>
            </a:xfrm>
            <a:custGeom>
              <a:avLst/>
              <a:gdLst/>
              <a:ahLst/>
              <a:cxnLst/>
              <a:rect l="l" t="t" r="r" b="b"/>
              <a:pathLst>
                <a:path w="1504950" h="2624074">
                  <a:moveTo>
                    <a:pt x="0" y="0"/>
                  </a:moveTo>
                  <a:lnTo>
                    <a:pt x="1504950" y="0"/>
                  </a:lnTo>
                  <a:lnTo>
                    <a:pt x="1504950" y="2624074"/>
                  </a:lnTo>
                  <a:lnTo>
                    <a:pt x="0" y="2624074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26" name="Group 26"/>
          <p:cNvGrpSpPr/>
          <p:nvPr/>
        </p:nvGrpSpPr>
        <p:grpSpPr>
          <a:xfrm rot="-5400000">
            <a:off x="14690865" y="8711717"/>
            <a:ext cx="1128732" cy="2021853"/>
            <a:chOff x="0" y="0"/>
            <a:chExt cx="1504975" cy="26958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8" name="Group 28"/>
          <p:cNvGrpSpPr/>
          <p:nvPr/>
        </p:nvGrpSpPr>
        <p:grpSpPr>
          <a:xfrm rot="-5400000">
            <a:off x="2364877" y="8748351"/>
            <a:ext cx="1128712" cy="1948558"/>
            <a:chOff x="0" y="0"/>
            <a:chExt cx="1504950" cy="259807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04950" cy="2598039"/>
            </a:xfrm>
            <a:custGeom>
              <a:avLst/>
              <a:gdLst/>
              <a:ahLst/>
              <a:cxnLst/>
              <a:rect l="l" t="t" r="r" b="b"/>
              <a:pathLst>
                <a:path w="1504950" h="2598039">
                  <a:moveTo>
                    <a:pt x="0" y="0"/>
                  </a:moveTo>
                  <a:lnTo>
                    <a:pt x="1504950" y="0"/>
                  </a:lnTo>
                  <a:lnTo>
                    <a:pt x="1504950" y="2598039"/>
                  </a:lnTo>
                  <a:lnTo>
                    <a:pt x="0" y="259803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30" name="Group 30"/>
          <p:cNvGrpSpPr/>
          <p:nvPr/>
        </p:nvGrpSpPr>
        <p:grpSpPr>
          <a:xfrm rot="-5400000">
            <a:off x="4358335" y="8703450"/>
            <a:ext cx="1128712" cy="2038350"/>
            <a:chOff x="0" y="0"/>
            <a:chExt cx="1504950" cy="2717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04950" cy="2717800"/>
            </a:xfrm>
            <a:custGeom>
              <a:avLst/>
              <a:gdLst/>
              <a:ahLst/>
              <a:cxnLst/>
              <a:rect l="l" t="t" r="r" b="b"/>
              <a:pathLst>
                <a:path w="1504950" h="2717800">
                  <a:moveTo>
                    <a:pt x="0" y="0"/>
                  </a:moveTo>
                  <a:lnTo>
                    <a:pt x="1504950" y="0"/>
                  </a:lnTo>
                  <a:lnTo>
                    <a:pt x="1504950" y="2717800"/>
                  </a:lnTo>
                  <a:lnTo>
                    <a:pt x="0" y="27178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35" name="Group 35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7" name="Group 37"/>
          <p:cNvGrpSpPr/>
          <p:nvPr/>
        </p:nvGrpSpPr>
        <p:grpSpPr>
          <a:xfrm rot="-5400000">
            <a:off x="12532585" y="7579585"/>
            <a:ext cx="2366820" cy="3048000"/>
            <a:chOff x="0" y="0"/>
            <a:chExt cx="3155760" cy="4064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155823" cy="4064000"/>
            </a:xfrm>
            <a:custGeom>
              <a:avLst/>
              <a:gdLst/>
              <a:ahLst/>
              <a:cxnLst/>
              <a:rect l="l" t="t" r="r" b="b"/>
              <a:pathLst>
                <a:path w="3155823" h="4064000">
                  <a:moveTo>
                    <a:pt x="0" y="0"/>
                  </a:moveTo>
                  <a:lnTo>
                    <a:pt x="3155823" y="0"/>
                  </a:lnTo>
                  <a:lnTo>
                    <a:pt x="3155823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39" name="Group 39"/>
          <p:cNvGrpSpPr/>
          <p:nvPr/>
        </p:nvGrpSpPr>
        <p:grpSpPr>
          <a:xfrm rot="-5400000">
            <a:off x="16199644" y="8198644"/>
            <a:ext cx="1128712" cy="3048000"/>
            <a:chOff x="0" y="0"/>
            <a:chExt cx="1504950" cy="4064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41" name="Group 41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43" name="Freeform 43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46" name="Group 46"/>
          <p:cNvGrpSpPr/>
          <p:nvPr/>
        </p:nvGrpSpPr>
        <p:grpSpPr>
          <a:xfrm rot="71760">
            <a:off x="8557041" y="5371633"/>
            <a:ext cx="1150115" cy="9525"/>
            <a:chOff x="0" y="0"/>
            <a:chExt cx="1533487" cy="127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33525" cy="12700"/>
            </a:xfrm>
            <a:custGeom>
              <a:avLst/>
              <a:gdLst/>
              <a:ahLst/>
              <a:cxnLst/>
              <a:rect l="l" t="t" r="r" b="b"/>
              <a:pathLst>
                <a:path w="1533525" h="12700">
                  <a:moveTo>
                    <a:pt x="6350" y="0"/>
                  </a:moveTo>
                  <a:lnTo>
                    <a:pt x="1527175" y="0"/>
                  </a:lnTo>
                  <a:cubicBezTo>
                    <a:pt x="1530731" y="0"/>
                    <a:pt x="1533525" y="2794"/>
                    <a:pt x="1533525" y="6350"/>
                  </a:cubicBezTo>
                  <a:cubicBezTo>
                    <a:pt x="1533525" y="9906"/>
                    <a:pt x="1530731" y="12700"/>
                    <a:pt x="1527175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7286399" y="510921"/>
            <a:ext cx="700002" cy="349996"/>
            <a:chOff x="0" y="0"/>
            <a:chExt cx="933336" cy="46666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43/45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709414" y="6809784"/>
            <a:ext cx="7059358" cy="9525"/>
            <a:chOff x="0" y="0"/>
            <a:chExt cx="9412478" cy="12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412478" cy="12700"/>
            </a:xfrm>
            <a:custGeom>
              <a:avLst/>
              <a:gdLst/>
              <a:ahLst/>
              <a:cxnLst/>
              <a:rect l="l" t="t" r="r" b="b"/>
              <a:pathLst>
                <a:path w="9412478" h="12700">
                  <a:moveTo>
                    <a:pt x="9406128" y="12700"/>
                  </a:move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lnTo>
                    <a:pt x="9406128" y="0"/>
                  </a:lnTo>
                  <a:cubicBezTo>
                    <a:pt x="9409685" y="0"/>
                    <a:pt x="9412478" y="2794"/>
                    <a:pt x="9412478" y="6350"/>
                  </a:cubicBezTo>
                  <a:cubicBezTo>
                    <a:pt x="9412478" y="9906"/>
                    <a:pt x="9409685" y="12700"/>
                    <a:pt x="9406128" y="1270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759247" y="6809784"/>
            <a:ext cx="14288" cy="981666"/>
            <a:chOff x="0" y="0"/>
            <a:chExt cx="19050" cy="13088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050" cy="1308862"/>
            </a:xfrm>
            <a:custGeom>
              <a:avLst/>
              <a:gdLst/>
              <a:ahLst/>
              <a:cxnLst/>
              <a:rect l="l" t="t" r="r" b="b"/>
              <a:pathLst>
                <a:path w="19050" h="1308862">
                  <a:moveTo>
                    <a:pt x="19050" y="6350"/>
                  </a:moveTo>
                  <a:lnTo>
                    <a:pt x="12700" y="1302512"/>
                  </a:lnTo>
                  <a:cubicBezTo>
                    <a:pt x="12700" y="1306068"/>
                    <a:pt x="9779" y="1308862"/>
                    <a:pt x="6350" y="1308862"/>
                  </a:cubicBezTo>
                  <a:cubicBezTo>
                    <a:pt x="2921" y="1308862"/>
                    <a:pt x="0" y="1305941"/>
                    <a:pt x="0" y="1302512"/>
                  </a:cubicBezTo>
                  <a:lnTo>
                    <a:pt x="6350" y="6350"/>
                  </a:lnTo>
                  <a:cubicBezTo>
                    <a:pt x="6350" y="2794"/>
                    <a:pt x="9271" y="0"/>
                    <a:pt x="12700" y="0"/>
                  </a:cubicBezTo>
                  <a:cubicBezTo>
                    <a:pt x="16129" y="0"/>
                    <a:pt x="19050" y="2921"/>
                    <a:pt x="19050" y="6350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8" name="Group 8"/>
          <p:cNvGrpSpPr/>
          <p:nvPr/>
        </p:nvGrpSpPr>
        <p:grpSpPr>
          <a:xfrm rot="71760">
            <a:off x="9122454" y="5510146"/>
            <a:ext cx="1150115" cy="9525"/>
            <a:chOff x="0" y="0"/>
            <a:chExt cx="1533487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33525" cy="12700"/>
            </a:xfrm>
            <a:custGeom>
              <a:avLst/>
              <a:gdLst/>
              <a:ahLst/>
              <a:cxnLst/>
              <a:rect l="l" t="t" r="r" b="b"/>
              <a:pathLst>
                <a:path w="1533525" h="12700">
                  <a:moveTo>
                    <a:pt x="6350" y="0"/>
                  </a:moveTo>
                  <a:lnTo>
                    <a:pt x="1527175" y="0"/>
                  </a:lnTo>
                  <a:cubicBezTo>
                    <a:pt x="1530731" y="0"/>
                    <a:pt x="1533525" y="2794"/>
                    <a:pt x="1533525" y="6350"/>
                  </a:cubicBezTo>
                  <a:cubicBezTo>
                    <a:pt x="1533525" y="9906"/>
                    <a:pt x="1530731" y="12700"/>
                    <a:pt x="1527175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680848" y="5572030"/>
            <a:ext cx="33328" cy="1247184"/>
            <a:chOff x="0" y="0"/>
            <a:chExt cx="44437" cy="1662913"/>
          </a:xfrm>
        </p:grpSpPr>
        <p:sp>
          <p:nvSpPr>
            <p:cNvPr id="11" name="Freeform 11"/>
            <p:cNvSpPr/>
            <p:nvPr/>
          </p:nvSpPr>
          <p:spPr>
            <a:xfrm>
              <a:off x="-4" y="-4"/>
              <a:ext cx="44458" cy="1662946"/>
            </a:xfrm>
            <a:custGeom>
              <a:avLst/>
              <a:gdLst/>
              <a:ahLst/>
              <a:cxnLst/>
              <a:rect l="l" t="t" r="r" b="b"/>
              <a:pathLst>
                <a:path w="44458" h="1662946">
                  <a:moveTo>
                    <a:pt x="12704" y="6227"/>
                  </a:moveTo>
                  <a:lnTo>
                    <a:pt x="44454" y="1656465"/>
                  </a:lnTo>
                  <a:cubicBezTo>
                    <a:pt x="44581" y="1660021"/>
                    <a:pt x="41787" y="1662815"/>
                    <a:pt x="38231" y="1662942"/>
                  </a:cubicBezTo>
                  <a:cubicBezTo>
                    <a:pt x="34675" y="1663069"/>
                    <a:pt x="31881" y="1660275"/>
                    <a:pt x="31754" y="1656719"/>
                  </a:cubicBezTo>
                  <a:lnTo>
                    <a:pt x="4" y="6481"/>
                  </a:lnTo>
                  <a:cubicBezTo>
                    <a:pt x="-123" y="2925"/>
                    <a:pt x="2671" y="131"/>
                    <a:pt x="6227" y="4"/>
                  </a:cubicBezTo>
                  <a:cubicBezTo>
                    <a:pt x="9783" y="-123"/>
                    <a:pt x="12577" y="2671"/>
                    <a:pt x="12704" y="6227"/>
                  </a:cubicBez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6439310" y="8660844"/>
            <a:ext cx="1128712" cy="2123608"/>
            <a:chOff x="0" y="0"/>
            <a:chExt cx="1504950" cy="28314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04950" cy="2831465"/>
            </a:xfrm>
            <a:custGeom>
              <a:avLst/>
              <a:gdLst/>
              <a:ahLst/>
              <a:cxnLst/>
              <a:rect l="l" t="t" r="r" b="b"/>
              <a:pathLst>
                <a:path w="1504950" h="2831465">
                  <a:moveTo>
                    <a:pt x="0" y="0"/>
                  </a:moveTo>
                  <a:lnTo>
                    <a:pt x="1504950" y="0"/>
                  </a:lnTo>
                  <a:lnTo>
                    <a:pt x="1504950" y="2831465"/>
                  </a:lnTo>
                  <a:lnTo>
                    <a:pt x="0" y="2831465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14" name="Group 14"/>
          <p:cNvGrpSpPr/>
          <p:nvPr/>
        </p:nvGrpSpPr>
        <p:grpSpPr>
          <a:xfrm rot="-5400000">
            <a:off x="8496490" y="8727262"/>
            <a:ext cx="1128712" cy="1990754"/>
            <a:chOff x="0" y="0"/>
            <a:chExt cx="1504950" cy="26543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04950" cy="2654300"/>
            </a:xfrm>
            <a:custGeom>
              <a:avLst/>
              <a:gdLst/>
              <a:ahLst/>
              <a:cxnLst/>
              <a:rect l="l" t="t" r="r" b="b"/>
              <a:pathLst>
                <a:path w="1504950" h="2654300">
                  <a:moveTo>
                    <a:pt x="0" y="0"/>
                  </a:moveTo>
                  <a:lnTo>
                    <a:pt x="1504950" y="0"/>
                  </a:lnTo>
                  <a:lnTo>
                    <a:pt x="1504950" y="2654300"/>
                  </a:lnTo>
                  <a:lnTo>
                    <a:pt x="0" y="26543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16" name="Group 16"/>
          <p:cNvGrpSpPr/>
          <p:nvPr/>
        </p:nvGrpSpPr>
        <p:grpSpPr>
          <a:xfrm rot="-5400000">
            <a:off x="10512790" y="8701716"/>
            <a:ext cx="1128712" cy="2041846"/>
            <a:chOff x="0" y="0"/>
            <a:chExt cx="1504950" cy="27224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04950" cy="2722499"/>
            </a:xfrm>
            <a:custGeom>
              <a:avLst/>
              <a:gdLst/>
              <a:ahLst/>
              <a:cxnLst/>
              <a:rect l="l" t="t" r="r" b="b"/>
              <a:pathLst>
                <a:path w="1504950" h="2722499">
                  <a:moveTo>
                    <a:pt x="0" y="0"/>
                  </a:moveTo>
                  <a:lnTo>
                    <a:pt x="1504950" y="0"/>
                  </a:lnTo>
                  <a:lnTo>
                    <a:pt x="1504950" y="2722499"/>
                  </a:lnTo>
                  <a:lnTo>
                    <a:pt x="0" y="272249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18" name="Group 18"/>
          <p:cNvGrpSpPr/>
          <p:nvPr/>
        </p:nvGrpSpPr>
        <p:grpSpPr>
          <a:xfrm rot="-5400000">
            <a:off x="12606833" y="8649519"/>
            <a:ext cx="1128712" cy="2146230"/>
            <a:chOff x="0" y="0"/>
            <a:chExt cx="1504950" cy="2861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04950" cy="2861691"/>
            </a:xfrm>
            <a:custGeom>
              <a:avLst/>
              <a:gdLst/>
              <a:ahLst/>
              <a:cxnLst/>
              <a:rect l="l" t="t" r="r" b="b"/>
              <a:pathLst>
                <a:path w="1504950" h="2861691">
                  <a:moveTo>
                    <a:pt x="0" y="0"/>
                  </a:moveTo>
                  <a:lnTo>
                    <a:pt x="1504950" y="0"/>
                  </a:lnTo>
                  <a:lnTo>
                    <a:pt x="1504950" y="2861691"/>
                  </a:lnTo>
                  <a:lnTo>
                    <a:pt x="0" y="2861691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20" name="Group 20"/>
          <p:cNvGrpSpPr/>
          <p:nvPr/>
        </p:nvGrpSpPr>
        <p:grpSpPr>
          <a:xfrm rot="-5400000">
            <a:off x="16712727" y="8711727"/>
            <a:ext cx="1128712" cy="2021853"/>
            <a:chOff x="0" y="0"/>
            <a:chExt cx="1504950" cy="26958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22" name="Group 22"/>
          <p:cNvGrpSpPr/>
          <p:nvPr/>
        </p:nvGrpSpPr>
        <p:grpSpPr>
          <a:xfrm rot="-5400000">
            <a:off x="406556" y="8738616"/>
            <a:ext cx="1128712" cy="1968094"/>
            <a:chOff x="0" y="0"/>
            <a:chExt cx="1504950" cy="26241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04950" cy="2624074"/>
            </a:xfrm>
            <a:custGeom>
              <a:avLst/>
              <a:gdLst/>
              <a:ahLst/>
              <a:cxnLst/>
              <a:rect l="l" t="t" r="r" b="b"/>
              <a:pathLst>
                <a:path w="1504950" h="2624074">
                  <a:moveTo>
                    <a:pt x="0" y="0"/>
                  </a:moveTo>
                  <a:lnTo>
                    <a:pt x="1504950" y="0"/>
                  </a:lnTo>
                  <a:lnTo>
                    <a:pt x="1504950" y="2624074"/>
                  </a:lnTo>
                  <a:lnTo>
                    <a:pt x="0" y="2624074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grpSp>
        <p:nvGrpSpPr>
          <p:cNvPr id="24" name="Group 24"/>
          <p:cNvGrpSpPr/>
          <p:nvPr/>
        </p:nvGrpSpPr>
        <p:grpSpPr>
          <a:xfrm rot="-5400000">
            <a:off x="14690865" y="8711717"/>
            <a:ext cx="1128732" cy="2021853"/>
            <a:chOff x="0" y="0"/>
            <a:chExt cx="1504975" cy="26958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04950" cy="2695829"/>
            </a:xfrm>
            <a:custGeom>
              <a:avLst/>
              <a:gdLst/>
              <a:ahLst/>
              <a:cxnLst/>
              <a:rect l="l" t="t" r="r" b="b"/>
              <a:pathLst>
                <a:path w="1504950" h="2695829">
                  <a:moveTo>
                    <a:pt x="0" y="0"/>
                  </a:moveTo>
                  <a:lnTo>
                    <a:pt x="1504950" y="0"/>
                  </a:lnTo>
                  <a:lnTo>
                    <a:pt x="1504950" y="2695829"/>
                  </a:lnTo>
                  <a:lnTo>
                    <a:pt x="0" y="269582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6" name="Group 26"/>
          <p:cNvGrpSpPr/>
          <p:nvPr/>
        </p:nvGrpSpPr>
        <p:grpSpPr>
          <a:xfrm rot="-5400000">
            <a:off x="2364877" y="8748351"/>
            <a:ext cx="1128712" cy="1948558"/>
            <a:chOff x="0" y="0"/>
            <a:chExt cx="1504950" cy="259807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04950" cy="2598039"/>
            </a:xfrm>
            <a:custGeom>
              <a:avLst/>
              <a:gdLst/>
              <a:ahLst/>
              <a:cxnLst/>
              <a:rect l="l" t="t" r="r" b="b"/>
              <a:pathLst>
                <a:path w="1504950" h="2598039">
                  <a:moveTo>
                    <a:pt x="0" y="0"/>
                  </a:moveTo>
                  <a:lnTo>
                    <a:pt x="1504950" y="0"/>
                  </a:lnTo>
                  <a:lnTo>
                    <a:pt x="1504950" y="2598039"/>
                  </a:lnTo>
                  <a:lnTo>
                    <a:pt x="0" y="2598039"/>
                  </a:lnTo>
                  <a:close/>
                </a:path>
              </a:pathLst>
            </a:custGeom>
            <a:solidFill>
              <a:srgbClr val="3693D2"/>
            </a:solidFill>
          </p:spPr>
        </p:sp>
      </p:grpSp>
      <p:grpSp>
        <p:nvGrpSpPr>
          <p:cNvPr id="28" name="Group 28"/>
          <p:cNvGrpSpPr/>
          <p:nvPr/>
        </p:nvGrpSpPr>
        <p:grpSpPr>
          <a:xfrm rot="-5400000">
            <a:off x="4358335" y="8703450"/>
            <a:ext cx="1128712" cy="2038350"/>
            <a:chOff x="0" y="0"/>
            <a:chExt cx="1504950" cy="2717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04950" cy="2717800"/>
            </a:xfrm>
            <a:custGeom>
              <a:avLst/>
              <a:gdLst/>
              <a:ahLst/>
              <a:cxnLst/>
              <a:rect l="l" t="t" r="r" b="b"/>
              <a:pathLst>
                <a:path w="1504950" h="2717800">
                  <a:moveTo>
                    <a:pt x="0" y="0"/>
                  </a:moveTo>
                  <a:lnTo>
                    <a:pt x="1504950" y="0"/>
                  </a:lnTo>
                  <a:lnTo>
                    <a:pt x="1504950" y="2717800"/>
                  </a:lnTo>
                  <a:lnTo>
                    <a:pt x="0" y="27178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30" name="Freeform 30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grpSp>
        <p:nvGrpSpPr>
          <p:cNvPr id="31" name="Group 31"/>
          <p:cNvGrpSpPr/>
          <p:nvPr/>
        </p:nvGrpSpPr>
        <p:grpSpPr>
          <a:xfrm rot="-5400000">
            <a:off x="4007644" y="8198644"/>
            <a:ext cx="1128712" cy="3048000"/>
            <a:chOff x="0" y="0"/>
            <a:chExt cx="1504950" cy="4064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id="33" name="Group 33"/>
          <p:cNvGrpSpPr/>
          <p:nvPr/>
        </p:nvGrpSpPr>
        <p:grpSpPr>
          <a:xfrm rot="-5400000">
            <a:off x="7055644" y="8198644"/>
            <a:ext cx="1128712" cy="3048000"/>
            <a:chOff x="0" y="0"/>
            <a:chExt cx="1504950" cy="4064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35" name="Group 35"/>
          <p:cNvGrpSpPr/>
          <p:nvPr/>
        </p:nvGrpSpPr>
        <p:grpSpPr>
          <a:xfrm rot="-5400000">
            <a:off x="13151644" y="8198644"/>
            <a:ext cx="1128712" cy="3048000"/>
            <a:chOff x="0" y="0"/>
            <a:chExt cx="1504950" cy="4064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50A1D8"/>
            </a:solidFill>
          </p:spPr>
        </p:sp>
      </p:grpSp>
      <p:grpSp>
        <p:nvGrpSpPr>
          <p:cNvPr id="37" name="Group 37"/>
          <p:cNvGrpSpPr/>
          <p:nvPr/>
        </p:nvGrpSpPr>
        <p:grpSpPr>
          <a:xfrm rot="-5400000">
            <a:off x="15513844" y="7512844"/>
            <a:ext cx="2500322" cy="3048000"/>
            <a:chOff x="0" y="0"/>
            <a:chExt cx="3333763" cy="4064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333750" cy="4064000"/>
            </a:xfrm>
            <a:custGeom>
              <a:avLst/>
              <a:gdLst/>
              <a:ahLst/>
              <a:cxnLst/>
              <a:rect l="l" t="t" r="r" b="b"/>
              <a:pathLst>
                <a:path w="3333750" h="4064000">
                  <a:moveTo>
                    <a:pt x="0" y="0"/>
                  </a:moveTo>
                  <a:lnTo>
                    <a:pt x="3333750" y="0"/>
                  </a:lnTo>
                  <a:lnTo>
                    <a:pt x="33337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65ACDD"/>
            </a:solidFill>
          </p:spPr>
        </p:sp>
      </p:grpSp>
      <p:grpSp>
        <p:nvGrpSpPr>
          <p:cNvPr id="39" name="Group 39"/>
          <p:cNvGrpSpPr/>
          <p:nvPr/>
        </p:nvGrpSpPr>
        <p:grpSpPr>
          <a:xfrm rot="-5400000">
            <a:off x="959644" y="8198644"/>
            <a:ext cx="1128712" cy="3048000"/>
            <a:chOff x="0" y="0"/>
            <a:chExt cx="1504950" cy="4064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04950" cy="4064000"/>
            </a:xfrm>
            <a:custGeom>
              <a:avLst/>
              <a:gdLst/>
              <a:ahLst/>
              <a:cxnLst/>
              <a:rect l="l" t="t" r="r" b="b"/>
              <a:pathLst>
                <a:path w="1504950" h="4064000">
                  <a:moveTo>
                    <a:pt x="0" y="0"/>
                  </a:moveTo>
                  <a:lnTo>
                    <a:pt x="1504950" y="0"/>
                  </a:lnTo>
                  <a:lnTo>
                    <a:pt x="150495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7EBAE2"/>
            </a:solidFill>
          </p:spPr>
        </p:sp>
      </p:grpSp>
      <p:sp>
        <p:nvSpPr>
          <p:cNvPr id="41" name="Freeform 41"/>
          <p:cNvSpPr/>
          <p:nvPr/>
        </p:nvSpPr>
        <p:spPr>
          <a:xfrm>
            <a:off x="2" y="1010493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1"/>
                </a:lnTo>
                <a:lnTo>
                  <a:pt x="0" y="20151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970502" y="8449732"/>
            <a:ext cx="1106995" cy="1106453"/>
          </a:xfrm>
          <a:custGeom>
            <a:avLst/>
            <a:gdLst/>
            <a:ahLst/>
            <a:cxnLst/>
            <a:rect l="l" t="t" r="r" b="b"/>
            <a:pathLst>
              <a:path w="1106995" h="1106453">
                <a:moveTo>
                  <a:pt x="0" y="0"/>
                </a:moveTo>
                <a:lnTo>
                  <a:pt x="1106996" y="0"/>
                </a:lnTo>
                <a:lnTo>
                  <a:pt x="1106996" y="1106453"/>
                </a:lnTo>
                <a:lnTo>
                  <a:pt x="0" y="1106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4" b="-24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5" y="10085480"/>
            <a:ext cx="18288000" cy="201511"/>
          </a:xfrm>
          <a:custGeom>
            <a:avLst/>
            <a:gdLst/>
            <a:ahLst/>
            <a:cxnLst/>
            <a:rect l="l" t="t" r="r" b="b"/>
            <a:pathLst>
              <a:path w="18288000" h="201511">
                <a:moveTo>
                  <a:pt x="0" y="0"/>
                </a:moveTo>
                <a:lnTo>
                  <a:pt x="18288000" y="0"/>
                </a:lnTo>
                <a:lnTo>
                  <a:pt x="18288000" y="201510"/>
                </a:lnTo>
                <a:lnTo>
                  <a:pt x="0" y="2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994" b="-1994"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5916073" y="3357991"/>
            <a:ext cx="6455864" cy="18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CONCLUSION</a:t>
            </a:r>
            <a:endParaRPr lang="en-US" sz="90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17286399" y="495043"/>
            <a:ext cx="700002" cy="349996"/>
            <a:chOff x="0" y="0"/>
            <a:chExt cx="933336" cy="46666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44/45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3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476" y="410318"/>
            <a:ext cx="692848" cy="551498"/>
            <a:chOff x="0" y="0"/>
            <a:chExt cx="923798" cy="735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798" cy="735330"/>
            </a:xfrm>
            <a:custGeom>
              <a:avLst/>
              <a:gdLst/>
              <a:ahLst/>
              <a:cxnLst/>
              <a:rect l="l" t="t" r="r" b="b"/>
              <a:pathLst>
                <a:path w="923798" h="735330">
                  <a:moveTo>
                    <a:pt x="0" y="0"/>
                  </a:moveTo>
                  <a:lnTo>
                    <a:pt x="923798" y="0"/>
                  </a:lnTo>
                  <a:lnTo>
                    <a:pt x="923798" y="735330"/>
                  </a:lnTo>
                  <a:lnTo>
                    <a:pt x="0" y="735330"/>
                  </a:lnTo>
                  <a:close/>
                </a:path>
              </a:pathLst>
            </a:custGeom>
            <a:solidFill>
              <a:srgbClr val="2D8AC9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-3619500" y="3619500"/>
            <a:ext cx="10287000" cy="3048000"/>
            <a:chOff x="0" y="0"/>
            <a:chExt cx="13716000" cy="40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716000" cy="4064000"/>
            </a:xfrm>
            <a:custGeom>
              <a:avLst/>
              <a:gdLst/>
              <a:ahLst/>
              <a:cxnLst/>
              <a:rect l="l" t="t" r="r" b="b"/>
              <a:pathLst>
                <a:path w="13716000" h="4064000">
                  <a:moveTo>
                    <a:pt x="0" y="0"/>
                  </a:moveTo>
                  <a:lnTo>
                    <a:pt x="13716000" y="0"/>
                  </a:lnTo>
                  <a:lnTo>
                    <a:pt x="13716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206390">
                    <a:alpha val="100000"/>
                  </a:srgbClr>
                </a:gs>
                <a:gs pos="100000">
                  <a:srgbClr val="7EBAE2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-571500" y="3619500"/>
            <a:ext cx="10287000" cy="3048000"/>
            <a:chOff x="0" y="0"/>
            <a:chExt cx="13716000" cy="40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16000" cy="4064000"/>
            </a:xfrm>
            <a:custGeom>
              <a:avLst/>
              <a:gdLst/>
              <a:ahLst/>
              <a:cxnLst/>
              <a:rect l="l" t="t" r="r" b="b"/>
              <a:pathLst>
                <a:path w="13716000" h="4064000">
                  <a:moveTo>
                    <a:pt x="0" y="0"/>
                  </a:moveTo>
                  <a:lnTo>
                    <a:pt x="13716000" y="0"/>
                  </a:lnTo>
                  <a:lnTo>
                    <a:pt x="13716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15405D">
                    <a:alpha val="100000"/>
                  </a:srgbClr>
                </a:gs>
                <a:gs pos="100000">
                  <a:srgbClr val="2980B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2476500" y="3619500"/>
            <a:ext cx="10287000" cy="3048000"/>
            <a:chOff x="0" y="0"/>
            <a:chExt cx="13716000" cy="406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16000" cy="4064000"/>
            </a:xfrm>
            <a:custGeom>
              <a:avLst/>
              <a:gdLst/>
              <a:ahLst/>
              <a:cxnLst/>
              <a:rect l="l" t="t" r="r" b="b"/>
              <a:pathLst>
                <a:path w="13716000" h="4064000">
                  <a:moveTo>
                    <a:pt x="0" y="0"/>
                  </a:moveTo>
                  <a:lnTo>
                    <a:pt x="13716000" y="0"/>
                  </a:lnTo>
                  <a:lnTo>
                    <a:pt x="13716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174565">
                    <a:alpha val="100000"/>
                  </a:srgbClr>
                </a:gs>
                <a:gs pos="100000">
                  <a:srgbClr val="2D8AC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10" name="Group 10"/>
          <p:cNvGrpSpPr/>
          <p:nvPr/>
        </p:nvGrpSpPr>
        <p:grpSpPr>
          <a:xfrm rot="-5400000">
            <a:off x="5524500" y="3619500"/>
            <a:ext cx="10287000" cy="3048000"/>
            <a:chOff x="0" y="0"/>
            <a:chExt cx="13716000" cy="406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716000" cy="4064000"/>
            </a:xfrm>
            <a:custGeom>
              <a:avLst/>
              <a:gdLst/>
              <a:ahLst/>
              <a:cxnLst/>
              <a:rect l="l" t="t" r="r" b="b"/>
              <a:pathLst>
                <a:path w="13716000" h="4064000">
                  <a:moveTo>
                    <a:pt x="0" y="0"/>
                  </a:moveTo>
                  <a:lnTo>
                    <a:pt x="13716000" y="0"/>
                  </a:lnTo>
                  <a:lnTo>
                    <a:pt x="13716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184A6C">
                    <a:alpha val="100000"/>
                  </a:srgbClr>
                </a:gs>
                <a:gs pos="100000">
                  <a:srgbClr val="3693D2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8572500" y="3619500"/>
            <a:ext cx="10287000" cy="3048000"/>
            <a:chOff x="0" y="0"/>
            <a:chExt cx="13716000" cy="406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16000" cy="4064000"/>
            </a:xfrm>
            <a:custGeom>
              <a:avLst/>
              <a:gdLst/>
              <a:ahLst/>
              <a:cxnLst/>
              <a:rect l="l" t="t" r="r" b="b"/>
              <a:pathLst>
                <a:path w="13716000" h="4064000">
                  <a:moveTo>
                    <a:pt x="0" y="0"/>
                  </a:moveTo>
                  <a:lnTo>
                    <a:pt x="13716000" y="0"/>
                  </a:lnTo>
                  <a:lnTo>
                    <a:pt x="13716000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1B5379">
                    <a:alpha val="100000"/>
                  </a:srgbClr>
                </a:gs>
                <a:gs pos="100000">
                  <a:srgbClr val="50A1D8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id="14" name="Group 14"/>
          <p:cNvGrpSpPr/>
          <p:nvPr/>
        </p:nvGrpSpPr>
        <p:grpSpPr>
          <a:xfrm rot="-5400000">
            <a:off x="11620557" y="3619538"/>
            <a:ext cx="10286905" cy="3048000"/>
            <a:chOff x="0" y="0"/>
            <a:chExt cx="13715873" cy="406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715873" cy="4064000"/>
            </a:xfrm>
            <a:custGeom>
              <a:avLst/>
              <a:gdLst/>
              <a:ahLst/>
              <a:cxnLst/>
              <a:rect l="l" t="t" r="r" b="b"/>
              <a:pathLst>
                <a:path w="13715873" h="4064000">
                  <a:moveTo>
                    <a:pt x="0" y="0"/>
                  </a:moveTo>
                  <a:lnTo>
                    <a:pt x="13715873" y="0"/>
                  </a:lnTo>
                  <a:lnTo>
                    <a:pt x="13715873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1">
              <a:gsLst>
                <a:gs pos="0">
                  <a:srgbClr val="1D5A84">
                    <a:alpha val="100000"/>
                  </a:srgbClr>
                </a:gs>
                <a:gs pos="100000">
                  <a:srgbClr val="65ACDD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id="16" name="Freeform 16"/>
          <p:cNvSpPr/>
          <p:nvPr/>
        </p:nvSpPr>
        <p:spPr>
          <a:xfrm>
            <a:off x="15246753" y="8432844"/>
            <a:ext cx="3041247" cy="2223735"/>
          </a:xfrm>
          <a:custGeom>
            <a:avLst/>
            <a:gdLst/>
            <a:ahLst/>
            <a:cxnLst/>
            <a:rect l="l" t="t" r="r" b="b"/>
            <a:pathLst>
              <a:path w="3041247" h="2223735">
                <a:moveTo>
                  <a:pt x="0" y="0"/>
                </a:moveTo>
                <a:lnTo>
                  <a:pt x="3041247" y="0"/>
                </a:lnTo>
                <a:lnTo>
                  <a:pt x="3041247" y="2223736"/>
                </a:lnTo>
                <a:lnTo>
                  <a:pt x="0" y="22237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3" b="-4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193591" y="6900310"/>
            <a:ext cx="3053163" cy="3756279"/>
          </a:xfrm>
          <a:custGeom>
            <a:avLst/>
            <a:gdLst/>
            <a:ahLst/>
            <a:cxnLst/>
            <a:rect l="l" t="t" r="r" b="b"/>
            <a:pathLst>
              <a:path w="3053163" h="3756279">
                <a:moveTo>
                  <a:pt x="0" y="0"/>
                </a:moveTo>
                <a:lnTo>
                  <a:pt x="3053162" y="0"/>
                </a:lnTo>
                <a:lnTo>
                  <a:pt x="3053162" y="3756279"/>
                </a:lnTo>
                <a:lnTo>
                  <a:pt x="0" y="37562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" b="-9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147572" y="7813157"/>
            <a:ext cx="3046009" cy="2843422"/>
          </a:xfrm>
          <a:custGeom>
            <a:avLst/>
            <a:gdLst/>
            <a:ahLst/>
            <a:cxnLst/>
            <a:rect l="l" t="t" r="r" b="b"/>
            <a:pathLst>
              <a:path w="3046009" h="2843422">
                <a:moveTo>
                  <a:pt x="0" y="0"/>
                </a:moveTo>
                <a:lnTo>
                  <a:pt x="3046009" y="0"/>
                </a:lnTo>
                <a:lnTo>
                  <a:pt x="3046009" y="2843423"/>
                </a:lnTo>
                <a:lnTo>
                  <a:pt x="0" y="28434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47" b="-47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106325" y="7264965"/>
            <a:ext cx="3041247" cy="3391614"/>
          </a:xfrm>
          <a:custGeom>
            <a:avLst/>
            <a:gdLst/>
            <a:ahLst/>
            <a:cxnLst/>
            <a:rect l="l" t="t" r="r" b="b"/>
            <a:pathLst>
              <a:path w="3041247" h="3391614">
                <a:moveTo>
                  <a:pt x="0" y="0"/>
                </a:moveTo>
                <a:lnTo>
                  <a:pt x="3041247" y="0"/>
                </a:lnTo>
                <a:lnTo>
                  <a:pt x="3041247" y="3391615"/>
                </a:lnTo>
                <a:lnTo>
                  <a:pt x="0" y="33916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8" b="-18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053163" y="6540408"/>
            <a:ext cx="3053163" cy="4116172"/>
          </a:xfrm>
          <a:custGeom>
            <a:avLst/>
            <a:gdLst/>
            <a:ahLst/>
            <a:cxnLst/>
            <a:rect l="l" t="t" r="r" b="b"/>
            <a:pathLst>
              <a:path w="3053163" h="4116172">
                <a:moveTo>
                  <a:pt x="0" y="0"/>
                </a:moveTo>
                <a:lnTo>
                  <a:pt x="3053162" y="0"/>
                </a:lnTo>
                <a:lnTo>
                  <a:pt x="3053162" y="4116172"/>
                </a:lnTo>
                <a:lnTo>
                  <a:pt x="0" y="41161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27" b="-27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762" y="6673882"/>
            <a:ext cx="3048400" cy="3982698"/>
          </a:xfrm>
          <a:custGeom>
            <a:avLst/>
            <a:gdLst/>
            <a:ahLst/>
            <a:cxnLst/>
            <a:rect l="l" t="t" r="r" b="b"/>
            <a:pathLst>
              <a:path w="3048400" h="3982698">
                <a:moveTo>
                  <a:pt x="0" y="0"/>
                </a:moveTo>
                <a:lnTo>
                  <a:pt x="3048401" y="0"/>
                </a:lnTo>
                <a:lnTo>
                  <a:pt x="3048401" y="3982698"/>
                </a:lnTo>
                <a:lnTo>
                  <a:pt x="0" y="39826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5" r="-45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2" y="10143458"/>
            <a:ext cx="18288000" cy="513121"/>
          </a:xfrm>
          <a:custGeom>
            <a:avLst/>
            <a:gdLst/>
            <a:ahLst/>
            <a:cxnLst/>
            <a:rect l="l" t="t" r="r" b="b"/>
            <a:pathLst>
              <a:path w="18288000" h="513121">
                <a:moveTo>
                  <a:pt x="0" y="0"/>
                </a:moveTo>
                <a:lnTo>
                  <a:pt x="18288000" y="0"/>
                </a:lnTo>
                <a:lnTo>
                  <a:pt x="18288000" y="513122"/>
                </a:lnTo>
                <a:lnTo>
                  <a:pt x="0" y="5131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-120" b="-118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836565" y="3174044"/>
            <a:ext cx="10614889" cy="288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Merci d'avoir suivi cette </a:t>
            </a:r>
            <a:endParaRPr lang="en-US" sz="81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9720"/>
              </a:lnSpc>
            </a:pPr>
            <a:r>
              <a:rPr lang="en-US" sz="81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présentation!</a:t>
            </a:r>
            <a:endParaRPr lang="en-US" sz="81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6553200" y="6356347"/>
            <a:ext cx="2133600" cy="365122"/>
            <a:chOff x="0" y="0"/>
            <a:chExt cx="2844800" cy="4868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44800" cy="486833"/>
            </a:xfrm>
            <a:custGeom>
              <a:avLst/>
              <a:gdLst/>
              <a:ahLst/>
              <a:cxnLst/>
              <a:rect l="l" t="t" r="r" b="b"/>
              <a:pathLst>
                <a:path w="2844800" h="486833">
                  <a:moveTo>
                    <a:pt x="0" y="0"/>
                  </a:moveTo>
                  <a:lnTo>
                    <a:pt x="2844800" y="0"/>
                  </a:lnTo>
                  <a:lnTo>
                    <a:pt x="2844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t="-63860" b="-63859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844800" cy="505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45</a:t>
              </a:r>
              <a:endParaRPr lang="en-US" sz="120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297190" y="510921"/>
            <a:ext cx="700002" cy="349996"/>
            <a:chOff x="0" y="0"/>
            <a:chExt cx="933336" cy="4666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33333" cy="466667"/>
            </a:xfrm>
            <a:custGeom>
              <a:avLst/>
              <a:gdLst/>
              <a:ahLst/>
              <a:cxnLst/>
              <a:rect l="l" t="t" r="r" b="b"/>
              <a:pathLst>
                <a:path w="933333" h="466667">
                  <a:moveTo>
                    <a:pt x="0" y="0"/>
                  </a:moveTo>
                  <a:lnTo>
                    <a:pt x="933333" y="0"/>
                  </a:lnTo>
                  <a:lnTo>
                    <a:pt x="933333" y="466667"/>
                  </a:lnTo>
                  <a:lnTo>
                    <a:pt x="0" y="466667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-14150" r="-14151" b="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933336" cy="4857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45/45</a:t>
              </a:r>
              <a:endParaRPr lang="en-US" sz="1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7293476" y="961787"/>
            <a:ext cx="692848" cy="68580"/>
            <a:chOff x="0" y="0"/>
            <a:chExt cx="923798" cy="91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23798" cy="91440"/>
            </a:xfrm>
            <a:custGeom>
              <a:avLst/>
              <a:gdLst/>
              <a:ahLst/>
              <a:cxnLst/>
              <a:rect l="l" t="t" r="r" b="b"/>
              <a:pathLst>
                <a:path w="923798" h="91440">
                  <a:moveTo>
                    <a:pt x="0" y="0"/>
                  </a:moveTo>
                  <a:lnTo>
                    <a:pt x="923798" y="0"/>
                  </a:lnTo>
                  <a:lnTo>
                    <a:pt x="92379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226897"/>
            </a:solidFill>
          </p:spPr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8379</Words>
  <Application>WPS Presentation</Application>
  <PresentationFormat>Personnalisé</PresentationFormat>
  <Paragraphs>577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2" baseType="lpstr">
      <vt:lpstr>Arial</vt:lpstr>
      <vt:lpstr>SimSun</vt:lpstr>
      <vt:lpstr>Wingdings</vt:lpstr>
      <vt:lpstr>Calibri (MS) Bold</vt:lpstr>
      <vt:lpstr>Source Sans Pro</vt:lpstr>
      <vt:lpstr>Source Sans Pro Bold</vt:lpstr>
      <vt:lpstr>Calibri (MS)</vt:lpstr>
      <vt:lpstr>Arial</vt:lpstr>
      <vt:lpstr>Open Sans</vt:lpstr>
      <vt:lpstr>Open Sans Bold</vt:lpstr>
      <vt:lpstr>Microsoft YaHei</vt:lpstr>
      <vt:lpstr>Arial Unicode MS</vt:lpstr>
      <vt:lpstr>Calibri</vt:lpstr>
      <vt:lpstr>Arvo</vt:lpstr>
      <vt:lpstr>Calibri (MS) Italics</vt:lpstr>
      <vt:lpstr>Calibri (MS) Bold Italics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presentation_numerotee.pptx</dc:title>
  <dc:creator>Administrator</dc:creator>
  <cp:lastModifiedBy>zineb chalal</cp:lastModifiedBy>
  <cp:revision>14</cp:revision>
  <dcterms:created xsi:type="dcterms:W3CDTF">2006-08-16T00:00:00Z</dcterms:created>
  <dcterms:modified xsi:type="dcterms:W3CDTF">2026-05-03T13:50:21Z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AB935013FDA54B1B8C7DEAB76356350E_12</vt:lpwstr>
  </property>
  <property fmtid="{D5CDD505-2E9C-101B-9397-08002B2CF9AE}" pid="3" name="KSOProductBuildVer">
    <vt:lpwstr>1036-12.1.0.25242</vt:lpwstr>
  </property>
</Properties>
</file>